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7.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8.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8" r:id="rId2"/>
    <p:sldMasterId id="2147483700" r:id="rId3"/>
    <p:sldMasterId id="2147483724" r:id="rId4"/>
    <p:sldMasterId id="2147483736" r:id="rId5"/>
    <p:sldMasterId id="2147483748" r:id="rId6"/>
    <p:sldMasterId id="2147483760" r:id="rId7"/>
    <p:sldMasterId id="2147483774" r:id="rId8"/>
    <p:sldMasterId id="2147483798" r:id="rId9"/>
  </p:sldMasterIdLst>
  <p:notesMasterIdLst>
    <p:notesMasterId r:id="rId187"/>
  </p:notesMasterIdLst>
  <p:sldIdLst>
    <p:sldId id="428" r:id="rId10"/>
    <p:sldId id="42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80" r:id="rId33"/>
    <p:sldId id="455" r:id="rId34"/>
    <p:sldId id="456" r:id="rId35"/>
    <p:sldId id="457" r:id="rId36"/>
    <p:sldId id="458" r:id="rId37"/>
    <p:sldId id="459" r:id="rId38"/>
    <p:sldId id="460" r:id="rId39"/>
    <p:sldId id="453" r:id="rId40"/>
    <p:sldId id="454" r:id="rId41"/>
    <p:sldId id="281" r:id="rId42"/>
    <p:sldId id="282" r:id="rId43"/>
    <p:sldId id="283" r:id="rId44"/>
    <p:sldId id="284" r:id="rId45"/>
    <p:sldId id="285" r:id="rId46"/>
    <p:sldId id="286" r:id="rId47"/>
    <p:sldId id="287" r:id="rId48"/>
    <p:sldId id="289" r:id="rId49"/>
    <p:sldId id="290" r:id="rId50"/>
    <p:sldId id="291" r:id="rId51"/>
    <p:sldId id="292" r:id="rId52"/>
    <p:sldId id="293" r:id="rId53"/>
    <p:sldId id="294" r:id="rId54"/>
    <p:sldId id="295" r:id="rId55"/>
    <p:sldId id="441" r:id="rId56"/>
    <p:sldId id="443" r:id="rId57"/>
    <p:sldId id="444" r:id="rId58"/>
    <p:sldId id="445" r:id="rId59"/>
    <p:sldId id="442" r:id="rId60"/>
    <p:sldId id="446" r:id="rId61"/>
    <p:sldId id="296" r:id="rId62"/>
    <p:sldId id="297" r:id="rId63"/>
    <p:sldId id="298" r:id="rId64"/>
    <p:sldId id="299" r:id="rId65"/>
    <p:sldId id="300" r:id="rId66"/>
    <p:sldId id="301" r:id="rId67"/>
    <p:sldId id="302" r:id="rId68"/>
    <p:sldId id="303" r:id="rId69"/>
    <p:sldId id="304" r:id="rId70"/>
    <p:sldId id="305" r:id="rId71"/>
    <p:sldId id="306" r:id="rId72"/>
    <p:sldId id="307" r:id="rId73"/>
    <p:sldId id="308" r:id="rId74"/>
    <p:sldId id="309" r:id="rId75"/>
    <p:sldId id="310" r:id="rId76"/>
    <p:sldId id="311" r:id="rId77"/>
    <p:sldId id="312" r:id="rId78"/>
    <p:sldId id="313" r:id="rId79"/>
    <p:sldId id="314" r:id="rId80"/>
    <p:sldId id="315" r:id="rId81"/>
    <p:sldId id="316" r:id="rId82"/>
    <p:sldId id="317" r:id="rId83"/>
    <p:sldId id="318" r:id="rId84"/>
    <p:sldId id="319" r:id="rId85"/>
    <p:sldId id="320" r:id="rId86"/>
    <p:sldId id="321" r:id="rId87"/>
    <p:sldId id="322" r:id="rId88"/>
    <p:sldId id="323" r:id="rId89"/>
    <p:sldId id="419" r:id="rId90"/>
    <p:sldId id="324" r:id="rId91"/>
    <p:sldId id="325" r:id="rId92"/>
    <p:sldId id="326" r:id="rId93"/>
    <p:sldId id="327" r:id="rId94"/>
    <p:sldId id="328" r:id="rId95"/>
    <p:sldId id="329" r:id="rId96"/>
    <p:sldId id="330" r:id="rId97"/>
    <p:sldId id="331" r:id="rId98"/>
    <p:sldId id="420" r:id="rId99"/>
    <p:sldId id="332" r:id="rId100"/>
    <p:sldId id="333" r:id="rId101"/>
    <p:sldId id="334" r:id="rId102"/>
    <p:sldId id="421" r:id="rId103"/>
    <p:sldId id="461" r:id="rId104"/>
    <p:sldId id="335" r:id="rId105"/>
    <p:sldId id="336" r:id="rId106"/>
    <p:sldId id="422" r:id="rId107"/>
    <p:sldId id="337" r:id="rId108"/>
    <p:sldId id="423" r:id="rId109"/>
    <p:sldId id="338" r:id="rId110"/>
    <p:sldId id="339" r:id="rId111"/>
    <p:sldId id="340" r:id="rId112"/>
    <p:sldId id="341" r:id="rId113"/>
    <p:sldId id="342" r:id="rId114"/>
    <p:sldId id="343" r:id="rId115"/>
    <p:sldId id="344" r:id="rId116"/>
    <p:sldId id="345" r:id="rId117"/>
    <p:sldId id="346" r:id="rId118"/>
    <p:sldId id="347" r:id="rId119"/>
    <p:sldId id="348" r:id="rId120"/>
    <p:sldId id="349" r:id="rId121"/>
    <p:sldId id="429" r:id="rId122"/>
    <p:sldId id="434" r:id="rId123"/>
    <p:sldId id="430" r:id="rId124"/>
    <p:sldId id="431" r:id="rId125"/>
    <p:sldId id="432" r:id="rId126"/>
    <p:sldId id="433" r:id="rId127"/>
    <p:sldId id="350" r:id="rId128"/>
    <p:sldId id="351" r:id="rId129"/>
    <p:sldId id="352" r:id="rId130"/>
    <p:sldId id="353" r:id="rId131"/>
    <p:sldId id="354" r:id="rId132"/>
    <p:sldId id="355" r:id="rId133"/>
    <p:sldId id="356" r:id="rId134"/>
    <p:sldId id="357" r:id="rId135"/>
    <p:sldId id="358" r:id="rId136"/>
    <p:sldId id="359" r:id="rId137"/>
    <p:sldId id="360" r:id="rId138"/>
    <p:sldId id="361" r:id="rId139"/>
    <p:sldId id="362" r:id="rId140"/>
    <p:sldId id="363" r:id="rId141"/>
    <p:sldId id="364" r:id="rId142"/>
    <p:sldId id="365" r:id="rId143"/>
    <p:sldId id="366" r:id="rId144"/>
    <p:sldId id="367" r:id="rId145"/>
    <p:sldId id="368" r:id="rId146"/>
    <p:sldId id="369" r:id="rId147"/>
    <p:sldId id="370" r:id="rId148"/>
    <p:sldId id="371" r:id="rId149"/>
    <p:sldId id="372" r:id="rId150"/>
    <p:sldId id="373" r:id="rId151"/>
    <p:sldId id="374" r:id="rId152"/>
    <p:sldId id="375" r:id="rId153"/>
    <p:sldId id="376" r:id="rId154"/>
    <p:sldId id="377" r:id="rId155"/>
    <p:sldId id="378" r:id="rId156"/>
    <p:sldId id="379" r:id="rId157"/>
    <p:sldId id="380" r:id="rId158"/>
    <p:sldId id="381" r:id="rId159"/>
    <p:sldId id="382" r:id="rId160"/>
    <p:sldId id="383" r:id="rId161"/>
    <p:sldId id="384" r:id="rId162"/>
    <p:sldId id="385" r:id="rId163"/>
    <p:sldId id="386" r:id="rId164"/>
    <p:sldId id="387" r:id="rId165"/>
    <p:sldId id="388" r:id="rId166"/>
    <p:sldId id="389" r:id="rId167"/>
    <p:sldId id="390" r:id="rId168"/>
    <p:sldId id="391" r:id="rId169"/>
    <p:sldId id="424" r:id="rId170"/>
    <p:sldId id="392" r:id="rId171"/>
    <p:sldId id="393" r:id="rId172"/>
    <p:sldId id="394" r:id="rId173"/>
    <p:sldId id="395" r:id="rId174"/>
    <p:sldId id="396" r:id="rId175"/>
    <p:sldId id="397" r:id="rId176"/>
    <p:sldId id="398" r:id="rId177"/>
    <p:sldId id="399" r:id="rId178"/>
    <p:sldId id="400" r:id="rId179"/>
    <p:sldId id="425" r:id="rId180"/>
    <p:sldId id="401" r:id="rId181"/>
    <p:sldId id="402" r:id="rId182"/>
    <p:sldId id="403" r:id="rId183"/>
    <p:sldId id="404" r:id="rId184"/>
    <p:sldId id="405" r:id="rId185"/>
    <p:sldId id="406" r:id="rId18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400" y="44"/>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30688"/>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08.xml"/><Relationship Id="rId21" Type="http://schemas.openxmlformats.org/officeDocument/2006/relationships/slide" Target="slides/slide12.xml"/><Relationship Id="rId42" Type="http://schemas.openxmlformats.org/officeDocument/2006/relationships/slide" Target="slides/slide33.xml"/><Relationship Id="rId63" Type="http://schemas.openxmlformats.org/officeDocument/2006/relationships/slide" Target="slides/slide54.xml"/><Relationship Id="rId84" Type="http://schemas.openxmlformats.org/officeDocument/2006/relationships/slide" Target="slides/slide75.xml"/><Relationship Id="rId138" Type="http://schemas.openxmlformats.org/officeDocument/2006/relationships/slide" Target="slides/slide129.xml"/><Relationship Id="rId159" Type="http://schemas.openxmlformats.org/officeDocument/2006/relationships/slide" Target="slides/slide150.xml"/><Relationship Id="rId170" Type="http://schemas.openxmlformats.org/officeDocument/2006/relationships/slide" Target="slides/slide161.xml"/><Relationship Id="rId191" Type="http://schemas.openxmlformats.org/officeDocument/2006/relationships/tableStyles" Target="tableStyles.xml"/><Relationship Id="rId107" Type="http://schemas.openxmlformats.org/officeDocument/2006/relationships/slide" Target="slides/slide98.xml"/><Relationship Id="rId11" Type="http://schemas.openxmlformats.org/officeDocument/2006/relationships/slide" Target="slides/slide2.xml"/><Relationship Id="rId32" Type="http://schemas.openxmlformats.org/officeDocument/2006/relationships/slide" Target="slides/slide23.xml"/><Relationship Id="rId53" Type="http://schemas.openxmlformats.org/officeDocument/2006/relationships/slide" Target="slides/slide44.xml"/><Relationship Id="rId74" Type="http://schemas.openxmlformats.org/officeDocument/2006/relationships/slide" Target="slides/slide65.xml"/><Relationship Id="rId128" Type="http://schemas.openxmlformats.org/officeDocument/2006/relationships/slide" Target="slides/slide119.xml"/><Relationship Id="rId149" Type="http://schemas.openxmlformats.org/officeDocument/2006/relationships/slide" Target="slides/slide140.xml"/><Relationship Id="rId5" Type="http://schemas.openxmlformats.org/officeDocument/2006/relationships/slideMaster" Target="slideMasters/slideMaster5.xml"/><Relationship Id="rId95" Type="http://schemas.openxmlformats.org/officeDocument/2006/relationships/slide" Target="slides/slide86.xml"/><Relationship Id="rId160" Type="http://schemas.openxmlformats.org/officeDocument/2006/relationships/slide" Target="slides/slide151.xml"/><Relationship Id="rId181" Type="http://schemas.openxmlformats.org/officeDocument/2006/relationships/slide" Target="slides/slide172.xml"/><Relationship Id="rId22" Type="http://schemas.openxmlformats.org/officeDocument/2006/relationships/slide" Target="slides/slide13.xml"/><Relationship Id="rId43" Type="http://schemas.openxmlformats.org/officeDocument/2006/relationships/slide" Target="slides/slide34.xml"/><Relationship Id="rId64" Type="http://schemas.openxmlformats.org/officeDocument/2006/relationships/slide" Target="slides/slide55.xml"/><Relationship Id="rId118" Type="http://schemas.openxmlformats.org/officeDocument/2006/relationships/slide" Target="slides/slide109.xml"/><Relationship Id="rId139" Type="http://schemas.openxmlformats.org/officeDocument/2006/relationships/slide" Target="slides/slide130.xml"/><Relationship Id="rId85" Type="http://schemas.openxmlformats.org/officeDocument/2006/relationships/slide" Target="slides/slide76.xml"/><Relationship Id="rId150" Type="http://schemas.openxmlformats.org/officeDocument/2006/relationships/slide" Target="slides/slide141.xml"/><Relationship Id="rId171" Type="http://schemas.openxmlformats.org/officeDocument/2006/relationships/slide" Target="slides/slide162.xml"/><Relationship Id="rId12" Type="http://schemas.openxmlformats.org/officeDocument/2006/relationships/slide" Target="slides/slide3.xml"/><Relationship Id="rId33" Type="http://schemas.openxmlformats.org/officeDocument/2006/relationships/slide" Target="slides/slide24.xml"/><Relationship Id="rId108" Type="http://schemas.openxmlformats.org/officeDocument/2006/relationships/slide" Target="slides/slide99.xml"/><Relationship Id="rId129" Type="http://schemas.openxmlformats.org/officeDocument/2006/relationships/slide" Target="slides/slide120.xml"/><Relationship Id="rId54" Type="http://schemas.openxmlformats.org/officeDocument/2006/relationships/slide" Target="slides/slide45.xml"/><Relationship Id="rId75" Type="http://schemas.openxmlformats.org/officeDocument/2006/relationships/slide" Target="slides/slide66.xml"/><Relationship Id="rId96" Type="http://schemas.openxmlformats.org/officeDocument/2006/relationships/slide" Target="slides/slide87.xml"/><Relationship Id="rId140" Type="http://schemas.openxmlformats.org/officeDocument/2006/relationships/slide" Target="slides/slide131.xml"/><Relationship Id="rId161" Type="http://schemas.openxmlformats.org/officeDocument/2006/relationships/slide" Target="slides/slide152.xml"/><Relationship Id="rId182" Type="http://schemas.openxmlformats.org/officeDocument/2006/relationships/slide" Target="slides/slide173.xml"/><Relationship Id="rId6" Type="http://schemas.openxmlformats.org/officeDocument/2006/relationships/slideMaster" Target="slideMasters/slideMaster6.xml"/><Relationship Id="rId23" Type="http://schemas.openxmlformats.org/officeDocument/2006/relationships/slide" Target="slides/slide14.xml"/><Relationship Id="rId119" Type="http://schemas.openxmlformats.org/officeDocument/2006/relationships/slide" Target="slides/slide110.xml"/><Relationship Id="rId44" Type="http://schemas.openxmlformats.org/officeDocument/2006/relationships/slide" Target="slides/slide35.xml"/><Relationship Id="rId65" Type="http://schemas.openxmlformats.org/officeDocument/2006/relationships/slide" Target="slides/slide56.xml"/><Relationship Id="rId86" Type="http://schemas.openxmlformats.org/officeDocument/2006/relationships/slide" Target="slides/slide77.xml"/><Relationship Id="rId130" Type="http://schemas.openxmlformats.org/officeDocument/2006/relationships/slide" Target="slides/slide121.xml"/><Relationship Id="rId151" Type="http://schemas.openxmlformats.org/officeDocument/2006/relationships/slide" Target="slides/slide142.xml"/><Relationship Id="rId172" Type="http://schemas.openxmlformats.org/officeDocument/2006/relationships/slide" Target="slides/slide163.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109" Type="http://schemas.openxmlformats.org/officeDocument/2006/relationships/slide" Target="slides/slide10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slide" Target="slides/slide67.xml"/><Relationship Id="rId97" Type="http://schemas.openxmlformats.org/officeDocument/2006/relationships/slide" Target="slides/slide88.xml"/><Relationship Id="rId104" Type="http://schemas.openxmlformats.org/officeDocument/2006/relationships/slide" Target="slides/slide95.xml"/><Relationship Id="rId120" Type="http://schemas.openxmlformats.org/officeDocument/2006/relationships/slide" Target="slides/slide111.xml"/><Relationship Id="rId125" Type="http://schemas.openxmlformats.org/officeDocument/2006/relationships/slide" Target="slides/slide116.xml"/><Relationship Id="rId141" Type="http://schemas.openxmlformats.org/officeDocument/2006/relationships/slide" Target="slides/slide132.xml"/><Relationship Id="rId146" Type="http://schemas.openxmlformats.org/officeDocument/2006/relationships/slide" Target="slides/slide137.xml"/><Relationship Id="rId167" Type="http://schemas.openxmlformats.org/officeDocument/2006/relationships/slide" Target="slides/slide158.xml"/><Relationship Id="rId188" Type="http://schemas.openxmlformats.org/officeDocument/2006/relationships/presProps" Target="presProps.xml"/><Relationship Id="rId7" Type="http://schemas.openxmlformats.org/officeDocument/2006/relationships/slideMaster" Target="slideMasters/slideMaster7.xml"/><Relationship Id="rId71" Type="http://schemas.openxmlformats.org/officeDocument/2006/relationships/slide" Target="slides/slide62.xml"/><Relationship Id="rId92" Type="http://schemas.openxmlformats.org/officeDocument/2006/relationships/slide" Target="slides/slide83.xml"/><Relationship Id="rId162" Type="http://schemas.openxmlformats.org/officeDocument/2006/relationships/slide" Target="slides/slide153.xml"/><Relationship Id="rId183" Type="http://schemas.openxmlformats.org/officeDocument/2006/relationships/slide" Target="slides/slide174.xml"/><Relationship Id="rId2" Type="http://schemas.openxmlformats.org/officeDocument/2006/relationships/slideMaster" Target="slideMasters/slideMaster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 Id="rId87" Type="http://schemas.openxmlformats.org/officeDocument/2006/relationships/slide" Target="slides/slide78.xml"/><Relationship Id="rId110" Type="http://schemas.openxmlformats.org/officeDocument/2006/relationships/slide" Target="slides/slide101.xml"/><Relationship Id="rId115" Type="http://schemas.openxmlformats.org/officeDocument/2006/relationships/slide" Target="slides/slide106.xml"/><Relationship Id="rId131" Type="http://schemas.openxmlformats.org/officeDocument/2006/relationships/slide" Target="slides/slide122.xml"/><Relationship Id="rId136" Type="http://schemas.openxmlformats.org/officeDocument/2006/relationships/slide" Target="slides/slide127.xml"/><Relationship Id="rId157" Type="http://schemas.openxmlformats.org/officeDocument/2006/relationships/slide" Target="slides/slide148.xml"/><Relationship Id="rId178" Type="http://schemas.openxmlformats.org/officeDocument/2006/relationships/slide" Target="slides/slide169.xml"/><Relationship Id="rId61" Type="http://schemas.openxmlformats.org/officeDocument/2006/relationships/slide" Target="slides/slide52.xml"/><Relationship Id="rId82" Type="http://schemas.openxmlformats.org/officeDocument/2006/relationships/slide" Target="slides/slide73.xml"/><Relationship Id="rId152" Type="http://schemas.openxmlformats.org/officeDocument/2006/relationships/slide" Target="slides/slide143.xml"/><Relationship Id="rId173" Type="http://schemas.openxmlformats.org/officeDocument/2006/relationships/slide" Target="slides/slide164.xml"/><Relationship Id="rId19" Type="http://schemas.openxmlformats.org/officeDocument/2006/relationships/slide" Target="slides/slide10.xml"/><Relationship Id="rId14" Type="http://schemas.openxmlformats.org/officeDocument/2006/relationships/slide" Target="slides/slide5.xml"/><Relationship Id="rId30" Type="http://schemas.openxmlformats.org/officeDocument/2006/relationships/slide" Target="slides/slide21.xml"/><Relationship Id="rId35" Type="http://schemas.openxmlformats.org/officeDocument/2006/relationships/slide" Target="slides/slide26.xml"/><Relationship Id="rId56" Type="http://schemas.openxmlformats.org/officeDocument/2006/relationships/slide" Target="slides/slide47.xml"/><Relationship Id="rId77" Type="http://schemas.openxmlformats.org/officeDocument/2006/relationships/slide" Target="slides/slide68.xml"/><Relationship Id="rId100" Type="http://schemas.openxmlformats.org/officeDocument/2006/relationships/slide" Target="slides/slide91.xml"/><Relationship Id="rId105" Type="http://schemas.openxmlformats.org/officeDocument/2006/relationships/slide" Target="slides/slide96.xml"/><Relationship Id="rId126" Type="http://schemas.openxmlformats.org/officeDocument/2006/relationships/slide" Target="slides/slide117.xml"/><Relationship Id="rId147" Type="http://schemas.openxmlformats.org/officeDocument/2006/relationships/slide" Target="slides/slide138.xml"/><Relationship Id="rId168" Type="http://schemas.openxmlformats.org/officeDocument/2006/relationships/slide" Target="slides/slide159.xml"/><Relationship Id="rId8" Type="http://schemas.openxmlformats.org/officeDocument/2006/relationships/slideMaster" Target="slideMasters/slideMaster8.xml"/><Relationship Id="rId51" Type="http://schemas.openxmlformats.org/officeDocument/2006/relationships/slide" Target="slides/slide42.xml"/><Relationship Id="rId72" Type="http://schemas.openxmlformats.org/officeDocument/2006/relationships/slide" Target="slides/slide63.xml"/><Relationship Id="rId93" Type="http://schemas.openxmlformats.org/officeDocument/2006/relationships/slide" Target="slides/slide84.xml"/><Relationship Id="rId98" Type="http://schemas.openxmlformats.org/officeDocument/2006/relationships/slide" Target="slides/slide89.xml"/><Relationship Id="rId121" Type="http://schemas.openxmlformats.org/officeDocument/2006/relationships/slide" Target="slides/slide112.xml"/><Relationship Id="rId142" Type="http://schemas.openxmlformats.org/officeDocument/2006/relationships/slide" Target="slides/slide133.xml"/><Relationship Id="rId163" Type="http://schemas.openxmlformats.org/officeDocument/2006/relationships/slide" Target="slides/slide154.xml"/><Relationship Id="rId184" Type="http://schemas.openxmlformats.org/officeDocument/2006/relationships/slide" Target="slides/slide175.xml"/><Relationship Id="rId189" Type="http://schemas.openxmlformats.org/officeDocument/2006/relationships/viewProps" Target="viewProps.xml"/><Relationship Id="rId3" Type="http://schemas.openxmlformats.org/officeDocument/2006/relationships/slideMaster" Target="slideMasters/slideMaster3.xml"/><Relationship Id="rId25" Type="http://schemas.openxmlformats.org/officeDocument/2006/relationships/slide" Target="slides/slide16.xml"/><Relationship Id="rId46" Type="http://schemas.openxmlformats.org/officeDocument/2006/relationships/slide" Target="slides/slide37.xml"/><Relationship Id="rId67" Type="http://schemas.openxmlformats.org/officeDocument/2006/relationships/slide" Target="slides/slide58.xml"/><Relationship Id="rId116" Type="http://schemas.openxmlformats.org/officeDocument/2006/relationships/slide" Target="slides/slide107.xml"/><Relationship Id="rId137" Type="http://schemas.openxmlformats.org/officeDocument/2006/relationships/slide" Target="slides/slide128.xml"/><Relationship Id="rId158" Type="http://schemas.openxmlformats.org/officeDocument/2006/relationships/slide" Target="slides/slide149.xml"/><Relationship Id="rId20" Type="http://schemas.openxmlformats.org/officeDocument/2006/relationships/slide" Target="slides/slide11.xml"/><Relationship Id="rId41" Type="http://schemas.openxmlformats.org/officeDocument/2006/relationships/slide" Target="slides/slide32.xml"/><Relationship Id="rId62" Type="http://schemas.openxmlformats.org/officeDocument/2006/relationships/slide" Target="slides/slide53.xml"/><Relationship Id="rId83" Type="http://schemas.openxmlformats.org/officeDocument/2006/relationships/slide" Target="slides/slide74.xml"/><Relationship Id="rId88" Type="http://schemas.openxmlformats.org/officeDocument/2006/relationships/slide" Target="slides/slide79.xml"/><Relationship Id="rId111" Type="http://schemas.openxmlformats.org/officeDocument/2006/relationships/slide" Target="slides/slide102.xml"/><Relationship Id="rId132" Type="http://schemas.openxmlformats.org/officeDocument/2006/relationships/slide" Target="slides/slide123.xml"/><Relationship Id="rId153" Type="http://schemas.openxmlformats.org/officeDocument/2006/relationships/slide" Target="slides/slide144.xml"/><Relationship Id="rId174" Type="http://schemas.openxmlformats.org/officeDocument/2006/relationships/slide" Target="slides/slide165.xml"/><Relationship Id="rId179" Type="http://schemas.openxmlformats.org/officeDocument/2006/relationships/slide" Target="slides/slide170.xml"/><Relationship Id="rId190" Type="http://schemas.openxmlformats.org/officeDocument/2006/relationships/theme" Target="theme/theme1.xml"/><Relationship Id="rId15" Type="http://schemas.openxmlformats.org/officeDocument/2006/relationships/slide" Target="slides/slide6.xml"/><Relationship Id="rId36" Type="http://schemas.openxmlformats.org/officeDocument/2006/relationships/slide" Target="slides/slide27.xml"/><Relationship Id="rId57" Type="http://schemas.openxmlformats.org/officeDocument/2006/relationships/slide" Target="slides/slide48.xml"/><Relationship Id="rId106" Type="http://schemas.openxmlformats.org/officeDocument/2006/relationships/slide" Target="slides/slide97.xml"/><Relationship Id="rId127" Type="http://schemas.openxmlformats.org/officeDocument/2006/relationships/slide" Target="slides/slide118.xml"/><Relationship Id="rId10" Type="http://schemas.openxmlformats.org/officeDocument/2006/relationships/slide" Target="slides/slide1.xml"/><Relationship Id="rId31" Type="http://schemas.openxmlformats.org/officeDocument/2006/relationships/slide" Target="slides/slide22.xml"/><Relationship Id="rId52" Type="http://schemas.openxmlformats.org/officeDocument/2006/relationships/slide" Target="slides/slide43.xml"/><Relationship Id="rId73" Type="http://schemas.openxmlformats.org/officeDocument/2006/relationships/slide" Target="slides/slide64.xml"/><Relationship Id="rId78" Type="http://schemas.openxmlformats.org/officeDocument/2006/relationships/slide" Target="slides/slide69.xml"/><Relationship Id="rId94" Type="http://schemas.openxmlformats.org/officeDocument/2006/relationships/slide" Target="slides/slide85.xml"/><Relationship Id="rId99" Type="http://schemas.openxmlformats.org/officeDocument/2006/relationships/slide" Target="slides/slide90.xml"/><Relationship Id="rId101" Type="http://schemas.openxmlformats.org/officeDocument/2006/relationships/slide" Target="slides/slide92.xml"/><Relationship Id="rId122" Type="http://schemas.openxmlformats.org/officeDocument/2006/relationships/slide" Target="slides/slide113.xml"/><Relationship Id="rId143" Type="http://schemas.openxmlformats.org/officeDocument/2006/relationships/slide" Target="slides/slide134.xml"/><Relationship Id="rId148" Type="http://schemas.openxmlformats.org/officeDocument/2006/relationships/slide" Target="slides/slide139.xml"/><Relationship Id="rId164" Type="http://schemas.openxmlformats.org/officeDocument/2006/relationships/slide" Target="slides/slide155.xml"/><Relationship Id="rId169" Type="http://schemas.openxmlformats.org/officeDocument/2006/relationships/slide" Target="slides/slide160.xml"/><Relationship Id="rId185" Type="http://schemas.openxmlformats.org/officeDocument/2006/relationships/slide" Target="slides/slide176.xml"/><Relationship Id="rId4" Type="http://schemas.openxmlformats.org/officeDocument/2006/relationships/slideMaster" Target="slideMasters/slideMaster4.xml"/><Relationship Id="rId9" Type="http://schemas.openxmlformats.org/officeDocument/2006/relationships/slideMaster" Target="slideMasters/slideMaster9.xml"/><Relationship Id="rId180" Type="http://schemas.openxmlformats.org/officeDocument/2006/relationships/slide" Target="slides/slide171.xml"/><Relationship Id="rId26" Type="http://schemas.openxmlformats.org/officeDocument/2006/relationships/slide" Target="slides/slide17.xml"/><Relationship Id="rId47" Type="http://schemas.openxmlformats.org/officeDocument/2006/relationships/slide" Target="slides/slide38.xml"/><Relationship Id="rId68" Type="http://schemas.openxmlformats.org/officeDocument/2006/relationships/slide" Target="slides/slide59.xml"/><Relationship Id="rId89" Type="http://schemas.openxmlformats.org/officeDocument/2006/relationships/slide" Target="slides/slide80.xml"/><Relationship Id="rId112" Type="http://schemas.openxmlformats.org/officeDocument/2006/relationships/slide" Target="slides/slide103.xml"/><Relationship Id="rId133" Type="http://schemas.openxmlformats.org/officeDocument/2006/relationships/slide" Target="slides/slide124.xml"/><Relationship Id="rId154" Type="http://schemas.openxmlformats.org/officeDocument/2006/relationships/slide" Target="slides/slide145.xml"/><Relationship Id="rId175" Type="http://schemas.openxmlformats.org/officeDocument/2006/relationships/slide" Target="slides/slide166.xml"/><Relationship Id="rId16" Type="http://schemas.openxmlformats.org/officeDocument/2006/relationships/slide" Target="slides/slide7.xml"/><Relationship Id="rId37" Type="http://schemas.openxmlformats.org/officeDocument/2006/relationships/slide" Target="slides/slide28.xml"/><Relationship Id="rId58" Type="http://schemas.openxmlformats.org/officeDocument/2006/relationships/slide" Target="slides/slide49.xml"/><Relationship Id="rId79" Type="http://schemas.openxmlformats.org/officeDocument/2006/relationships/slide" Target="slides/slide70.xml"/><Relationship Id="rId102" Type="http://schemas.openxmlformats.org/officeDocument/2006/relationships/slide" Target="slides/slide93.xml"/><Relationship Id="rId123" Type="http://schemas.openxmlformats.org/officeDocument/2006/relationships/slide" Target="slides/slide114.xml"/><Relationship Id="rId144" Type="http://schemas.openxmlformats.org/officeDocument/2006/relationships/slide" Target="slides/slide135.xml"/><Relationship Id="rId90" Type="http://schemas.openxmlformats.org/officeDocument/2006/relationships/slide" Target="slides/slide81.xml"/><Relationship Id="rId165" Type="http://schemas.openxmlformats.org/officeDocument/2006/relationships/slide" Target="slides/slide156.xml"/><Relationship Id="rId186" Type="http://schemas.openxmlformats.org/officeDocument/2006/relationships/slide" Target="slides/slide177.xml"/><Relationship Id="rId27" Type="http://schemas.openxmlformats.org/officeDocument/2006/relationships/slide" Target="slides/slide18.xml"/><Relationship Id="rId48" Type="http://schemas.openxmlformats.org/officeDocument/2006/relationships/slide" Target="slides/slide39.xml"/><Relationship Id="rId69" Type="http://schemas.openxmlformats.org/officeDocument/2006/relationships/slide" Target="slides/slide60.xml"/><Relationship Id="rId113" Type="http://schemas.openxmlformats.org/officeDocument/2006/relationships/slide" Target="slides/slide104.xml"/><Relationship Id="rId134" Type="http://schemas.openxmlformats.org/officeDocument/2006/relationships/slide" Target="slides/slide125.xml"/><Relationship Id="rId80" Type="http://schemas.openxmlformats.org/officeDocument/2006/relationships/slide" Target="slides/slide71.xml"/><Relationship Id="rId155" Type="http://schemas.openxmlformats.org/officeDocument/2006/relationships/slide" Target="slides/slide146.xml"/><Relationship Id="rId176" Type="http://schemas.openxmlformats.org/officeDocument/2006/relationships/slide" Target="slides/slide167.xml"/><Relationship Id="rId17" Type="http://schemas.openxmlformats.org/officeDocument/2006/relationships/slide" Target="slides/slide8.xml"/><Relationship Id="rId38" Type="http://schemas.openxmlformats.org/officeDocument/2006/relationships/slide" Target="slides/slide29.xml"/><Relationship Id="rId59" Type="http://schemas.openxmlformats.org/officeDocument/2006/relationships/slide" Target="slides/slide50.xml"/><Relationship Id="rId103" Type="http://schemas.openxmlformats.org/officeDocument/2006/relationships/slide" Target="slides/slide94.xml"/><Relationship Id="rId124" Type="http://schemas.openxmlformats.org/officeDocument/2006/relationships/slide" Target="slides/slide115.xml"/><Relationship Id="rId70" Type="http://schemas.openxmlformats.org/officeDocument/2006/relationships/slide" Target="slides/slide61.xml"/><Relationship Id="rId91" Type="http://schemas.openxmlformats.org/officeDocument/2006/relationships/slide" Target="slides/slide82.xml"/><Relationship Id="rId145" Type="http://schemas.openxmlformats.org/officeDocument/2006/relationships/slide" Target="slides/slide136.xml"/><Relationship Id="rId166" Type="http://schemas.openxmlformats.org/officeDocument/2006/relationships/slide" Target="slides/slide157.xml"/><Relationship Id="rId187" Type="http://schemas.openxmlformats.org/officeDocument/2006/relationships/notesMaster" Target="notesMasters/notesMaster1.xml"/><Relationship Id="rId1" Type="http://schemas.openxmlformats.org/officeDocument/2006/relationships/slideMaster" Target="slideMasters/slideMaster1.xml"/><Relationship Id="rId28" Type="http://schemas.openxmlformats.org/officeDocument/2006/relationships/slide" Target="slides/slide19.xml"/><Relationship Id="rId49" Type="http://schemas.openxmlformats.org/officeDocument/2006/relationships/slide" Target="slides/slide40.xml"/><Relationship Id="rId114" Type="http://schemas.openxmlformats.org/officeDocument/2006/relationships/slide" Target="slides/slide105.xml"/><Relationship Id="rId60" Type="http://schemas.openxmlformats.org/officeDocument/2006/relationships/slide" Target="slides/slide51.xml"/><Relationship Id="rId81" Type="http://schemas.openxmlformats.org/officeDocument/2006/relationships/slide" Target="slides/slide72.xml"/><Relationship Id="rId135" Type="http://schemas.openxmlformats.org/officeDocument/2006/relationships/slide" Target="slides/slide126.xml"/><Relationship Id="rId156" Type="http://schemas.openxmlformats.org/officeDocument/2006/relationships/slide" Target="slides/slide147.xml"/><Relationship Id="rId177" Type="http://schemas.openxmlformats.org/officeDocument/2006/relationships/slide" Target="slides/slide16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C2446C-5660-4D65-BA8F-D65A253F99F0}" type="datetimeFigureOut">
              <a:rPr lang="tr-TR" smtClean="0"/>
              <a:pPr/>
              <a:t>20.04.2024</a:t>
            </a:fld>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1157FB-9162-42E6-8F62-1408327E0AE7}" type="slidenum">
              <a:rPr lang="tr-TR" smtClean="0"/>
              <a:pPr/>
              <a:t>‹#›</a:t>
            </a:fld>
            <a:endParaRPr lang="tr-TR"/>
          </a:p>
        </p:txBody>
      </p:sp>
    </p:spTree>
    <p:extLst>
      <p:ext uri="{BB962C8B-B14F-4D97-AF65-F5344CB8AC3E}">
        <p14:creationId xmlns:p14="http://schemas.microsoft.com/office/powerpoint/2010/main" val="3564570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 Yer Tutucusu 2"/>
          <p:cNvSpPr txBox="1">
            <a:spLocks noGrp="1"/>
          </p:cNvSpPr>
          <p:nvPr>
            <p:ph type="body" sz="quarter" idx="1"/>
          </p:nvPr>
        </p:nvSpPr>
        <p:spPr>
          <a:xfrm>
            <a:off x="756000" y="5078520"/>
            <a:ext cx="6047640" cy="4811400"/>
          </a:xfrm>
        </p:spPr>
        <p:txBody>
          <a:bodyPr/>
          <a:lstStyle/>
          <a:p>
            <a:endParaRPr lang="tr-TR"/>
          </a:p>
        </p:txBody>
      </p:sp>
    </p:spTree>
    <p:extLst>
      <p:ext uri="{BB962C8B-B14F-4D97-AF65-F5344CB8AC3E}">
        <p14:creationId xmlns:p14="http://schemas.microsoft.com/office/powerpoint/2010/main" val="29201386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tr-TR"/>
          </a:p>
        </p:txBody>
      </p:sp>
      <p:sp>
        <p:nvSpPr>
          <p:cNvPr id="174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fld id="{E5B01388-711C-487E-8CFE-EF23ECC65BD1}" type="slidenum">
              <a:rPr lang="tr-TR">
                <a:solidFill>
                  <a:prstClr val="black"/>
                </a:solidFill>
              </a:rPr>
              <a:pPr eaLnBrk="1" hangingPunct="1"/>
              <a:t>80</a:t>
            </a:fld>
            <a:endParaRPr lang="tr-TR">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1 Slayt Görüntüsü Yer Tutucusu"/>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2 Not Yer Tutucusu"/>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tr-TR"/>
          </a:p>
        </p:txBody>
      </p:sp>
      <p:sp>
        <p:nvSpPr>
          <p:cNvPr id="49156" name="3 Slayt Numarası Yer Tutucusu"/>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CFCDE94-D712-46AB-B5C8-E76CDA5EB57C}" type="slidenum">
              <a:rPr lang="tr-TR" smtClean="0">
                <a:solidFill>
                  <a:prstClr val="black"/>
                </a:solidFill>
              </a:rPr>
              <a:pPr fontAlgn="base">
                <a:spcBef>
                  <a:spcPct val="0"/>
                </a:spcBef>
                <a:spcAft>
                  <a:spcPct val="0"/>
                </a:spcAft>
                <a:defRPr/>
              </a:pPr>
              <a:t>142</a:t>
            </a:fld>
            <a:endParaRPr lang="tr-TR">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53806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68762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404233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79045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90592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63407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67340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27014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72669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17759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613926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066800" y="304800"/>
            <a:ext cx="7543800" cy="1431925"/>
          </a:xfrm>
        </p:spPr>
        <p:txBody>
          <a:bodyPr/>
          <a:lstStyle/>
          <a:p>
            <a:r>
              <a:rPr lang="en-US"/>
              <a:t>Click to edit Master title style</a:t>
            </a:r>
            <a:endParaRPr lang="tr-TR"/>
          </a:p>
        </p:txBody>
      </p:sp>
      <p:sp>
        <p:nvSpPr>
          <p:cNvPr id="3" name="ClipArt Placeholder 2"/>
          <p:cNvSpPr>
            <a:spLocks noGrp="1"/>
          </p:cNvSpPr>
          <p:nvPr>
            <p:ph type="clipArt" sz="half" idx="1"/>
          </p:nvPr>
        </p:nvSpPr>
        <p:spPr>
          <a:xfrm>
            <a:off x="1066800" y="1981200"/>
            <a:ext cx="3695700" cy="4114800"/>
          </a:xfrm>
        </p:spPr>
        <p:txBody>
          <a:bodyPr/>
          <a:lstStyle/>
          <a:p>
            <a:endParaRPr lang="tr-TR"/>
          </a:p>
        </p:txBody>
      </p:sp>
      <p:sp>
        <p:nvSpPr>
          <p:cNvPr id="4" name="Text Placeholder 3"/>
          <p:cNvSpPr>
            <a:spLocks noGrp="1"/>
          </p:cNvSpPr>
          <p:nvPr>
            <p:ph type="body" sz="half" idx="2"/>
          </p:nvPr>
        </p:nvSpPr>
        <p:spPr>
          <a:xfrm>
            <a:off x="4914900" y="1981200"/>
            <a:ext cx="36957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p:cNvSpPr>
            <a:spLocks noGrp="1"/>
          </p:cNvSpPr>
          <p:nvPr>
            <p:ph type="dt" sz="half" idx="10"/>
          </p:nvPr>
        </p:nvSpPr>
        <p:spPr>
          <a:xfrm>
            <a:off x="1066800" y="6248400"/>
            <a:ext cx="1905000" cy="457200"/>
          </a:xfrm>
        </p:spPr>
        <p:txBody>
          <a:bodyPr/>
          <a:lstStyle>
            <a:lvl1pPr>
              <a:defRPr/>
            </a:lvl1pPr>
          </a:lstStyle>
          <a:p>
            <a:endParaRPr lang="tr-TR">
              <a:solidFill>
                <a:prstClr val="black">
                  <a:tint val="75000"/>
                </a:prstClr>
              </a:solidFill>
            </a:endParaRPr>
          </a:p>
        </p:txBody>
      </p:sp>
      <p:sp>
        <p:nvSpPr>
          <p:cNvPr id="6" name="Footer Placeholder 5"/>
          <p:cNvSpPr>
            <a:spLocks noGrp="1"/>
          </p:cNvSpPr>
          <p:nvPr>
            <p:ph type="ftr" sz="quarter" idx="11"/>
          </p:nvPr>
        </p:nvSpPr>
        <p:spPr>
          <a:xfrm>
            <a:off x="3429000" y="6248400"/>
            <a:ext cx="2895600" cy="457200"/>
          </a:xfrm>
        </p:spPr>
        <p:txBody>
          <a:bodyPr/>
          <a:lstStyle>
            <a:lvl1pPr>
              <a:defRPr/>
            </a:lvl1pPr>
          </a:lstStyle>
          <a:p>
            <a:endParaRPr lang="tr-TR">
              <a:solidFill>
                <a:prstClr val="black">
                  <a:tint val="75000"/>
                </a:prstClr>
              </a:solidFill>
            </a:endParaRPr>
          </a:p>
        </p:txBody>
      </p:sp>
      <p:sp>
        <p:nvSpPr>
          <p:cNvPr id="7" name="Slide Number Placeholder 6"/>
          <p:cNvSpPr>
            <a:spLocks noGrp="1"/>
          </p:cNvSpPr>
          <p:nvPr>
            <p:ph type="sldNum" sz="quarter" idx="12"/>
          </p:nvPr>
        </p:nvSpPr>
        <p:spPr>
          <a:xfrm>
            <a:off x="6705600" y="6248400"/>
            <a:ext cx="1905000" cy="457200"/>
          </a:xfrm>
        </p:spPr>
        <p:txBody>
          <a:bodyPr/>
          <a:lstStyle>
            <a:lvl1pPr>
              <a:defRPr/>
            </a:lvl1pPr>
          </a:lstStyle>
          <a:p>
            <a:fld id="{772FA935-F164-4C21-A84A-8E6C1AD3BD0C}" type="slidenum">
              <a:rPr lang="tr-TR">
                <a:solidFill>
                  <a:prstClr val="black">
                    <a:tint val="75000"/>
                  </a:prstClr>
                </a:solidFill>
              </a:rPr>
              <a:pPr/>
              <a:t>‹#›</a:t>
            </a:fld>
            <a:endParaRPr lang="tr-TR">
              <a:solidFill>
                <a:prstClr val="black">
                  <a:tint val="75000"/>
                </a:prstClr>
              </a:solidFill>
            </a:endParaRPr>
          </a:p>
        </p:txBody>
      </p:sp>
    </p:spTree>
    <p:extLst>
      <p:ext uri="{BB962C8B-B14F-4D97-AF65-F5344CB8AC3E}">
        <p14:creationId xmlns:p14="http://schemas.microsoft.com/office/powerpoint/2010/main" val="25702839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1066800" y="304800"/>
            <a:ext cx="7543800" cy="1431925"/>
          </a:xfrm>
        </p:spPr>
        <p:txBody>
          <a:bodyPr/>
          <a:lstStyle/>
          <a:p>
            <a:r>
              <a:rPr lang="en-US"/>
              <a:t>Click to edit Master title style</a:t>
            </a:r>
            <a:endParaRPr lang="tr-TR"/>
          </a:p>
        </p:txBody>
      </p:sp>
      <p:sp>
        <p:nvSpPr>
          <p:cNvPr id="3" name="Content Placeholder 2"/>
          <p:cNvSpPr>
            <a:spLocks noGrp="1"/>
          </p:cNvSpPr>
          <p:nvPr>
            <p:ph sz="quarter" idx="1"/>
          </p:nvPr>
        </p:nvSpPr>
        <p:spPr>
          <a:xfrm>
            <a:off x="1066800" y="1981200"/>
            <a:ext cx="36957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quarter" idx="2"/>
          </p:nvPr>
        </p:nvSpPr>
        <p:spPr>
          <a:xfrm>
            <a:off x="1066800" y="4114800"/>
            <a:ext cx="36957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p:cNvSpPr>
            <a:spLocks noGrp="1"/>
          </p:cNvSpPr>
          <p:nvPr>
            <p:ph type="body" sz="half" idx="3"/>
          </p:nvPr>
        </p:nvSpPr>
        <p:spPr>
          <a:xfrm>
            <a:off x="4914900" y="1981200"/>
            <a:ext cx="36957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Date Placeholder 5"/>
          <p:cNvSpPr>
            <a:spLocks noGrp="1"/>
          </p:cNvSpPr>
          <p:nvPr>
            <p:ph type="dt" sz="half" idx="10"/>
          </p:nvPr>
        </p:nvSpPr>
        <p:spPr>
          <a:xfrm>
            <a:off x="1066800" y="6248400"/>
            <a:ext cx="1905000" cy="457200"/>
          </a:xfrm>
        </p:spPr>
        <p:txBody>
          <a:bodyPr/>
          <a:lstStyle>
            <a:lvl1pPr>
              <a:defRPr/>
            </a:lvl1pPr>
          </a:lstStyle>
          <a:p>
            <a:endParaRPr lang="tr-TR">
              <a:solidFill>
                <a:prstClr val="black">
                  <a:tint val="75000"/>
                </a:prstClr>
              </a:solidFill>
            </a:endParaRPr>
          </a:p>
        </p:txBody>
      </p:sp>
      <p:sp>
        <p:nvSpPr>
          <p:cNvPr id="7" name="Footer Placeholder 6"/>
          <p:cNvSpPr>
            <a:spLocks noGrp="1"/>
          </p:cNvSpPr>
          <p:nvPr>
            <p:ph type="ftr" sz="quarter" idx="11"/>
          </p:nvPr>
        </p:nvSpPr>
        <p:spPr>
          <a:xfrm>
            <a:off x="3429000" y="6248400"/>
            <a:ext cx="2895600" cy="457200"/>
          </a:xfrm>
        </p:spPr>
        <p:txBody>
          <a:bodyPr/>
          <a:lstStyle>
            <a:lvl1pPr>
              <a:defRPr/>
            </a:lvl1pPr>
          </a:lstStyle>
          <a:p>
            <a:endParaRPr lang="tr-TR">
              <a:solidFill>
                <a:prstClr val="black">
                  <a:tint val="75000"/>
                </a:prstClr>
              </a:solidFill>
            </a:endParaRPr>
          </a:p>
        </p:txBody>
      </p:sp>
      <p:sp>
        <p:nvSpPr>
          <p:cNvPr id="8" name="Slide Number Placeholder 7"/>
          <p:cNvSpPr>
            <a:spLocks noGrp="1"/>
          </p:cNvSpPr>
          <p:nvPr>
            <p:ph type="sldNum" sz="quarter" idx="12"/>
          </p:nvPr>
        </p:nvSpPr>
        <p:spPr>
          <a:xfrm>
            <a:off x="6705600" y="6248400"/>
            <a:ext cx="1905000" cy="457200"/>
          </a:xfrm>
        </p:spPr>
        <p:txBody>
          <a:bodyPr/>
          <a:lstStyle>
            <a:lvl1pPr>
              <a:defRPr/>
            </a:lvl1pPr>
          </a:lstStyle>
          <a:p>
            <a:fld id="{32EB35B4-0FAA-4242-BFF3-600E25C7BDE3}" type="slidenum">
              <a:rPr lang="tr-TR">
                <a:solidFill>
                  <a:prstClr val="black">
                    <a:tint val="75000"/>
                  </a:prstClr>
                </a:solidFill>
              </a:rPr>
              <a:pPr/>
              <a:t>‹#›</a:t>
            </a:fld>
            <a:endParaRPr lang="tr-TR">
              <a:solidFill>
                <a:prstClr val="black">
                  <a:tint val="75000"/>
                </a:prstClr>
              </a:solidFill>
            </a:endParaRPr>
          </a:p>
        </p:txBody>
      </p:sp>
    </p:spTree>
    <p:extLst>
      <p:ext uri="{BB962C8B-B14F-4D97-AF65-F5344CB8AC3E}">
        <p14:creationId xmlns:p14="http://schemas.microsoft.com/office/powerpoint/2010/main" val="41743796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066800" y="304800"/>
            <a:ext cx="7543800" cy="1431925"/>
          </a:xfrm>
        </p:spPr>
        <p:txBody>
          <a:bodyPr/>
          <a:lstStyle/>
          <a:p>
            <a:r>
              <a:rPr lang="en-US"/>
              <a:t>Click to edit Master title style</a:t>
            </a:r>
            <a:endParaRPr lang="tr-TR"/>
          </a:p>
        </p:txBody>
      </p:sp>
      <p:sp>
        <p:nvSpPr>
          <p:cNvPr id="3" name="Content Placeholder 2"/>
          <p:cNvSpPr>
            <a:spLocks noGrp="1"/>
          </p:cNvSpPr>
          <p:nvPr>
            <p:ph sz="half" idx="1"/>
          </p:nvPr>
        </p:nvSpPr>
        <p:spPr>
          <a:xfrm>
            <a:off x="1066800" y="1981200"/>
            <a:ext cx="36957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quarter" idx="2"/>
          </p:nvPr>
        </p:nvSpPr>
        <p:spPr>
          <a:xfrm>
            <a:off x="4914900" y="1981200"/>
            <a:ext cx="36957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Content Placeholder 4"/>
          <p:cNvSpPr>
            <a:spLocks noGrp="1"/>
          </p:cNvSpPr>
          <p:nvPr>
            <p:ph sz="quarter" idx="3"/>
          </p:nvPr>
        </p:nvSpPr>
        <p:spPr>
          <a:xfrm>
            <a:off x="4914900" y="4114800"/>
            <a:ext cx="36957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Date Placeholder 5"/>
          <p:cNvSpPr>
            <a:spLocks noGrp="1"/>
          </p:cNvSpPr>
          <p:nvPr>
            <p:ph type="dt" sz="half" idx="10"/>
          </p:nvPr>
        </p:nvSpPr>
        <p:spPr>
          <a:xfrm>
            <a:off x="1066800" y="6248400"/>
            <a:ext cx="1905000" cy="457200"/>
          </a:xfrm>
        </p:spPr>
        <p:txBody>
          <a:bodyPr/>
          <a:lstStyle>
            <a:lvl1pPr>
              <a:defRPr/>
            </a:lvl1pPr>
          </a:lstStyle>
          <a:p>
            <a:endParaRPr lang="tr-TR">
              <a:solidFill>
                <a:prstClr val="black">
                  <a:tint val="75000"/>
                </a:prstClr>
              </a:solidFill>
            </a:endParaRPr>
          </a:p>
        </p:txBody>
      </p:sp>
      <p:sp>
        <p:nvSpPr>
          <p:cNvPr id="7" name="Footer Placeholder 6"/>
          <p:cNvSpPr>
            <a:spLocks noGrp="1"/>
          </p:cNvSpPr>
          <p:nvPr>
            <p:ph type="ftr" sz="quarter" idx="11"/>
          </p:nvPr>
        </p:nvSpPr>
        <p:spPr>
          <a:xfrm>
            <a:off x="3429000" y="6248400"/>
            <a:ext cx="2895600" cy="457200"/>
          </a:xfrm>
        </p:spPr>
        <p:txBody>
          <a:bodyPr/>
          <a:lstStyle>
            <a:lvl1pPr>
              <a:defRPr/>
            </a:lvl1pPr>
          </a:lstStyle>
          <a:p>
            <a:endParaRPr lang="tr-TR">
              <a:solidFill>
                <a:prstClr val="black">
                  <a:tint val="75000"/>
                </a:prstClr>
              </a:solidFill>
            </a:endParaRPr>
          </a:p>
        </p:txBody>
      </p:sp>
      <p:sp>
        <p:nvSpPr>
          <p:cNvPr id="8" name="Slide Number Placeholder 7"/>
          <p:cNvSpPr>
            <a:spLocks noGrp="1"/>
          </p:cNvSpPr>
          <p:nvPr>
            <p:ph type="sldNum" sz="quarter" idx="12"/>
          </p:nvPr>
        </p:nvSpPr>
        <p:spPr>
          <a:xfrm>
            <a:off x="6705600" y="6248400"/>
            <a:ext cx="1905000" cy="457200"/>
          </a:xfrm>
        </p:spPr>
        <p:txBody>
          <a:bodyPr/>
          <a:lstStyle>
            <a:lvl1pPr>
              <a:defRPr/>
            </a:lvl1pPr>
          </a:lstStyle>
          <a:p>
            <a:fld id="{DD399705-1FB0-46A9-8698-2AB49BED6432}" type="slidenum">
              <a:rPr lang="tr-TR">
                <a:solidFill>
                  <a:prstClr val="black">
                    <a:tint val="75000"/>
                  </a:prstClr>
                </a:solidFill>
              </a:rPr>
              <a:pPr/>
              <a:t>‹#›</a:t>
            </a:fld>
            <a:endParaRPr lang="tr-TR">
              <a:solidFill>
                <a:prstClr val="black">
                  <a:tint val="75000"/>
                </a:prstClr>
              </a:solidFill>
            </a:endParaRPr>
          </a:p>
        </p:txBody>
      </p:sp>
    </p:spTree>
    <p:extLst>
      <p:ext uri="{BB962C8B-B14F-4D97-AF65-F5344CB8AC3E}">
        <p14:creationId xmlns:p14="http://schemas.microsoft.com/office/powerpoint/2010/main" val="12002128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x">
  <p:cSld name="Başlık, İçerik ve Metin">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44475"/>
            <a:ext cx="8385175" cy="1431925"/>
          </a:xfrm>
        </p:spPr>
        <p:txBody>
          <a:bodyPr/>
          <a:lstStyle/>
          <a:p>
            <a:r>
              <a:rPr lang="tr-TR"/>
              <a:t>Asıl başlık stili için tıklatın</a:t>
            </a:r>
          </a:p>
        </p:txBody>
      </p:sp>
      <p:sp>
        <p:nvSpPr>
          <p:cNvPr id="3" name="2 İçerik Yer Tutucusu"/>
          <p:cNvSpPr>
            <a:spLocks noGrp="1"/>
          </p:cNvSpPr>
          <p:nvPr>
            <p:ph sz="half" idx="1"/>
          </p:nvPr>
        </p:nvSpPr>
        <p:spPr>
          <a:xfrm>
            <a:off x="838200" y="1905000"/>
            <a:ext cx="3927475" cy="4191000"/>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4918075" y="1905000"/>
            <a:ext cx="3927475" cy="4191000"/>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Rectangle 11"/>
          <p:cNvSpPr>
            <a:spLocks noGrp="1" noChangeArrowheads="1"/>
          </p:cNvSpPr>
          <p:nvPr>
            <p:ph type="dt" sz="half" idx="10"/>
          </p:nvPr>
        </p:nvSpPr>
        <p:spPr>
          <a:ln/>
        </p:spPr>
        <p:txBody>
          <a:bodyPr/>
          <a:lstStyle>
            <a:lvl1pPr>
              <a:defRPr/>
            </a:lvl1pPr>
          </a:lstStyle>
          <a:p>
            <a:pPr>
              <a:defRPr/>
            </a:pPr>
            <a:endParaRPr lang="tr-TR">
              <a:solidFill>
                <a:prstClr val="black">
                  <a:tint val="75000"/>
                </a:prstClr>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tr-TR">
              <a:solidFill>
                <a:prstClr val="black">
                  <a:tint val="75000"/>
                </a:prstClr>
              </a:solidFill>
            </a:endParaRPr>
          </a:p>
        </p:txBody>
      </p:sp>
      <p:sp>
        <p:nvSpPr>
          <p:cNvPr id="7" name="Rectangle 13"/>
          <p:cNvSpPr>
            <a:spLocks noGrp="1" noChangeArrowheads="1"/>
          </p:cNvSpPr>
          <p:nvPr>
            <p:ph type="sldNum" sz="quarter" idx="12"/>
          </p:nvPr>
        </p:nvSpPr>
        <p:spPr>
          <a:ln/>
        </p:spPr>
        <p:txBody>
          <a:bodyPr/>
          <a:lstStyle>
            <a:lvl1pPr>
              <a:defRPr/>
            </a:lvl1pPr>
          </a:lstStyle>
          <a:p>
            <a:pPr>
              <a:defRPr/>
            </a:pPr>
            <a:fld id="{C22C10F7-E207-43CD-900B-562F5F33131C}" type="slidenum">
              <a:rPr lang="tr-TR">
                <a:solidFill>
                  <a:prstClr val="black">
                    <a:tint val="75000"/>
                  </a:prstClr>
                </a:solidFill>
              </a:rPr>
              <a:pPr>
                <a:defRPr/>
              </a:pPr>
              <a:t>‹#›</a:t>
            </a:fld>
            <a:endParaRPr lang="tr-TR">
              <a:solidFill>
                <a:prstClr val="black">
                  <a:tint val="75000"/>
                </a:prstClr>
              </a:solidFill>
            </a:endParaRPr>
          </a:p>
        </p:txBody>
      </p:sp>
    </p:spTree>
    <p:extLst>
      <p:ext uri="{BB962C8B-B14F-4D97-AF65-F5344CB8AC3E}">
        <p14:creationId xmlns:p14="http://schemas.microsoft.com/office/powerpoint/2010/main" val="16940206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
        <p:nvSpPr>
          <p:cNvPr id="9" name="Content Placeholder 8"/>
          <p:cNvSpPr>
            <a:spLocks noGrp="1"/>
          </p:cNvSpPr>
          <p:nvPr>
            <p:ph sz="quarter" idx="13"/>
          </p:nvPr>
        </p:nvSpPr>
        <p:spPr>
          <a:xfrm>
            <a:off x="1042416" y="2313432"/>
            <a:ext cx="3419856" cy="34930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solidFill>
                <a:prstClr val="black">
                  <a:tint val="75000"/>
                </a:prstClr>
              </a:solidFill>
            </a:endParaRPr>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a:t>Click to edit Master title style</a:t>
            </a:r>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a:t>Click to edit Master title style</a:t>
            </a:r>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066800" y="304800"/>
            <a:ext cx="7543800" cy="1431925"/>
          </a:xfrm>
        </p:spPr>
        <p:txBody>
          <a:bodyPr/>
          <a:lstStyle/>
          <a:p>
            <a:r>
              <a:rPr lang="en-US"/>
              <a:t>Click to edit Master title style</a:t>
            </a:r>
            <a:endParaRPr lang="tr-TR"/>
          </a:p>
        </p:txBody>
      </p:sp>
      <p:sp>
        <p:nvSpPr>
          <p:cNvPr id="3" name="ClipArt Placeholder 2"/>
          <p:cNvSpPr>
            <a:spLocks noGrp="1"/>
          </p:cNvSpPr>
          <p:nvPr>
            <p:ph type="clipArt" sz="half" idx="1"/>
          </p:nvPr>
        </p:nvSpPr>
        <p:spPr>
          <a:xfrm>
            <a:off x="1066800" y="1981200"/>
            <a:ext cx="3695700" cy="4114800"/>
          </a:xfrm>
        </p:spPr>
        <p:txBody>
          <a:bodyPr/>
          <a:lstStyle/>
          <a:p>
            <a:endParaRPr lang="tr-TR"/>
          </a:p>
        </p:txBody>
      </p:sp>
      <p:sp>
        <p:nvSpPr>
          <p:cNvPr id="4" name="Text Placeholder 3"/>
          <p:cNvSpPr>
            <a:spLocks noGrp="1"/>
          </p:cNvSpPr>
          <p:nvPr>
            <p:ph type="body" sz="half" idx="2"/>
          </p:nvPr>
        </p:nvSpPr>
        <p:spPr>
          <a:xfrm>
            <a:off x="4914900" y="1981200"/>
            <a:ext cx="36957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p:cNvSpPr>
            <a:spLocks noGrp="1"/>
          </p:cNvSpPr>
          <p:nvPr>
            <p:ph type="dt" sz="half" idx="10"/>
          </p:nvPr>
        </p:nvSpPr>
        <p:spPr>
          <a:xfrm>
            <a:off x="1066800" y="6248400"/>
            <a:ext cx="1905000" cy="457200"/>
          </a:xfrm>
        </p:spPr>
        <p:txBody>
          <a:bodyPr/>
          <a:lstStyle>
            <a:lvl1pPr>
              <a:defRPr/>
            </a:lvl1pPr>
          </a:lstStyle>
          <a:p>
            <a:endParaRPr lang="tr-TR">
              <a:solidFill>
                <a:prstClr val="black">
                  <a:tint val="75000"/>
                </a:prstClr>
              </a:solidFill>
            </a:endParaRPr>
          </a:p>
        </p:txBody>
      </p:sp>
      <p:sp>
        <p:nvSpPr>
          <p:cNvPr id="6" name="Footer Placeholder 5"/>
          <p:cNvSpPr>
            <a:spLocks noGrp="1"/>
          </p:cNvSpPr>
          <p:nvPr>
            <p:ph type="ftr" sz="quarter" idx="11"/>
          </p:nvPr>
        </p:nvSpPr>
        <p:spPr>
          <a:xfrm>
            <a:off x="3429000" y="6248400"/>
            <a:ext cx="2895600" cy="457200"/>
          </a:xfrm>
        </p:spPr>
        <p:txBody>
          <a:bodyPr/>
          <a:lstStyle>
            <a:lvl1pPr>
              <a:defRPr/>
            </a:lvl1pPr>
          </a:lstStyle>
          <a:p>
            <a:endParaRPr lang="tr-TR">
              <a:solidFill>
                <a:prstClr val="black">
                  <a:tint val="75000"/>
                </a:prstClr>
              </a:solidFill>
            </a:endParaRPr>
          </a:p>
        </p:txBody>
      </p:sp>
      <p:sp>
        <p:nvSpPr>
          <p:cNvPr id="7" name="Slide Number Placeholder 6"/>
          <p:cNvSpPr>
            <a:spLocks noGrp="1"/>
          </p:cNvSpPr>
          <p:nvPr>
            <p:ph type="sldNum" sz="quarter" idx="12"/>
          </p:nvPr>
        </p:nvSpPr>
        <p:spPr>
          <a:xfrm>
            <a:off x="6705600" y="6248400"/>
            <a:ext cx="1905000" cy="457200"/>
          </a:xfrm>
        </p:spPr>
        <p:txBody>
          <a:bodyPr/>
          <a:lstStyle>
            <a:lvl1pPr>
              <a:defRPr/>
            </a:lvl1pPr>
          </a:lstStyle>
          <a:p>
            <a:fld id="{772FA935-F164-4C21-A84A-8E6C1AD3BD0C}" type="slidenum">
              <a:rPr lang="tr-TR">
                <a:solidFill>
                  <a:prstClr val="black">
                    <a:tint val="75000"/>
                  </a:prstClr>
                </a:solidFill>
              </a:rPr>
              <a:pPr/>
              <a:t>‹#›</a:t>
            </a:fld>
            <a:endParaRPr lang="tr-TR">
              <a:solidFill>
                <a:prstClr val="black">
                  <a:tint val="75000"/>
                </a:prstClr>
              </a:solidFill>
            </a:endParaRPr>
          </a:p>
        </p:txBody>
      </p:sp>
    </p:spTree>
    <p:extLst>
      <p:ext uri="{BB962C8B-B14F-4D97-AF65-F5344CB8AC3E}">
        <p14:creationId xmlns:p14="http://schemas.microsoft.com/office/powerpoint/2010/main" val="25702839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19" name="Footer Placeholder 18"/>
          <p:cNvSpPr>
            <a:spLocks noGrp="1"/>
          </p:cNvSpPr>
          <p:nvPr>
            <p:ph type="ftr" sz="quarter" idx="11"/>
          </p:nvPr>
        </p:nvSpPr>
        <p:spPr/>
        <p:txBody>
          <a:bodyPr/>
          <a:lstStyle/>
          <a:p>
            <a:endParaRPr lang="en-US">
              <a:solidFill>
                <a:prstClr val="black">
                  <a:tint val="75000"/>
                </a:prstClr>
              </a:solidFill>
            </a:endParaRPr>
          </a:p>
        </p:txBody>
      </p:sp>
      <p:sp>
        <p:nvSpPr>
          <p:cNvPr id="27" name="Slide Number Placeholder 2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AndTx">
  <p:cSld name="Başlık, İçerik ve Metin">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44475"/>
            <a:ext cx="8385175" cy="1431925"/>
          </a:xfrm>
        </p:spPr>
        <p:txBody>
          <a:bodyPr/>
          <a:lstStyle/>
          <a:p>
            <a:r>
              <a:rPr lang="tr-TR"/>
              <a:t>Asıl başlık stili için tıklatın</a:t>
            </a:r>
          </a:p>
        </p:txBody>
      </p:sp>
      <p:sp>
        <p:nvSpPr>
          <p:cNvPr id="3" name="2 İçerik Yer Tutucusu"/>
          <p:cNvSpPr>
            <a:spLocks noGrp="1"/>
          </p:cNvSpPr>
          <p:nvPr>
            <p:ph sz="half" idx="1"/>
          </p:nvPr>
        </p:nvSpPr>
        <p:spPr>
          <a:xfrm>
            <a:off x="838200" y="1905000"/>
            <a:ext cx="3927475" cy="4191000"/>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4918075" y="1905000"/>
            <a:ext cx="3927475" cy="4191000"/>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Rectangle 11"/>
          <p:cNvSpPr>
            <a:spLocks noGrp="1" noChangeArrowheads="1"/>
          </p:cNvSpPr>
          <p:nvPr>
            <p:ph type="dt" sz="half" idx="10"/>
          </p:nvPr>
        </p:nvSpPr>
        <p:spPr>
          <a:ln/>
        </p:spPr>
        <p:txBody>
          <a:bodyPr/>
          <a:lstStyle>
            <a:lvl1pPr>
              <a:defRPr/>
            </a:lvl1pPr>
          </a:lstStyle>
          <a:p>
            <a:pPr>
              <a:defRPr/>
            </a:pPr>
            <a:endParaRPr lang="tr-TR">
              <a:solidFill>
                <a:prstClr val="black">
                  <a:tint val="75000"/>
                </a:prstClr>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tr-TR">
              <a:solidFill>
                <a:prstClr val="black">
                  <a:tint val="75000"/>
                </a:prstClr>
              </a:solidFill>
            </a:endParaRPr>
          </a:p>
        </p:txBody>
      </p:sp>
      <p:sp>
        <p:nvSpPr>
          <p:cNvPr id="7" name="Rectangle 13"/>
          <p:cNvSpPr>
            <a:spLocks noGrp="1" noChangeArrowheads="1"/>
          </p:cNvSpPr>
          <p:nvPr>
            <p:ph type="sldNum" sz="quarter" idx="12"/>
          </p:nvPr>
        </p:nvSpPr>
        <p:spPr>
          <a:ln/>
        </p:spPr>
        <p:txBody>
          <a:bodyPr/>
          <a:lstStyle>
            <a:lvl1pPr>
              <a:defRPr/>
            </a:lvl1pPr>
          </a:lstStyle>
          <a:p>
            <a:pPr>
              <a:defRPr/>
            </a:pPr>
            <a:fld id="{C22C10F7-E207-43CD-900B-562F5F33131C}" type="slidenum">
              <a:rPr lang="tr-TR">
                <a:solidFill>
                  <a:prstClr val="black">
                    <a:tint val="75000"/>
                  </a:prstClr>
                </a:solidFill>
              </a:rPr>
              <a:pPr>
                <a:defRPr/>
              </a:pPr>
              <a:t>‹#›</a:t>
            </a:fld>
            <a:endParaRPr lang="tr-TR">
              <a:solidFill>
                <a:prstClr val="black">
                  <a:tint val="75000"/>
                </a:prstClr>
              </a:solidFill>
            </a:endParaRPr>
          </a:p>
        </p:txBody>
      </p:sp>
    </p:spTree>
    <p:extLst>
      <p:ext uri="{BB962C8B-B14F-4D97-AF65-F5344CB8AC3E}">
        <p14:creationId xmlns:p14="http://schemas.microsoft.com/office/powerpoint/2010/main" val="169402064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9" name="Slide Number Placeholder 8"/>
          <p:cNvSpPr>
            <a:spLocks noGrp="1"/>
          </p:cNvSpPr>
          <p:nvPr>
            <p:ph type="sldNum" sz="quarter" idx="11"/>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
        <p:nvSpPr>
          <p:cNvPr id="10" name="Footer Placeholder 9"/>
          <p:cNvSpPr>
            <a:spLocks noGrp="1"/>
          </p:cNvSpPr>
          <p:nvPr>
            <p:ph type="ftr" sz="quarter" idx="12"/>
          </p:nvPr>
        </p:nvSpPr>
        <p:spPr/>
        <p:txBody>
          <a:bodyPr/>
          <a:lstStyle/>
          <a:p>
            <a:endParaRPr lang="en-US">
              <a:solidFill>
                <a:prstClr val="black">
                  <a:tint val="75000"/>
                </a:prstClr>
              </a:solidFil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859280"/>
            <a:ext cx="6400800" cy="1295400"/>
          </a:xfrm>
        </p:spPr>
        <p:txBody>
          <a:bodyPr/>
          <a:lstStyle/>
          <a:p>
            <a:r>
              <a:rPr lang="en-US"/>
              <a:t>Click to edit Master title style</a:t>
            </a:r>
            <a:endParaRPr lang="en-US" dirty="0"/>
          </a:p>
        </p:txBody>
      </p:sp>
      <p:pic>
        <p:nvPicPr>
          <p:cNvPr id="8" name="Picture 7" descr="flourish2.png"/>
          <p:cNvPicPr>
            <a:picLocks noChangeAspect="1"/>
          </p:cNvPicPr>
          <p:nvPr/>
        </p:nvPicPr>
        <p:blipFill>
          <a:blip r:embed="rId2" cstate="print">
            <a:duotone>
              <a:prstClr val="black"/>
              <a:schemeClr val="tx2">
                <a:tint val="45000"/>
                <a:satMod val="400000"/>
              </a:schemeClr>
            </a:duotone>
            <a:lum bright="-14000"/>
          </a:blip>
          <a:stretch>
            <a:fillRect/>
          </a:stretch>
        </p:blipFill>
        <p:spPr>
          <a:xfrm>
            <a:off x="0" y="2801112"/>
            <a:ext cx="9144000" cy="932688"/>
          </a:xfrm>
          <a:prstGeom prst="rect">
            <a:avLst/>
          </a:prstGeom>
        </p:spPr>
      </p:pic>
      <p:sp>
        <p:nvSpPr>
          <p:cNvPr id="3" name="Subtitle 2"/>
          <p:cNvSpPr>
            <a:spLocks noGrp="1"/>
          </p:cNvSpPr>
          <p:nvPr>
            <p:ph type="subTitle" idx="1"/>
          </p:nvPr>
        </p:nvSpPr>
        <p:spPr>
          <a:xfrm>
            <a:off x="1371600" y="3429000"/>
            <a:ext cx="6400800" cy="762000"/>
          </a:xfrm>
        </p:spPr>
        <p:txBody>
          <a:bodyPr>
            <a:normAutofit/>
          </a:bodyPr>
          <a:lstStyle>
            <a:lvl1pPr marL="0" indent="0" algn="ctr">
              <a:buNone/>
              <a:defRPr sz="2000" i="1" baseline="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white"/>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bwMode="white"/>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371600" y="2438400"/>
            <a:ext cx="6400800" cy="3048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pic>
        <p:nvPicPr>
          <p:cNvPr id="9" name="Picture 8" descr="flourish2.png"/>
          <p:cNvPicPr>
            <a:picLocks noChangeAspect="1"/>
          </p:cNvPicPr>
          <p:nvPr/>
        </p:nvPicPr>
        <p:blipFill>
          <a:blip r:embed="rId2" cstate="print">
            <a:duotone>
              <a:prstClr val="black"/>
              <a:schemeClr val="tx2">
                <a:tint val="45000"/>
                <a:satMod val="400000"/>
              </a:schemeClr>
            </a:duotone>
            <a:lum bright="-14000"/>
          </a:blip>
          <a:stretch>
            <a:fillRect/>
          </a:stretch>
        </p:blipFill>
        <p:spPr>
          <a:xfrm>
            <a:off x="0" y="1618488"/>
            <a:ext cx="9144000" cy="932688"/>
          </a:xfrm>
          <a:prstGeom prst="rect">
            <a:avLst/>
          </a:prstGeom>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pic>
        <p:nvPicPr>
          <p:cNvPr id="7" name="Picture 6" descr="flourish2.png"/>
          <p:cNvPicPr>
            <a:picLocks noChangeAspect="1"/>
          </p:cNvPicPr>
          <p:nvPr/>
        </p:nvPicPr>
        <p:blipFill>
          <a:blip r:embed="rId2" cstate="print">
            <a:duotone>
              <a:prstClr val="black"/>
              <a:schemeClr val="tx2">
                <a:tint val="45000"/>
                <a:satMod val="400000"/>
              </a:schemeClr>
            </a:duotone>
            <a:lum bright="-14000"/>
          </a:blip>
          <a:stretch>
            <a:fillRect/>
          </a:stretch>
        </p:blipFill>
        <p:spPr>
          <a:xfrm>
            <a:off x="0" y="2684462"/>
            <a:ext cx="9144000" cy="932688"/>
          </a:xfrm>
          <a:prstGeom prst="rect">
            <a:avLst/>
          </a:prstGeom>
        </p:spPr>
      </p:pic>
      <p:sp>
        <p:nvSpPr>
          <p:cNvPr id="2" name="Title 1"/>
          <p:cNvSpPr>
            <a:spLocks noGrp="1"/>
          </p:cNvSpPr>
          <p:nvPr>
            <p:ph type="title"/>
          </p:nvPr>
        </p:nvSpPr>
        <p:spPr>
          <a:xfrm>
            <a:off x="1447800" y="3410267"/>
            <a:ext cx="6248400" cy="1456373"/>
          </a:xfrm>
        </p:spPr>
        <p:txBody>
          <a:bodyPr anchor="t">
            <a:normAutofit/>
          </a:bodyPr>
          <a:lstStyle>
            <a:lvl1pPr algn="ctr">
              <a:defRPr sz="3600" b="0" i="0" cap="all" baseline="0"/>
            </a:lvl1pPr>
          </a:lstStyle>
          <a:p>
            <a:r>
              <a:rPr lang="en-US"/>
              <a:t>Click to edit Master title style</a:t>
            </a:r>
            <a:endParaRPr lang="en-US" dirty="0"/>
          </a:p>
        </p:txBody>
      </p:sp>
      <p:sp>
        <p:nvSpPr>
          <p:cNvPr id="3" name="Text Placeholder 2"/>
          <p:cNvSpPr>
            <a:spLocks noGrp="1"/>
          </p:cNvSpPr>
          <p:nvPr>
            <p:ph type="body" idx="1"/>
          </p:nvPr>
        </p:nvSpPr>
        <p:spPr>
          <a:xfrm>
            <a:off x="1447800" y="1503680"/>
            <a:ext cx="6248400" cy="1566862"/>
          </a:xfrm>
        </p:spPr>
        <p:txBody>
          <a:bodyPr anchor="b"/>
          <a:lstStyle>
            <a:lvl1pPr marL="0" indent="0" algn="ctr">
              <a:buNone/>
              <a:defRPr sz="2000" b="0" i="1"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8" name="Picture 7" descr="flourish2.png"/>
          <p:cNvPicPr>
            <a:picLocks noChangeAspect="1"/>
          </p:cNvPicPr>
          <p:nvPr/>
        </p:nvPicPr>
        <p:blipFill>
          <a:blip r:embed="rId2" cstate="print">
            <a:duotone>
              <a:prstClr val="black"/>
              <a:schemeClr val="tx2">
                <a:tint val="45000"/>
                <a:satMod val="400000"/>
              </a:schemeClr>
            </a:duotone>
            <a:lum bright="-14000"/>
          </a:blip>
          <a:stretch>
            <a:fillRect/>
          </a:stretch>
        </p:blipFill>
        <p:spPr>
          <a:xfrm>
            <a:off x="0" y="2684462"/>
            <a:ext cx="9144000" cy="932688"/>
          </a:xfrm>
          <a:prstGeom prst="rect">
            <a:avLst/>
          </a:prstGeom>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 name="Content Placeholder 9"/>
          <p:cNvSpPr>
            <a:spLocks noGrp="1"/>
          </p:cNvSpPr>
          <p:nvPr>
            <p:ph sz="quarter" idx="13"/>
          </p:nvPr>
        </p:nvSpPr>
        <p:spPr>
          <a:xfrm>
            <a:off x="1371600" y="2438400"/>
            <a:ext cx="3124200" cy="3124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
        <p:nvSpPr>
          <p:cNvPr id="12" name="Content Placeholder 11"/>
          <p:cNvSpPr>
            <a:spLocks noGrp="1"/>
          </p:cNvSpPr>
          <p:nvPr>
            <p:ph sz="quarter" idx="14"/>
          </p:nvPr>
        </p:nvSpPr>
        <p:spPr>
          <a:xfrm>
            <a:off x="4648200" y="2438400"/>
            <a:ext cx="3124200" cy="3124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descr="flourish2.png"/>
          <p:cNvPicPr>
            <a:picLocks noChangeAspect="1"/>
          </p:cNvPicPr>
          <p:nvPr/>
        </p:nvPicPr>
        <p:blipFill>
          <a:blip r:embed="rId2" cstate="print">
            <a:duotone>
              <a:prstClr val="black"/>
              <a:schemeClr val="tx2">
                <a:tint val="45000"/>
                <a:satMod val="400000"/>
              </a:schemeClr>
            </a:duotone>
            <a:lum bright="-14000"/>
          </a:blip>
          <a:stretch>
            <a:fillRect/>
          </a:stretch>
        </p:blipFill>
        <p:spPr>
          <a:xfrm>
            <a:off x="0" y="1618488"/>
            <a:ext cx="9144000" cy="932688"/>
          </a:xfrm>
          <a:prstGeom prst="rect">
            <a:avLst/>
          </a:prstGeom>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descr="flourish2.png"/>
          <p:cNvPicPr>
            <a:picLocks noChangeAspect="1"/>
          </p:cNvPicPr>
          <p:nvPr/>
        </p:nvPicPr>
        <p:blipFill>
          <a:blip r:embed="rId2" cstate="print">
            <a:clrChange>
              <a:clrFrom>
                <a:srgbClr val="000000">
                  <a:alpha val="0"/>
                </a:srgbClr>
              </a:clrFrom>
              <a:clrTo>
                <a:srgbClr val="000000">
                  <a:alpha val="0"/>
                </a:srgbClr>
              </a:clrTo>
            </a:clrChange>
            <a:lum bright="-14000"/>
          </a:blip>
          <a:stretch>
            <a:fillRect/>
          </a:stretch>
        </p:blipFill>
        <p:spPr>
          <a:xfrm>
            <a:off x="0" y="1618488"/>
            <a:ext cx="9144000" cy="932688"/>
          </a:xfrm>
          <a:prstGeom prst="rect">
            <a:avLst/>
          </a:prstGeom>
        </p:spPr>
      </p:pic>
      <p:sp>
        <p:nvSpPr>
          <p:cNvPr id="11" name="Content Placeholder 10"/>
          <p:cNvSpPr>
            <a:spLocks noGrp="1"/>
          </p:cNvSpPr>
          <p:nvPr>
            <p:ph sz="quarter" idx="13"/>
          </p:nvPr>
        </p:nvSpPr>
        <p:spPr>
          <a:xfrm>
            <a:off x="1371600" y="2819400"/>
            <a:ext cx="3124200"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48200" y="2819400"/>
            <a:ext cx="3124200"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371600" y="2362201"/>
            <a:ext cx="3125788" cy="451338"/>
          </a:xfrm>
        </p:spPr>
        <p:txBody>
          <a:bodyPr anchor="b"/>
          <a:lstStyle>
            <a:lvl1pPr marL="0" indent="0" algn="ctr">
              <a:buNone/>
              <a:defRPr sz="18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645025" y="2359152"/>
            <a:ext cx="3127375" cy="448056"/>
          </a:xfrm>
        </p:spPr>
        <p:txBody>
          <a:bodyPr anchor="b"/>
          <a:lstStyle>
            <a:lvl1pPr marL="0" indent="0" algn="ctr">
              <a:buNone/>
              <a:defRPr sz="18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pic>
        <p:nvPicPr>
          <p:cNvPr id="7" name="Picture 6" descr="flourish2.png"/>
          <p:cNvPicPr>
            <a:picLocks noChangeAspect="1"/>
          </p:cNvPicPr>
          <p:nvPr/>
        </p:nvPicPr>
        <p:blipFill>
          <a:blip r:embed="rId2" cstate="print">
            <a:duotone>
              <a:prstClr val="black"/>
              <a:schemeClr val="tx2">
                <a:tint val="45000"/>
                <a:satMod val="400000"/>
              </a:schemeClr>
            </a:duotone>
            <a:lum bright="-14000"/>
          </a:blip>
          <a:stretch>
            <a:fillRect/>
          </a:stretch>
        </p:blipFill>
        <p:spPr>
          <a:xfrm>
            <a:off x="0" y="1618488"/>
            <a:ext cx="9144000" cy="932688"/>
          </a:xfrm>
          <a:prstGeom prst="rect">
            <a:avLst/>
          </a:prstGeom>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1" y="1676400"/>
            <a:ext cx="2819399" cy="599440"/>
          </a:xfrm>
        </p:spPr>
        <p:txBody>
          <a:bodyPr anchor="b">
            <a:noAutofit/>
          </a:bodyPr>
          <a:lstStyle>
            <a:lvl1pPr algn="ctr">
              <a:defRPr sz="1700" b="1" cap="all" spc="0" baseline="0"/>
            </a:lvl1pPr>
          </a:lstStyle>
          <a:p>
            <a:r>
              <a:rPr lang="en-US"/>
              <a:t>Click to edit Master title style</a:t>
            </a:r>
            <a:endParaRPr lang="en-US" dirty="0"/>
          </a:p>
        </p:txBody>
      </p:sp>
      <p:sp>
        <p:nvSpPr>
          <p:cNvPr id="4" name="Text Placeholder 3"/>
          <p:cNvSpPr>
            <a:spLocks noGrp="1"/>
          </p:cNvSpPr>
          <p:nvPr>
            <p:ph type="body" sz="half" idx="2"/>
          </p:nvPr>
        </p:nvSpPr>
        <p:spPr>
          <a:xfrm>
            <a:off x="4953001" y="2275840"/>
            <a:ext cx="2819399" cy="2905760"/>
          </a:xfrm>
        </p:spPr>
        <p:txBody>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
        <p:nvSpPr>
          <p:cNvPr id="9" name="Content Placeholder 8"/>
          <p:cNvSpPr>
            <a:spLocks noGrp="1"/>
          </p:cNvSpPr>
          <p:nvPr>
            <p:ph sz="quarter" idx="13"/>
          </p:nvPr>
        </p:nvSpPr>
        <p:spPr>
          <a:xfrm>
            <a:off x="1371600" y="1676400"/>
            <a:ext cx="32766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Plaque 9"/>
          <p:cNvSpPr/>
          <p:nvPr/>
        </p:nvSpPr>
        <p:spPr>
          <a:xfrm>
            <a:off x="1463040" y="1847088"/>
            <a:ext cx="3090672" cy="3090672"/>
          </a:xfrm>
          <a:prstGeom prst="plaque">
            <a:avLst>
              <a:gd name="adj" fmla="val 8438"/>
            </a:avLst>
          </a:prstGeom>
          <a:noFill/>
          <a:ln w="9525">
            <a:solidFill>
              <a:schemeClr val="tx2">
                <a:alpha val="17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53000" y="1676400"/>
            <a:ext cx="2819400" cy="599440"/>
          </a:xfrm>
        </p:spPr>
        <p:txBody>
          <a:bodyPr anchor="b">
            <a:noAutofit/>
          </a:bodyPr>
          <a:lstStyle>
            <a:lvl1pPr algn="ctr">
              <a:defRPr sz="1700" b="1" cap="all" spc="0" baseline="0"/>
            </a:lvl1pPr>
          </a:lstStyle>
          <a:p>
            <a:r>
              <a:rPr lang="en-US"/>
              <a:t>Click to edit Master title style</a:t>
            </a:r>
            <a:endParaRPr lang="en-US" dirty="0"/>
          </a:p>
        </p:txBody>
      </p:sp>
      <p:sp>
        <p:nvSpPr>
          <p:cNvPr id="3" name="Picture Placeholder 2"/>
          <p:cNvSpPr>
            <a:spLocks noGrp="1"/>
          </p:cNvSpPr>
          <p:nvPr>
            <p:ph type="pic" idx="1"/>
          </p:nvPr>
        </p:nvSpPr>
        <p:spPr>
          <a:xfrm>
            <a:off x="1524000" y="1905000"/>
            <a:ext cx="2971800" cy="2971800"/>
          </a:xfrm>
          <a:prstGeom prst="plaque">
            <a:avLst>
              <a:gd name="adj" fmla="val 8341"/>
            </a:avLst>
          </a:prstGeom>
          <a:solidFill>
            <a:schemeClr val="bg1">
              <a:lumMod val="95000"/>
              <a:alpha val="35000"/>
            </a:schemeClr>
          </a:solidFill>
          <a:ln w="98425" cmpd="thinThick">
            <a:noFill/>
            <a:bevel/>
          </a:ln>
        </p:spPr>
        <p:txBody>
          <a:bodyPr>
            <a:normAutofit/>
          </a:bodyPr>
          <a:lstStyle>
            <a:lvl1pPr marL="0" indent="0" algn="ctr">
              <a:buNone/>
              <a:defRPr sz="1800" baseline="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953000" y="2276856"/>
            <a:ext cx="2819400" cy="2875280"/>
          </a:xfrm>
        </p:spPr>
        <p:txBody>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09041"/>
            <a:ext cx="1295400" cy="4318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400" y="1219199"/>
            <a:ext cx="5181600" cy="42672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solidFill>
                <a:prstClr val="black">
                  <a:tint val="75000"/>
                </a:prstClr>
              </a:solidFill>
            </a:endParaRPr>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a:t>Click to edit Master title style</a:t>
            </a:r>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US">
              <a:solidFill>
                <a:prstClr val="black">
                  <a:tint val="75000"/>
                </a:prstClr>
              </a:solidFill>
            </a:endParaRPr>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a:t>Click to edit Master title style</a:t>
            </a:r>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6733952" y="6555112"/>
            <a:ext cx="588336" cy="228600"/>
          </a:xfrm>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a:t>Click to edit Master title style</a:t>
            </a:r>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p>
            <a:r>
              <a:rPr kumimoji="0" lang="en-US"/>
              <a:t>Click to edit Master title style</a:t>
            </a:r>
          </a:p>
        </p:txBody>
      </p:sp>
      <p:sp>
        <p:nvSpPr>
          <p:cNvPr id="3" name="Vertical Text Placeholder 2"/>
          <p:cNvSpPr>
            <a:spLocks noGrp="1"/>
          </p:cNvSpPr>
          <p:nvPr>
            <p:ph type="body" orient="vert" idx="1"/>
          </p:nvPr>
        </p:nvSpPr>
        <p:spPr>
          <a:xfrm>
            <a:off x="457200" y="274642"/>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a:xfrm>
            <a:off x="457200" y="6556248"/>
            <a:ext cx="3657600" cy="228600"/>
          </a:xfr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a:endParaRPr lang="en-US">
                <a:solidFill>
                  <a:prstClr val="white"/>
                </a:solidFill>
              </a:endParaRPr>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4/20/2024</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solidFill>
                <a:srgbClr val="2DA2BF">
                  <a:tint val="20000"/>
                </a:srgbClr>
              </a:solidFill>
            </a:endParaRPr>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extLst>
      <p:ext uri="{BB962C8B-B14F-4D97-AF65-F5344CB8AC3E}">
        <p14:creationId xmlns:p14="http://schemas.microsoft.com/office/powerpoint/2010/main" val="216161413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solidFill>
              </a:rPr>
              <a:pPr/>
              <a:t>4/20/2024</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solidFill>
              </a:rPr>
              <a:pPr/>
              <a:t>‹#›</a:t>
            </a:fld>
            <a:endParaRPr lang="en-US">
              <a:solidFill>
                <a:prstClr val="black"/>
              </a:solidFill>
            </a:endParaRPr>
          </a:p>
        </p:txBody>
      </p:sp>
      <p:sp>
        <p:nvSpPr>
          <p:cNvPr id="7" name="Title 6"/>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108584409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white"/>
                </a:solidFill>
              </a:rPr>
              <a:pPr/>
              <a:t>4/20/2024</a:t>
            </a:fld>
            <a:endParaRPr lang="en-US">
              <a:solidFill>
                <a:prstClr val="white"/>
              </a:solidFill>
            </a:endParaRPr>
          </a:p>
        </p:txBody>
      </p:sp>
      <p:sp>
        <p:nvSpPr>
          <p:cNvPr id="5" name="Footer Placeholder 4"/>
          <p:cNvSpPr>
            <a:spLocks noGrp="1"/>
          </p:cNvSpPr>
          <p:nvPr>
            <p:ph type="ftr" sz="quarter" idx="11"/>
          </p:nvPr>
        </p:nvSpPr>
        <p:spPr/>
        <p:txBody>
          <a:bodyPr/>
          <a:lstStyle/>
          <a:p>
            <a:endParaRPr lang="en-US">
              <a:solidFill>
                <a:prstClr val="white"/>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white"/>
                </a:solidFill>
              </a:rPr>
              <a:pPr/>
              <a:t>‹#›</a:t>
            </a:fld>
            <a:endParaRPr lang="en-US">
              <a:solidFill>
                <a:prstClr val="white"/>
              </a:solidFill>
            </a:endParaRPr>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lang="en-US">
              <a:solidFill>
                <a:prstClr val="white"/>
              </a:solidFill>
            </a:endParaRPr>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lang="en-US">
              <a:solidFill>
                <a:prstClr val="white"/>
              </a:solidFill>
            </a:endParaRPr>
          </a:p>
        </p:txBody>
      </p:sp>
    </p:spTree>
    <p:extLst>
      <p:ext uri="{BB962C8B-B14F-4D97-AF65-F5344CB8AC3E}">
        <p14:creationId xmlns:p14="http://schemas.microsoft.com/office/powerpoint/2010/main" val="3304850276"/>
      </p:ext>
    </p:extLst>
  </p:cSld>
  <p:clrMapOvr>
    <a:overrideClrMapping bg1="dk1" tx1="lt1" bg2="dk2" tx2="lt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white"/>
                </a:solidFill>
              </a:rPr>
              <a:pPr/>
              <a:t>4/20/2024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white"/>
                </a:solidFill>
              </a:rPr>
              <a:pPr/>
              <a:t>‹#›</a:t>
            </a:fld>
            <a:endParaRPr lang="en-US">
              <a:solidFill>
                <a:prstClr val="white"/>
              </a:solidFill>
            </a:endParaRPr>
          </a:p>
        </p:txBody>
      </p:sp>
      <p:sp>
        <p:nvSpPr>
          <p:cNvPr id="8" name="Title 7"/>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3285985443"/>
      </p:ext>
    </p:extLst>
  </p:cSld>
  <p:clrMapOvr>
    <a:overrideClrMapping bg1="dk1" tx1="lt1" bg2="dk2" tx2="lt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solidFill>
              </a:rPr>
              <a:pPr/>
              <a:t>4/20/2024</a:t>
            </a:fld>
            <a:endParaRPr lang="en-US">
              <a:solidFill>
                <a:prstClr val="black"/>
              </a:solidFill>
            </a:endParaRPr>
          </a:p>
        </p:txBody>
      </p:sp>
      <p:sp>
        <p:nvSpPr>
          <p:cNvPr id="8" name="Footer Placeholder 7"/>
          <p:cNvSpPr>
            <a:spLocks noGrp="1"/>
          </p:cNvSpPr>
          <p:nvPr>
            <p:ph type="ftr" sz="quarter" idx="11"/>
          </p:nvPr>
        </p:nvSpPr>
        <p:spPr/>
        <p:txBody>
          <a:bodyPr/>
          <a:lstStyle/>
          <a:p>
            <a:endParaRPr lang="en-US">
              <a:solidFill>
                <a:prstClr val="black"/>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986861757"/>
      </p:ext>
    </p:extLst>
  </p:cSld>
  <p:clrMapOvr>
    <a:overrideClrMapping bg1="lt1" tx1="dk1" bg2="lt2" tx2="dk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solidFill>
                  <a:prstClr val="white"/>
                </a:solidFill>
              </a:rPr>
              <a:pPr/>
              <a:t>4/20/2024</a:t>
            </a:fld>
            <a:endParaRPr lang="en-US">
              <a:solidFill>
                <a:prstClr val="white"/>
              </a:solidFill>
            </a:endParaRPr>
          </a:p>
        </p:txBody>
      </p:sp>
      <p:sp>
        <p:nvSpPr>
          <p:cNvPr id="4" name="Footer Placeholder 3"/>
          <p:cNvSpPr>
            <a:spLocks noGrp="1"/>
          </p:cNvSpPr>
          <p:nvPr>
            <p:ph type="ftr" sz="quarter" idx="11"/>
          </p:nvPr>
        </p:nvSpPr>
        <p:spPr/>
        <p:txBody>
          <a:bodyPr/>
          <a:lstStyle/>
          <a:p>
            <a:endParaRPr lang="en-US">
              <a:solidFill>
                <a:prstClr val="white"/>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white"/>
                </a:solidFill>
              </a:rPr>
              <a:pPr/>
              <a:t>‹#›</a:t>
            </a:fld>
            <a:endParaRPr lang="en-US">
              <a:solidFill>
                <a:prstClr val="white"/>
              </a:solidFill>
            </a:endParaRPr>
          </a:p>
        </p:txBody>
      </p:sp>
      <p:sp>
        <p:nvSpPr>
          <p:cNvPr id="6" name="Title 5"/>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1725114723"/>
      </p:ext>
    </p:extLst>
  </p:cSld>
  <p:clrMapOvr>
    <a:overrideClrMapping bg1="dk1" tx1="lt1" bg2="dk2" tx2="lt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solidFill>
              </a:rPr>
              <a:pPr/>
              <a:t>4/20/2024</a:t>
            </a:fld>
            <a:endParaRPr lang="en-US">
              <a:solidFill>
                <a:prstClr val="black"/>
              </a:solidFill>
            </a:endParaRPr>
          </a:p>
        </p:txBody>
      </p:sp>
      <p:sp>
        <p:nvSpPr>
          <p:cNvPr id="3" name="Footer Placeholder 2"/>
          <p:cNvSpPr>
            <a:spLocks noGrp="1"/>
          </p:cNvSpPr>
          <p:nvPr>
            <p:ph type="ftr" sz="quarter" idx="11"/>
          </p:nvPr>
        </p:nvSpPr>
        <p:spPr/>
        <p:txBody>
          <a:bodyPr/>
          <a:lstStyle/>
          <a:p>
            <a:endParaRPr lang="en-US">
              <a:solidFill>
                <a:prstClr val="black"/>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49565943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1D8BD707-D9CF-40AE-B4C6-C98DA3205C09}" type="datetimeFigureOut">
              <a:rPr lang="en-US" smtClean="0">
                <a:solidFill>
                  <a:prstClr val="black"/>
                </a:solidFill>
              </a:rPr>
              <a:pPr/>
              <a:t>4/20/2024</a:t>
            </a:fld>
            <a:endParaRPr lang="en-US">
              <a:solidFill>
                <a:prstClr val="black"/>
              </a:solidFill>
            </a:endParaRPr>
          </a:p>
        </p:txBody>
      </p:sp>
      <p:sp>
        <p:nvSpPr>
          <p:cNvPr id="6" name="Footer Placeholder 5"/>
          <p:cNvSpPr>
            <a:spLocks noGrp="1"/>
          </p:cNvSpPr>
          <p:nvPr>
            <p:ph type="ftr" sz="quarter" idx="11"/>
          </p:nvPr>
        </p:nvSpPr>
        <p:spPr/>
        <p:txBody>
          <a:bodyPr/>
          <a:lstStyle/>
          <a:p>
            <a:endParaRPr lang="en-US">
              <a:solidFill>
                <a:prstClr val="black"/>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635472972"/>
      </p:ext>
    </p:extLst>
  </p:cSld>
  <p:clrMapOvr>
    <a:overrideClrMapping bg1="lt1" tx1="dk1" bg2="lt2" tx2="dk2" accent1="accent1" accent2="accent2" accent3="accent3" accent4="accent4" accent5="accent5" accent6="accent6" hlink="hlink" folHlink="folHlink"/>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solidFill>
                  <a:prstClr val="white"/>
                </a:solidFill>
              </a:rPr>
              <a:pPr/>
              <a:t>4/20/2024</a:t>
            </a:fld>
            <a:endParaRPr lang="en-US">
              <a:solidFill>
                <a:prstClr val="white"/>
              </a:solidFill>
            </a:endParaRPr>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solidFill>
                <a:prstClr val="white"/>
              </a:solidFill>
            </a:endParaRPr>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solidFill>
                  <a:prstClr val="white"/>
                </a:solidFill>
              </a:rPr>
              <a:pPr/>
              <a:t>‹#›</a:t>
            </a:fld>
            <a:endParaRPr lang="en-US">
              <a:solidFill>
                <a:prstClr val="white"/>
              </a:solidFill>
            </a:endParaRPr>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a:endParaRPr lang="en-US">
              <a:solidFill>
                <a:prstClr val="white"/>
              </a:solidFill>
            </a:endParaRPr>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lang="en-US">
              <a:solidFill>
                <a:prstClr val="white"/>
              </a:solidFill>
            </a:endParaRPr>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endParaRPr lang="en-US">
              <a:solidFill>
                <a:prstClr val="white"/>
              </a:solidFill>
            </a:endParaRPr>
          </a:p>
        </p:txBody>
      </p:sp>
    </p:spTree>
    <p:extLst>
      <p:ext uri="{BB962C8B-B14F-4D97-AF65-F5344CB8AC3E}">
        <p14:creationId xmlns:p14="http://schemas.microsoft.com/office/powerpoint/2010/main" val="3416574019"/>
      </p:ext>
    </p:extLst>
  </p:cSld>
  <p:clrMapOvr>
    <a:overrideClrMapping bg1="dk1" tx1="lt1" bg2="dk2" tx2="lt2" accent1="accent1" accent2="accent2" accent3="accent3" accent4="accent4" accent5="accent5" accent6="accent6" hlink="hlink" folHlink="folHlink"/>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solidFill>
              </a:rPr>
              <a:pPr/>
              <a:t>4/20/2024</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73000372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solidFill>
              </a:rPr>
              <a:pPr/>
              <a:t>4/20/2024</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81959708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4920183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6690359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8287985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22368244"/>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2013235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2323786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0264018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36974656"/>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3736048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7926068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528118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objAndTx">
  <p:cSld name="Başlık, İçerik ve Metin">
    <p:spTree>
      <p:nvGrpSpPr>
        <p:cNvPr id="1" name=""/>
        <p:cNvGrpSpPr/>
        <p:nvPr/>
      </p:nvGrpSpPr>
      <p:grpSpPr>
        <a:xfrm>
          <a:off x="0" y="0"/>
          <a:ext cx="0" cy="0"/>
          <a:chOff x="0" y="0"/>
          <a:chExt cx="0" cy="0"/>
        </a:xfrm>
      </p:grpSpPr>
      <p:sp>
        <p:nvSpPr>
          <p:cNvPr id="2" name="1 Başlık"/>
          <p:cNvSpPr>
            <a:spLocks noGrp="1"/>
          </p:cNvSpPr>
          <p:nvPr>
            <p:ph type="title"/>
          </p:nvPr>
        </p:nvSpPr>
        <p:spPr>
          <a:xfrm>
            <a:off x="457201" y="244477"/>
            <a:ext cx="8385175" cy="1431925"/>
          </a:xfrm>
        </p:spPr>
        <p:txBody>
          <a:bodyPr/>
          <a:lstStyle/>
          <a:p>
            <a:r>
              <a:rPr lang="tr-TR"/>
              <a:t>Asıl başlık stili için tıklatın</a:t>
            </a:r>
          </a:p>
        </p:txBody>
      </p:sp>
      <p:sp>
        <p:nvSpPr>
          <p:cNvPr id="3" name="2 İçerik Yer Tutucusu"/>
          <p:cNvSpPr>
            <a:spLocks noGrp="1"/>
          </p:cNvSpPr>
          <p:nvPr>
            <p:ph sz="half" idx="1"/>
          </p:nvPr>
        </p:nvSpPr>
        <p:spPr>
          <a:xfrm>
            <a:off x="838201" y="1905000"/>
            <a:ext cx="3927475" cy="4191000"/>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4918076" y="1905000"/>
            <a:ext cx="3927475" cy="4191000"/>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Rectangle 11"/>
          <p:cNvSpPr>
            <a:spLocks noGrp="1" noChangeArrowheads="1"/>
          </p:cNvSpPr>
          <p:nvPr>
            <p:ph type="dt" sz="half" idx="10"/>
          </p:nvPr>
        </p:nvSpPr>
        <p:spPr>
          <a:ln/>
        </p:spPr>
        <p:txBody>
          <a:bodyPr/>
          <a:lstStyle>
            <a:lvl1pPr>
              <a:defRPr/>
            </a:lvl1pPr>
          </a:lstStyle>
          <a:p>
            <a:pPr>
              <a:defRPr/>
            </a:pPr>
            <a:endParaRPr lang="tr-TR">
              <a:solidFill>
                <a:prstClr val="black">
                  <a:tint val="75000"/>
                </a:prstClr>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tr-TR">
              <a:solidFill>
                <a:prstClr val="black">
                  <a:tint val="75000"/>
                </a:prstClr>
              </a:solidFill>
            </a:endParaRPr>
          </a:p>
        </p:txBody>
      </p:sp>
      <p:sp>
        <p:nvSpPr>
          <p:cNvPr id="7" name="Rectangle 13"/>
          <p:cNvSpPr>
            <a:spLocks noGrp="1" noChangeArrowheads="1"/>
          </p:cNvSpPr>
          <p:nvPr>
            <p:ph type="sldNum" sz="quarter" idx="12"/>
          </p:nvPr>
        </p:nvSpPr>
        <p:spPr>
          <a:ln/>
        </p:spPr>
        <p:txBody>
          <a:bodyPr/>
          <a:lstStyle>
            <a:lvl1pPr>
              <a:defRPr/>
            </a:lvl1pPr>
          </a:lstStyle>
          <a:p>
            <a:pPr>
              <a:defRPr/>
            </a:pPr>
            <a:fld id="{C22C10F7-E207-43CD-900B-562F5F33131C}" type="slidenum">
              <a:rPr lang="tr-TR">
                <a:solidFill>
                  <a:prstClr val="black">
                    <a:tint val="75000"/>
                  </a:prstClr>
                </a:solidFill>
              </a:rPr>
              <a:pPr>
                <a:defRPr/>
              </a:pPr>
              <a:t>‹#›</a:t>
            </a:fld>
            <a:endParaRPr lang="tr-TR">
              <a:solidFill>
                <a:prstClr val="black">
                  <a:tint val="75000"/>
                </a:prstClr>
              </a:solidFill>
            </a:endParaRPr>
          </a:p>
        </p:txBody>
      </p:sp>
    </p:spTree>
    <p:extLst>
      <p:ext uri="{BB962C8B-B14F-4D97-AF65-F5344CB8AC3E}">
        <p14:creationId xmlns:p14="http://schemas.microsoft.com/office/powerpoint/2010/main" val="921430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theme" Target="../theme/theme3.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4.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image" Target="../media/image5.png"/><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theme" Target="../theme/theme5.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image" Target="../media/image7.jpeg"/><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theme" Target="../theme/theme6.xml"/><Relationship Id="rId2" Type="http://schemas.openxmlformats.org/officeDocument/2006/relationships/slideLayout" Target="../slideLayouts/slideLayout63.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0" Type="http://schemas.openxmlformats.org/officeDocument/2006/relationships/slideLayout" Target="../slideLayouts/slideLayout71.xml"/><Relationship Id="rId4" Type="http://schemas.openxmlformats.org/officeDocument/2006/relationships/slideLayout" Target="../slideLayouts/slideLayout65.xml"/><Relationship Id="rId9" Type="http://schemas.openxmlformats.org/officeDocument/2006/relationships/slideLayout" Target="../slideLayouts/slideLayout70.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image" Target="../media/image8.jpeg"/><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theme" Target="../theme/theme7.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1.xml"/><Relationship Id="rId13" Type="http://schemas.openxmlformats.org/officeDocument/2006/relationships/image" Target="../media/image7.jpeg"/><Relationship Id="rId3" Type="http://schemas.openxmlformats.org/officeDocument/2006/relationships/slideLayout" Target="../slideLayouts/slideLayout86.xml"/><Relationship Id="rId7" Type="http://schemas.openxmlformats.org/officeDocument/2006/relationships/slideLayout" Target="../slideLayouts/slideLayout90.xml"/><Relationship Id="rId12" Type="http://schemas.openxmlformats.org/officeDocument/2006/relationships/theme" Target="../theme/theme8.xml"/><Relationship Id="rId2" Type="http://schemas.openxmlformats.org/officeDocument/2006/relationships/slideLayout" Target="../slideLayouts/slideLayout85.xml"/><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5" Type="http://schemas.openxmlformats.org/officeDocument/2006/relationships/slideLayout" Target="../slideLayouts/slideLayout88.xml"/><Relationship Id="rId10" Type="http://schemas.openxmlformats.org/officeDocument/2006/relationships/slideLayout" Target="../slideLayouts/slideLayout93.xml"/><Relationship Id="rId4" Type="http://schemas.openxmlformats.org/officeDocument/2006/relationships/slideLayout" Target="../slideLayouts/slideLayout87.xml"/><Relationship Id="rId9" Type="http://schemas.openxmlformats.org/officeDocument/2006/relationships/slideLayout" Target="../slideLayouts/slideLayout92.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2.xml"/><Relationship Id="rId13" Type="http://schemas.openxmlformats.org/officeDocument/2006/relationships/theme" Target="../theme/theme9.xml"/><Relationship Id="rId3" Type="http://schemas.openxmlformats.org/officeDocument/2006/relationships/slideLayout" Target="../slideLayouts/slideLayout97.xml"/><Relationship Id="rId7" Type="http://schemas.openxmlformats.org/officeDocument/2006/relationships/slideLayout" Target="../slideLayouts/slideLayout101.xml"/><Relationship Id="rId12" Type="http://schemas.openxmlformats.org/officeDocument/2006/relationships/slideLayout" Target="../slideLayouts/slideLayout106.xml"/><Relationship Id="rId2" Type="http://schemas.openxmlformats.org/officeDocument/2006/relationships/slideLayout" Target="../slideLayouts/slideLayout96.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5" Type="http://schemas.openxmlformats.org/officeDocument/2006/relationships/slideLayout" Target="../slideLayouts/slideLayout99.xml"/><Relationship Id="rId10" Type="http://schemas.openxmlformats.org/officeDocument/2006/relationships/slideLayout" Target="../slideLayouts/slideLayout104.xml"/><Relationship Id="rId4" Type="http://schemas.openxmlformats.org/officeDocument/2006/relationships/slideLayout" Target="../slideLayouts/slideLayout98.xml"/><Relationship Id="rId9" Type="http://schemas.openxmlformats.org/officeDocument/2006/relationships/slideLayout" Target="../slideLayouts/slideLayout10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144300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72" r:id="rId12"/>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solidFill>
                <a:prstClr val="black">
                  <a:tint val="75000"/>
                </a:prstClr>
              </a:solidFill>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73" r:id="rId12"/>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a:solidFill>
                <a:prstClr val="black">
                  <a:tint val="75000"/>
                </a:prstClr>
              </a:solidFill>
            </a:endParaRPr>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window3.png"/>
          <p:cNvPicPr>
            <a:picLocks noChangeAspect="1"/>
          </p:cNvPicPr>
          <p:nvPr/>
        </p:nvPicPr>
        <p:blipFill>
          <a:blip r:embed="rId13" cstate="print"/>
          <a:stretch>
            <a:fillRect/>
          </a:stretch>
        </p:blipFill>
        <p:spPr>
          <a:xfrm>
            <a:off x="0" y="0"/>
            <a:ext cx="9144000" cy="6858000"/>
          </a:xfrm>
          <a:prstGeom prst="rect">
            <a:avLst/>
          </a:prstGeom>
        </p:spPr>
      </p:pic>
      <p:sp>
        <p:nvSpPr>
          <p:cNvPr id="2" name="Title Placeholder 1"/>
          <p:cNvSpPr>
            <a:spLocks noGrp="1"/>
          </p:cNvSpPr>
          <p:nvPr>
            <p:ph type="title"/>
          </p:nvPr>
        </p:nvSpPr>
        <p:spPr>
          <a:xfrm>
            <a:off x="1371600" y="1295400"/>
            <a:ext cx="6400800" cy="68580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057400"/>
            <a:ext cx="6400800" cy="3429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bwMode="white">
          <a:xfrm>
            <a:off x="304800" y="6356350"/>
            <a:ext cx="2133600" cy="365125"/>
          </a:xfrm>
          <a:prstGeom prst="rect">
            <a:avLst/>
          </a:prstGeom>
          <a:ln>
            <a:noFill/>
          </a:ln>
        </p:spPr>
        <p:txBody>
          <a:bodyPr vert="horz" lIns="91440" tIns="45720" rIns="91440" bIns="45720" rtlCol="0" anchor="ctr"/>
          <a:lstStyle>
            <a:lvl1pPr algn="l">
              <a:defRPr sz="1100" baseline="0">
                <a:solidFill>
                  <a:schemeClr val="accent1">
                    <a:lumMod val="60000"/>
                    <a:lumOff val="40000"/>
                  </a:schemeClr>
                </a:solidFill>
              </a:defRPr>
            </a:lvl1p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3"/>
          </p:nvPr>
        </p:nvSpPr>
        <p:spPr bwMode="white">
          <a:xfrm>
            <a:off x="2971800" y="6356350"/>
            <a:ext cx="3200400" cy="365125"/>
          </a:xfrm>
          <a:prstGeom prst="rect">
            <a:avLst/>
          </a:prstGeom>
        </p:spPr>
        <p:txBody>
          <a:bodyPr vert="horz" lIns="91440" tIns="45720" rIns="91440" bIns="45720" rtlCol="0" anchor="ctr"/>
          <a:lstStyle>
            <a:lvl1pPr algn="ctr">
              <a:defRPr sz="1100" baseline="0">
                <a:solidFill>
                  <a:schemeClr val="accent1">
                    <a:lumMod val="60000"/>
                    <a:lumOff val="40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bwMode="white">
          <a:xfrm>
            <a:off x="6675120" y="6364224"/>
            <a:ext cx="2133600" cy="365125"/>
          </a:xfrm>
          <a:prstGeom prst="rect">
            <a:avLst/>
          </a:prstGeom>
        </p:spPr>
        <p:txBody>
          <a:bodyPr vert="horz" lIns="91440" tIns="45720" rIns="91440" bIns="45720" rtlCol="0" anchor="ctr"/>
          <a:lstStyle>
            <a:lvl1pPr algn="r">
              <a:defRPr sz="1200" b="1" baseline="0">
                <a:solidFill>
                  <a:schemeClr val="accent1">
                    <a:lumMod val="60000"/>
                    <a:lumOff val="40000"/>
                  </a:schemeClr>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Lst>
  <p:txStyles>
    <p:titleStyle>
      <a:lvl1pPr algn="ctr" defTabSz="914400" rtl="0" eaLnBrk="1" latinLnBrk="0" hangingPunct="1">
        <a:spcBef>
          <a:spcPct val="0"/>
        </a:spcBef>
        <a:buNone/>
        <a:defRPr sz="3600" kern="1200" cap="all" spc="30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274320" algn="l" defTabSz="914400" rtl="0" eaLnBrk="1" latinLnBrk="0" hangingPunct="1">
        <a:lnSpc>
          <a:spcPct val="150000"/>
        </a:lnSpc>
        <a:spcBef>
          <a:spcPct val="20000"/>
        </a:spcBef>
        <a:buClrTx/>
        <a:buFont typeface="Wingdings" pitchFamily="2" charset="2"/>
        <a:buChar char="v"/>
        <a:defRPr sz="1800" kern="1200" baseline="0">
          <a:solidFill>
            <a:schemeClr val="tx1"/>
          </a:solidFill>
          <a:latin typeface="+mn-lt"/>
          <a:ea typeface="+mn-ea"/>
          <a:cs typeface="+mn-cs"/>
        </a:defRPr>
      </a:lvl1pPr>
      <a:lvl2pPr marL="742950" indent="-228600" algn="l" defTabSz="914400" rtl="0" eaLnBrk="1" latinLnBrk="0" hangingPunct="1">
        <a:spcBef>
          <a:spcPct val="20000"/>
        </a:spcBef>
        <a:buClrTx/>
        <a:buFont typeface="Arial" pitchFamily="34" charset="0"/>
        <a:buChar char="•"/>
        <a:defRPr sz="1600" kern="1200" baseline="0">
          <a:solidFill>
            <a:schemeClr val="tx1"/>
          </a:solidFill>
          <a:latin typeface="+mn-lt"/>
          <a:ea typeface="+mn-ea"/>
          <a:cs typeface="+mn-cs"/>
        </a:defRPr>
      </a:lvl2pPr>
      <a:lvl3pPr marL="1143000" indent="-228600" algn="l" defTabSz="914400" rtl="0" eaLnBrk="1" latinLnBrk="0" hangingPunct="1">
        <a:spcBef>
          <a:spcPct val="20000"/>
        </a:spcBef>
        <a:buClrTx/>
        <a:buFont typeface="Arial" pitchFamily="34" charset="0"/>
        <a:buChar char="•"/>
        <a:defRPr sz="1400" kern="1200" baseline="0">
          <a:solidFill>
            <a:schemeClr val="tx1"/>
          </a:solidFill>
          <a:latin typeface="+mn-lt"/>
          <a:ea typeface="+mn-ea"/>
          <a:cs typeface="+mn-cs"/>
        </a:defRPr>
      </a:lvl3pPr>
      <a:lvl4pPr marL="1600200" indent="-228600" algn="l" defTabSz="914400" rtl="0" eaLnBrk="1" latinLnBrk="0" hangingPunct="1">
        <a:spcBef>
          <a:spcPct val="20000"/>
        </a:spcBef>
        <a:buClrTx/>
        <a:buFont typeface="Arial" pitchFamily="34" charset="0"/>
        <a:buChar char="•"/>
        <a:defRPr sz="1400" kern="1200" baseline="0">
          <a:solidFill>
            <a:schemeClr val="tx1"/>
          </a:solidFill>
          <a:latin typeface="+mn-lt"/>
          <a:ea typeface="+mn-ea"/>
          <a:cs typeface="+mn-cs"/>
        </a:defRPr>
      </a:lvl4pPr>
      <a:lvl5pPr marL="2057400" indent="-228600" algn="l" defTabSz="914400" rtl="0" eaLnBrk="1" latinLnBrk="0" hangingPunct="1">
        <a:spcBef>
          <a:spcPct val="20000"/>
        </a:spcBef>
        <a:buClrTx/>
        <a:buFont typeface="Arial" pitchFamily="34" charset="0"/>
        <a:buChar char="•"/>
        <a:defRPr sz="1400" kern="1200" baseline="0">
          <a:solidFill>
            <a:schemeClr val="tx1"/>
          </a:solidFill>
          <a:latin typeface="+mn-lt"/>
          <a:ea typeface="+mn-ea"/>
          <a:cs typeface="+mn-cs"/>
        </a:defRPr>
      </a:lvl5pPr>
      <a:lvl6pPr marL="2514600" indent="-228600" algn="l" defTabSz="914400" rtl="0" eaLnBrk="1" latinLnBrk="0" hangingPunct="1">
        <a:spcBef>
          <a:spcPct val="20000"/>
        </a:spcBef>
        <a:buClrTx/>
        <a:buFont typeface="Arial"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ct val="20000"/>
        </a:spcBef>
        <a:buClrTx/>
        <a:buFont typeface="Arial" pitchFamily="34" charset="0"/>
        <a:buChar char="•"/>
        <a:defRPr sz="1200" kern="1200">
          <a:solidFill>
            <a:schemeClr val="tx1"/>
          </a:solidFill>
          <a:latin typeface="+mn-lt"/>
          <a:ea typeface="+mn-ea"/>
          <a:cs typeface="+mn-cs"/>
        </a:defRPr>
      </a:lvl7pPr>
      <a:lvl8pPr marL="3429000" indent="-228600" algn="l" defTabSz="914400" rtl="0" eaLnBrk="1" latinLnBrk="0" hangingPunct="1">
        <a:spcBef>
          <a:spcPct val="20000"/>
        </a:spcBef>
        <a:buClrTx/>
        <a:buFont typeface="Arial" pitchFamily="34" charset="0"/>
        <a:buChar char="•"/>
        <a:defRPr sz="1200" kern="1200" baseline="0">
          <a:solidFill>
            <a:schemeClr val="tx1"/>
          </a:solidFill>
          <a:latin typeface="+mn-lt"/>
          <a:ea typeface="+mn-ea"/>
          <a:cs typeface="+mn-cs"/>
        </a:defRPr>
      </a:lvl8pPr>
      <a:lvl9pPr marL="3886200" indent="-228600" algn="l" defTabSz="914400" rtl="0" eaLnBrk="1" latinLnBrk="0" hangingPunct="1">
        <a:spcBef>
          <a:spcPct val="20000"/>
        </a:spcBef>
        <a:buClrTx/>
        <a:buFont typeface="Arial"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solidFill>
                <a:prstClr val="black">
                  <a:tint val="75000"/>
                </a:prstClr>
              </a:solidFill>
            </a:endParaRPr>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p>
            <a:r>
              <a:rPr kumimoji="0" lang="en-US"/>
              <a:t>Click to edit Master title style</a:t>
            </a:r>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solidFill>
                <a:prstClr val="black">
                  <a:tint val="75000"/>
                </a:prstClr>
              </a:solidFill>
            </a:endParaRPr>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a:endParaRPr lang="en-US">
              <a:solidFill>
                <a:prstClr val="white"/>
              </a:solidFill>
            </a:endParaRPr>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solidFill>
                  <a:prstClr val="black"/>
                </a:solidFill>
              </a:rPr>
              <a:pPr/>
              <a:t>4/20/2024</a:t>
            </a:fld>
            <a:endParaRPr lang="en-US">
              <a:solidFill>
                <a:prstClr val="black"/>
              </a:solidFill>
            </a:endParaRPr>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solidFill>
                <a:prstClr val="black"/>
              </a:solidFill>
            </a:endParaRPr>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428096852"/>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solidFill>
                  <a:prstClr val="black">
                    <a:tint val="75000"/>
                  </a:prstClr>
                </a:solidFill>
              </a:rPr>
              <a:pPr/>
              <a:t>4/20/2024</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61367830"/>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1.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96.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10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hyperlink" Target="../../../../../wiki/Hippolyte_Bernheim" TargetMode="External"/><Relationship Id="rId2" Type="http://schemas.openxmlformats.org/officeDocument/2006/relationships/image" Target="../media/image23.jpeg"/><Relationship Id="rId1" Type="http://schemas.openxmlformats.org/officeDocument/2006/relationships/slideLayout" Target="../slideLayouts/slideLayout4.xml"/><Relationship Id="rId6" Type="http://schemas.openxmlformats.org/officeDocument/2006/relationships/hyperlink" Target="../../../../../wiki/Autogenic_training" TargetMode="External"/><Relationship Id="rId5" Type="http://schemas.openxmlformats.org/officeDocument/2006/relationships/hyperlink" Target="../../../../../wiki/%C3%89mile_Cou%C3%A9" TargetMode="External"/><Relationship Id="rId4" Type="http://schemas.openxmlformats.org/officeDocument/2006/relationships/hyperlink" Target="../../../../../wiki/Ambroise-Auguste_Li%C3%A9bault" TargetMode="External"/></Relationships>
</file>

<file path=ppt/slides/_rels/slide6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hyperlink" Target="../../../../../wiki/Yale_University" TargetMode="External"/><Relationship Id="rId2" Type="http://schemas.openxmlformats.org/officeDocument/2006/relationships/hyperlink" Target="../../../../../wiki/Clark_Leonard_Hull" TargetMode="External"/><Relationship Id="rId1" Type="http://schemas.openxmlformats.org/officeDocument/2006/relationships/slideLayout" Target="../slideLayouts/slideLayout4.xml"/><Relationship Id="rId4" Type="http://schemas.openxmlformats.org/officeDocument/2006/relationships/image" Target="../media/image31.jpeg"/></Relationships>
</file>

<file path=ppt/slides/_rels/slide7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hyperlink" Target="../../../../../wiki/British_Medical_Association" TargetMode="Externa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3" Type="http://schemas.openxmlformats.org/officeDocument/2006/relationships/hyperlink" Target="../../../../../w/index.php?title=Andr%C3%A9_Weitzenhoffer&amp;action=edit" TargetMode="External"/><Relationship Id="rId2" Type="http://schemas.openxmlformats.org/officeDocument/2006/relationships/hyperlink" Target="../../../../../wiki/Ernest_Hilgard" TargetMode="External"/><Relationship Id="rId1" Type="http://schemas.openxmlformats.org/officeDocument/2006/relationships/slideLayout" Target="../slideLayouts/slideLayout14.xml"/><Relationship Id="rId5" Type="http://schemas.openxmlformats.org/officeDocument/2006/relationships/image" Target="../media/image37.jpeg"/><Relationship Id="rId4" Type="http://schemas.openxmlformats.org/officeDocument/2006/relationships/image" Target="../media/image36.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7.xml"/></Relationships>
</file>

<file path=ppt/slides/_rels/slide106.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7.xml"/></Relationships>
</file>

<file path=ppt/slides/_rels/slide10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7.xml"/></Relationships>
</file>

<file path=ppt/slides/_rels/slide108.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7.xml"/></Relationships>
</file>

<file path=ppt/slides/_rels/slide10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7.xml"/></Relationships>
</file>

<file path=ppt/slides/_rels/slide110.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7.xml"/></Relationships>
</file>

<file path=ppt/slides/_rels/slide11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7.xml"/></Relationships>
</file>

<file path=ppt/slides/_rels/slide11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0.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39.xml"/></Relationships>
</file>

<file path=ppt/slides/_rels/slide12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39.xml"/></Relationships>
</file>

<file path=ppt/slides/_rels/slide122.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39.xml"/></Relationships>
</file>

<file path=ppt/slides/_rels/slide123.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39.xml"/></Relationships>
</file>

<file path=ppt/slides/_rels/slide124.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39.xml"/></Relationships>
</file>

<file path=ppt/slides/_rels/slide125.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39.xml"/></Relationships>
</file>

<file path=ppt/slides/_rels/slide126.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39.xml"/></Relationships>
</file>

<file path=ppt/slides/_rels/slide127.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39.xml"/></Relationships>
</file>

<file path=ppt/slides/_rels/slide128.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39.xml"/></Relationships>
</file>

<file path=ppt/slides/_rels/slide129.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39.xml"/></Relationships>
</file>

<file path=ppt/slides/_rels/slide130.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39.xml"/></Relationships>
</file>

<file path=ppt/slides/_rels/slide131.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39.xml"/></Relationships>
</file>

<file path=ppt/slides/_rels/slide132.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39.xml"/></Relationships>
</file>

<file path=ppt/slides/_rels/slide133.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39.xml"/></Relationships>
</file>

<file path=ppt/slides/_rels/slide134.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39.xml"/></Relationships>
</file>

<file path=ppt/slides/_rels/slide135.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39.xml"/></Relationships>
</file>

<file path=ppt/slides/_rels/slide136.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63.gif"/><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64.gif"/><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36CC4F6-E5AA-87A0-4D48-32D0DF884C2A}"/>
              </a:ext>
            </a:extLst>
          </p:cNvPr>
          <p:cNvSpPr>
            <a:spLocks noGrp="1"/>
          </p:cNvSpPr>
          <p:nvPr>
            <p:ph type="ctrTitle"/>
          </p:nvPr>
        </p:nvSpPr>
        <p:spPr/>
        <p:txBody>
          <a:bodyPr>
            <a:noAutofit/>
          </a:bodyPr>
          <a:lstStyle/>
          <a:p>
            <a:r>
              <a:rPr lang="tr-TR" sz="6600" dirty="0"/>
              <a:t>TEMEL </a:t>
            </a:r>
            <a:br>
              <a:rPr lang="tr-TR" sz="6600" dirty="0"/>
            </a:br>
            <a:r>
              <a:rPr lang="tr-TR" sz="6600" dirty="0"/>
              <a:t>HİPNOZ EĞİTİMİ</a:t>
            </a:r>
          </a:p>
        </p:txBody>
      </p:sp>
      <p:sp>
        <p:nvSpPr>
          <p:cNvPr id="3" name="Alt Başlık 2">
            <a:extLst>
              <a:ext uri="{FF2B5EF4-FFF2-40B4-BE49-F238E27FC236}">
                <a16:creationId xmlns:a16="http://schemas.microsoft.com/office/drawing/2014/main" id="{2E8EB4A3-83B1-5340-37D3-5A9D0909484C}"/>
              </a:ext>
            </a:extLst>
          </p:cNvPr>
          <p:cNvSpPr>
            <a:spLocks noGrp="1"/>
          </p:cNvSpPr>
          <p:nvPr>
            <p:ph type="subTitle" idx="1"/>
          </p:nvPr>
        </p:nvSpPr>
        <p:spPr/>
        <p:txBody>
          <a:bodyPr>
            <a:normAutofit/>
          </a:bodyPr>
          <a:lstStyle/>
          <a:p>
            <a:endParaRPr lang="tr-TR" dirty="0"/>
          </a:p>
          <a:p>
            <a:endParaRPr lang="tr-TR" dirty="0"/>
          </a:p>
          <a:p>
            <a:r>
              <a:rPr lang="tr-TR" dirty="0"/>
              <a:t>			</a:t>
            </a:r>
            <a:r>
              <a:rPr lang="tr-TR" dirty="0">
                <a:solidFill>
                  <a:srgbClr val="FF0000"/>
                </a:solidFill>
              </a:rPr>
              <a:t>Dr. Mehmet KARAV</a:t>
            </a:r>
          </a:p>
        </p:txBody>
      </p:sp>
    </p:spTree>
    <p:extLst>
      <p:ext uri="{BB962C8B-B14F-4D97-AF65-F5344CB8AC3E}">
        <p14:creationId xmlns:p14="http://schemas.microsoft.com/office/powerpoint/2010/main" val="1361855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481328"/>
            <a:ext cx="9144000" cy="4525963"/>
          </a:xfrm>
        </p:spPr>
        <p:txBody>
          <a:bodyPr>
            <a:normAutofit/>
          </a:bodyPr>
          <a:lstStyle/>
          <a:p>
            <a:r>
              <a:rPr lang="tr-TR" sz="3600" dirty="0"/>
              <a:t>Geleneksel ve Tamamlayıcı Tıp Uygulamaları Yönetmeliği </a:t>
            </a:r>
          </a:p>
          <a:p>
            <a:pPr>
              <a:buNone/>
            </a:pPr>
            <a:r>
              <a:rPr lang="tr-TR" sz="3600" dirty="0"/>
              <a:t>  27 Ekim 2014  </a:t>
            </a:r>
          </a:p>
          <a:p>
            <a:endParaRPr lang="tr-TR" sz="3600" dirty="0"/>
          </a:p>
          <a:p>
            <a:r>
              <a:rPr lang="tr-TR" sz="3600" dirty="0"/>
              <a:t>Sağlık Alanı Sertifikalı Eğitim Standardı -  Hipnoz Alanı Standardı - </a:t>
            </a:r>
          </a:p>
          <a:p>
            <a:pPr>
              <a:buNone/>
            </a:pPr>
            <a:r>
              <a:rPr lang="tr-TR" sz="3600" dirty="0"/>
              <a:t>  16 Ekim 2015 / Revizyon 19.04.2024</a:t>
            </a:r>
          </a:p>
          <a:p>
            <a:endParaRPr lang="tr-TR" dirty="0"/>
          </a:p>
        </p:txBody>
      </p:sp>
      <p:sp>
        <p:nvSpPr>
          <p:cNvPr id="3" name="Title 2"/>
          <p:cNvSpPr>
            <a:spLocks noGrp="1"/>
          </p:cNvSpPr>
          <p:nvPr>
            <p:ph type="title"/>
          </p:nvPr>
        </p:nvSpPr>
        <p:spPr/>
        <p:txBody>
          <a:bodyPr>
            <a:normAutofit/>
          </a:bodyPr>
          <a:lstStyle/>
          <a:p>
            <a:pPr algn="ctr"/>
            <a:r>
              <a:rPr lang="tr-TR" sz="4400" b="0" dirty="0">
                <a:solidFill>
                  <a:srgbClr val="FF0000"/>
                </a:solidFill>
              </a:rPr>
              <a:t>MEVZUAT</a:t>
            </a:r>
          </a:p>
        </p:txBody>
      </p:sp>
    </p:spTree>
    <p:extLst>
      <p:ext uri="{BB962C8B-B14F-4D97-AF65-F5344CB8AC3E}">
        <p14:creationId xmlns:p14="http://schemas.microsoft.com/office/powerpoint/2010/main" val="3718497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tr-TR" dirty="0"/>
              <a:t>Temel Hipnoz Eğitimi</a:t>
            </a:r>
          </a:p>
        </p:txBody>
      </p:sp>
      <p:sp>
        <p:nvSpPr>
          <p:cNvPr id="3" name="Subtitle 2"/>
          <p:cNvSpPr>
            <a:spLocks noGrp="1"/>
          </p:cNvSpPr>
          <p:nvPr>
            <p:ph type="subTitle" idx="1"/>
          </p:nvPr>
        </p:nvSpPr>
        <p:spPr/>
        <p:txBody>
          <a:bodyPr>
            <a:normAutofit fontScale="77500" lnSpcReduction="20000"/>
          </a:bodyPr>
          <a:lstStyle/>
          <a:p>
            <a:r>
              <a:rPr lang="tr-TR" sz="6000" b="1" dirty="0">
                <a:solidFill>
                  <a:srgbClr val="FF0000"/>
                </a:solidFill>
              </a:rPr>
              <a:t>Eğitim Planı</a:t>
            </a:r>
          </a:p>
        </p:txBody>
      </p:sp>
    </p:spTree>
    <p:extLst>
      <p:ext uri="{BB962C8B-B14F-4D97-AF65-F5344CB8AC3E}">
        <p14:creationId xmlns:p14="http://schemas.microsoft.com/office/powerpoint/2010/main" val="3486572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dirty="0"/>
          </a:p>
        </p:txBody>
      </p:sp>
      <p:sp>
        <p:nvSpPr>
          <p:cNvPr id="3" name="Content Placeholder 2"/>
          <p:cNvSpPr>
            <a:spLocks noGrp="1"/>
          </p:cNvSpPr>
          <p:nvPr>
            <p:ph idx="1"/>
          </p:nvPr>
        </p:nvSpPr>
        <p:spPr/>
        <p:txBody>
          <a:bodyPr>
            <a:normAutofit/>
          </a:bodyPr>
          <a:lstStyle/>
          <a:p>
            <a:pPr indent="-342900"/>
            <a:r>
              <a:rPr lang="tr-TR" dirty="0"/>
              <a:t> Hipnozun Tanımı </a:t>
            </a:r>
          </a:p>
          <a:p>
            <a:pPr marL="0" indent="0">
              <a:buNone/>
            </a:pPr>
            <a:endParaRPr lang="tr-TR" dirty="0"/>
          </a:p>
          <a:p>
            <a:pPr indent="-342900"/>
            <a:r>
              <a:rPr lang="tr-TR" dirty="0"/>
              <a:t> Mitler ve Yanlış Bilinenler </a:t>
            </a:r>
          </a:p>
          <a:p>
            <a:pPr indent="-342900"/>
            <a:endParaRPr lang="tr-TR" dirty="0"/>
          </a:p>
          <a:p>
            <a:pPr indent="-342900"/>
            <a:r>
              <a:rPr lang="tr-TR" dirty="0"/>
              <a:t> Hipnozun Tarihi</a:t>
            </a:r>
            <a:br>
              <a:rPr lang="tr-TR" dirty="0"/>
            </a:br>
            <a:r>
              <a:rPr lang="tr-TR" dirty="0"/>
              <a:t> </a:t>
            </a:r>
          </a:p>
          <a:p>
            <a:pPr indent="-342900"/>
            <a:r>
              <a:rPr lang="tr-TR" dirty="0"/>
              <a:t>  Hipnoz Teorileri</a:t>
            </a:r>
            <a:br>
              <a:rPr lang="tr-TR" dirty="0"/>
            </a:br>
            <a:r>
              <a:rPr lang="tr-TR" dirty="0"/>
              <a:t> </a:t>
            </a:r>
          </a:p>
        </p:txBody>
      </p:sp>
    </p:spTree>
    <p:extLst>
      <p:ext uri="{BB962C8B-B14F-4D97-AF65-F5344CB8AC3E}">
        <p14:creationId xmlns:p14="http://schemas.microsoft.com/office/powerpoint/2010/main" val="737375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024744" cy="1143000"/>
          </a:xfrm>
        </p:spPr>
        <p:txBody>
          <a:bodyPr/>
          <a:lstStyle/>
          <a:p>
            <a:endParaRPr lang="tr-TR" dirty="0"/>
          </a:p>
        </p:txBody>
      </p:sp>
      <p:sp>
        <p:nvSpPr>
          <p:cNvPr id="3" name="Content Placeholder 2"/>
          <p:cNvSpPr>
            <a:spLocks noGrp="1"/>
          </p:cNvSpPr>
          <p:nvPr>
            <p:ph idx="1"/>
          </p:nvPr>
        </p:nvSpPr>
        <p:spPr>
          <a:xfrm>
            <a:off x="304800" y="1600200"/>
            <a:ext cx="8382000" cy="5105400"/>
          </a:xfrm>
        </p:spPr>
        <p:txBody>
          <a:bodyPr>
            <a:normAutofit/>
          </a:bodyPr>
          <a:lstStyle/>
          <a:p>
            <a:pPr indent="-342900"/>
            <a:r>
              <a:rPr lang="tr-TR" dirty="0"/>
              <a:t>Hastayı Hazırlama ve Eğitme</a:t>
            </a:r>
          </a:p>
          <a:p>
            <a:pPr indent="-342900"/>
            <a:endParaRPr lang="tr-TR" dirty="0"/>
          </a:p>
          <a:p>
            <a:pPr indent="-342900"/>
            <a:r>
              <a:rPr lang="tr-TR" dirty="0"/>
              <a:t>Hipnotik zihin modeli</a:t>
            </a:r>
            <a:br>
              <a:rPr lang="tr-TR" dirty="0"/>
            </a:br>
            <a:endParaRPr lang="tr-TR" dirty="0"/>
          </a:p>
          <a:p>
            <a:pPr indent="-342900"/>
            <a:r>
              <a:rPr lang="tr-TR" dirty="0"/>
              <a:t>Zihnin Kuralları</a:t>
            </a:r>
            <a:br>
              <a:rPr lang="tr-TR" dirty="0"/>
            </a:br>
            <a:endParaRPr lang="tr-TR" dirty="0"/>
          </a:p>
          <a:p>
            <a:pPr indent="-342900"/>
            <a:r>
              <a:rPr lang="tr-TR" dirty="0"/>
              <a:t>Bilinç ve bilinçaltı</a:t>
            </a:r>
            <a:br>
              <a:rPr lang="tr-TR" dirty="0"/>
            </a:br>
            <a:endParaRPr lang="tr-TR" dirty="0"/>
          </a:p>
          <a:p>
            <a:pPr indent="-342900"/>
            <a:r>
              <a:rPr lang="tr-TR" dirty="0"/>
              <a:t>Bilinçaltının özellikleri</a:t>
            </a:r>
            <a:br>
              <a:rPr lang="tr-TR" dirty="0"/>
            </a:br>
            <a:endParaRPr lang="tr-TR" dirty="0"/>
          </a:p>
          <a:p>
            <a:endParaRPr lang="tr-TR" dirty="0"/>
          </a:p>
        </p:txBody>
      </p:sp>
    </p:spTree>
    <p:extLst>
      <p:ext uri="{BB962C8B-B14F-4D97-AF65-F5344CB8AC3E}">
        <p14:creationId xmlns:p14="http://schemas.microsoft.com/office/powerpoint/2010/main" val="3136589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1000"/>
            <a:ext cx="7024744" cy="1143000"/>
          </a:xfrm>
        </p:spPr>
        <p:txBody>
          <a:bodyPr/>
          <a:lstStyle/>
          <a:p>
            <a:endParaRPr lang="tr-TR" dirty="0"/>
          </a:p>
        </p:txBody>
      </p:sp>
      <p:sp>
        <p:nvSpPr>
          <p:cNvPr id="3" name="Content Placeholder 2"/>
          <p:cNvSpPr>
            <a:spLocks noGrp="1"/>
          </p:cNvSpPr>
          <p:nvPr>
            <p:ph idx="1"/>
          </p:nvPr>
        </p:nvSpPr>
        <p:spPr>
          <a:xfrm>
            <a:off x="762000" y="1828800"/>
            <a:ext cx="7058809" cy="4572000"/>
          </a:xfrm>
        </p:spPr>
        <p:txBody>
          <a:bodyPr>
            <a:normAutofit/>
          </a:bodyPr>
          <a:lstStyle/>
          <a:p>
            <a:pPr marL="0" indent="0">
              <a:buNone/>
            </a:pPr>
            <a:r>
              <a:rPr lang="tr-TR" dirty="0"/>
              <a:t>Bilinçaltı Programlamanın 5 yöntemi</a:t>
            </a:r>
          </a:p>
          <a:p>
            <a:pPr marL="0" indent="0">
              <a:buNone/>
            </a:pPr>
            <a:br>
              <a:rPr lang="tr-TR" dirty="0"/>
            </a:br>
            <a:r>
              <a:rPr lang="tr-TR" dirty="0"/>
              <a:t>• Hipnotik Fenomenler </a:t>
            </a:r>
            <a:br>
              <a:rPr lang="tr-TR" dirty="0"/>
            </a:br>
            <a:r>
              <a:rPr lang="tr-TR" dirty="0"/>
              <a:t>• İdeamotor İncelemesi</a:t>
            </a:r>
            <a:br>
              <a:rPr lang="tr-TR" dirty="0"/>
            </a:br>
            <a:r>
              <a:rPr lang="tr-TR" dirty="0"/>
              <a:t>• Hipnozun bileşenleri</a:t>
            </a:r>
            <a:br>
              <a:rPr lang="tr-TR" dirty="0"/>
            </a:br>
            <a:r>
              <a:rPr lang="tr-TR" dirty="0"/>
              <a:t>• İndüksiyon Prensipleri</a:t>
            </a:r>
            <a:br>
              <a:rPr lang="tr-TR" dirty="0"/>
            </a:br>
            <a:r>
              <a:rPr lang="tr-TR" dirty="0"/>
              <a:t>• Dave – Ellman Hipnoz İndüksiyonu</a:t>
            </a:r>
            <a:br>
              <a:rPr lang="tr-TR" dirty="0"/>
            </a:br>
            <a:endParaRPr lang="tr-TR" dirty="0"/>
          </a:p>
        </p:txBody>
      </p:sp>
    </p:spTree>
    <p:extLst>
      <p:ext uri="{BB962C8B-B14F-4D97-AF65-F5344CB8AC3E}">
        <p14:creationId xmlns:p14="http://schemas.microsoft.com/office/powerpoint/2010/main" val="2881049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p:txBody>
          <a:bodyPr/>
          <a:lstStyle/>
          <a:p>
            <a:pPr marL="0" indent="0">
              <a:buNone/>
            </a:pPr>
            <a:r>
              <a:rPr lang="tr-TR" dirty="0"/>
              <a:t>Hipnoz Seviyeleri</a:t>
            </a:r>
          </a:p>
          <a:p>
            <a:pPr marL="0" indent="0">
              <a:buNone/>
            </a:pPr>
            <a:br>
              <a:rPr lang="tr-TR" dirty="0"/>
            </a:br>
            <a:r>
              <a:rPr lang="tr-TR" dirty="0"/>
              <a:t>• Hipnozun Derinlikleri </a:t>
            </a:r>
            <a:br>
              <a:rPr lang="tr-TR" dirty="0"/>
            </a:br>
            <a:r>
              <a:rPr lang="tr-TR" dirty="0"/>
              <a:t>• Derinleştirme Teknikleri</a:t>
            </a:r>
            <a:br>
              <a:rPr lang="tr-TR" dirty="0"/>
            </a:br>
            <a:r>
              <a:rPr lang="tr-TR" dirty="0"/>
              <a:t>• Telkine yatkınlık testleri</a:t>
            </a:r>
            <a:br>
              <a:rPr lang="tr-TR" dirty="0"/>
            </a:br>
            <a:r>
              <a:rPr lang="tr-TR" dirty="0"/>
              <a:t>• Telkine yatkınlık testlerine örnekler</a:t>
            </a:r>
            <a:br>
              <a:rPr lang="tr-TR" dirty="0"/>
            </a:br>
            <a:r>
              <a:rPr lang="tr-TR" dirty="0"/>
              <a:t>• Hipnotik Telkinlerin Formülasyon Prensipleri</a:t>
            </a:r>
            <a:br>
              <a:rPr lang="tr-TR" dirty="0"/>
            </a:br>
            <a:r>
              <a:rPr lang="tr-TR" dirty="0"/>
              <a:t>• Başarılı Hipnoz Hali Oluşturmak </a:t>
            </a:r>
          </a:p>
          <a:p>
            <a:endParaRPr lang="tr-TR" dirty="0"/>
          </a:p>
        </p:txBody>
      </p:sp>
    </p:spTree>
    <p:extLst>
      <p:ext uri="{BB962C8B-B14F-4D97-AF65-F5344CB8AC3E}">
        <p14:creationId xmlns:p14="http://schemas.microsoft.com/office/powerpoint/2010/main" val="3993051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Hipnoz nedir?</a:t>
            </a:r>
          </a:p>
        </p:txBody>
      </p:sp>
      <p:sp>
        <p:nvSpPr>
          <p:cNvPr id="3" name="Content Placeholder 2"/>
          <p:cNvSpPr>
            <a:spLocks noGrp="1"/>
          </p:cNvSpPr>
          <p:nvPr>
            <p:ph idx="1"/>
          </p:nvPr>
        </p:nvSpPr>
        <p:spPr>
          <a:xfrm>
            <a:off x="0" y="1600200"/>
            <a:ext cx="8991600" cy="5105400"/>
          </a:xfrm>
        </p:spPr>
        <p:txBody>
          <a:bodyPr>
            <a:normAutofit fontScale="92500"/>
          </a:bodyPr>
          <a:lstStyle/>
          <a:p>
            <a:pPr marL="0" indent="0">
              <a:buNone/>
            </a:pPr>
            <a:r>
              <a:rPr lang="tr-TR" dirty="0"/>
              <a:t>Çocukluğumdan anımsadığım bir Temel fıkrası vardır. </a:t>
            </a:r>
          </a:p>
          <a:p>
            <a:pPr marL="0" indent="0">
              <a:buNone/>
            </a:pPr>
            <a:endParaRPr lang="tr-TR" dirty="0"/>
          </a:p>
          <a:p>
            <a:pPr marL="0" indent="0">
              <a:buNone/>
            </a:pPr>
            <a:r>
              <a:rPr lang="tr-TR" dirty="0"/>
              <a:t>Bilgisayara zor soru sorma yarışması yapılıyor. </a:t>
            </a:r>
          </a:p>
          <a:p>
            <a:pPr marL="0" indent="0">
              <a:buNone/>
            </a:pPr>
            <a:endParaRPr lang="tr-TR" dirty="0"/>
          </a:p>
          <a:p>
            <a:pPr marL="0" indent="0">
              <a:buNone/>
            </a:pPr>
            <a:r>
              <a:rPr lang="tr-TR" dirty="0"/>
              <a:t>Değişik ülke temsilcilerinin sorularını bilgisayar hemen yanıtlıyor. </a:t>
            </a:r>
          </a:p>
          <a:p>
            <a:pPr marL="0" indent="0">
              <a:buNone/>
            </a:pPr>
            <a:endParaRPr lang="tr-TR" dirty="0"/>
          </a:p>
          <a:p>
            <a:pPr marL="0" indent="0">
              <a:buNone/>
            </a:pPr>
            <a:r>
              <a:rPr lang="tr-TR" dirty="0"/>
              <a:t>Sıra bizim Temel’e geliyor. </a:t>
            </a:r>
          </a:p>
          <a:p>
            <a:pPr marL="0" indent="0">
              <a:buNone/>
            </a:pPr>
            <a:endParaRPr lang="tr-TR" dirty="0"/>
          </a:p>
          <a:p>
            <a:pPr marL="0" indent="0">
              <a:buNone/>
            </a:pPr>
            <a:r>
              <a:rPr lang="tr-TR" dirty="0"/>
              <a:t>Temel soruyor: “ </a:t>
            </a:r>
            <a:r>
              <a:rPr lang="tr-TR" u="sng" dirty="0"/>
              <a:t>ne var ne yok</a:t>
            </a:r>
            <a:r>
              <a:rPr lang="tr-TR" dirty="0"/>
              <a:t>?”. </a:t>
            </a:r>
          </a:p>
          <a:p>
            <a:pPr marL="0" indent="0">
              <a:buNone/>
            </a:pPr>
            <a:endParaRPr lang="tr-TR" dirty="0"/>
          </a:p>
          <a:p>
            <a:pPr marL="0" indent="0">
              <a:buNone/>
            </a:pPr>
            <a:r>
              <a:rPr lang="tr-TR" dirty="0"/>
              <a:t>Ve biraz sonra bilgisayarın sigortaları atıyor. </a:t>
            </a:r>
          </a:p>
        </p:txBody>
      </p:sp>
    </p:spTree>
    <p:extLst>
      <p:ext uri="{BB962C8B-B14F-4D97-AF65-F5344CB8AC3E}">
        <p14:creationId xmlns:p14="http://schemas.microsoft.com/office/powerpoint/2010/main" val="482826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p:txBody>
          <a:bodyPr>
            <a:normAutofit/>
          </a:bodyPr>
          <a:lstStyle/>
          <a:p>
            <a:pPr marL="0" indent="0">
              <a:buNone/>
            </a:pPr>
            <a:r>
              <a:rPr lang="tr-TR" dirty="0"/>
              <a:t>Ne kadar çok hipnoz kitabı varsa,</a:t>
            </a:r>
          </a:p>
          <a:p>
            <a:pPr marL="0" indent="0">
              <a:buNone/>
            </a:pPr>
            <a:r>
              <a:rPr lang="tr-TR" dirty="0"/>
              <a:t>o kadar değişik tanım vardır. </a:t>
            </a:r>
          </a:p>
          <a:p>
            <a:pPr marL="0" indent="0">
              <a:buNone/>
            </a:pPr>
            <a:r>
              <a:rPr lang="tr-TR" dirty="0"/>
              <a:t> </a:t>
            </a:r>
          </a:p>
          <a:p>
            <a:pPr marL="0" indent="0">
              <a:buNone/>
            </a:pPr>
            <a:r>
              <a:rPr lang="tr-TR" dirty="0"/>
              <a:t>Bir şeyi tanımlarken tanımlamada kullandığınız kavramları da, tek tek tanımlamak zorunda kalırsanız bu tanımda ciddi bir sorun var demektir.  </a:t>
            </a:r>
          </a:p>
          <a:p>
            <a:endParaRPr lang="tr-TR" dirty="0"/>
          </a:p>
        </p:txBody>
      </p:sp>
    </p:spTree>
    <p:extLst>
      <p:ext uri="{BB962C8B-B14F-4D97-AF65-F5344CB8AC3E}">
        <p14:creationId xmlns:p14="http://schemas.microsoft.com/office/powerpoint/2010/main" val="2151676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p:txBody>
          <a:bodyPr/>
          <a:lstStyle/>
          <a:p>
            <a:r>
              <a:rPr lang="tr-TR" dirty="0"/>
              <a:t>Örneğin ABD de Amerikan Tıp Birliğini de kabul ettiği tanım şudur. </a:t>
            </a:r>
          </a:p>
          <a:p>
            <a:pPr marL="0" indent="0">
              <a:buNone/>
            </a:pPr>
            <a:endParaRPr lang="tr-TR" dirty="0"/>
          </a:p>
          <a:p>
            <a:r>
              <a:rPr lang="tr-TR" b="1" dirty="0"/>
              <a:t>“Hipnoz bilincin kritikal faktörünün by-pass edilmesi ve bilinçaltında selektif kalıcı düşüncenin yerleştirilmesi halidir.” </a:t>
            </a:r>
            <a:endParaRPr lang="tr-TR" dirty="0"/>
          </a:p>
          <a:p>
            <a:pPr marL="0" indent="0">
              <a:buNone/>
            </a:pPr>
            <a:endParaRPr lang="tr-TR" dirty="0"/>
          </a:p>
        </p:txBody>
      </p:sp>
    </p:spTree>
    <p:extLst>
      <p:ext uri="{BB962C8B-B14F-4D97-AF65-F5344CB8AC3E}">
        <p14:creationId xmlns:p14="http://schemas.microsoft.com/office/powerpoint/2010/main" val="663075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8229600" cy="1143000"/>
          </a:xfrm>
        </p:spPr>
        <p:txBody>
          <a:bodyPr/>
          <a:lstStyle/>
          <a:p>
            <a:endParaRPr lang="tr-TR"/>
          </a:p>
        </p:txBody>
      </p:sp>
      <p:sp>
        <p:nvSpPr>
          <p:cNvPr id="3" name="Content Placeholder 2"/>
          <p:cNvSpPr>
            <a:spLocks noGrp="1"/>
          </p:cNvSpPr>
          <p:nvPr>
            <p:ph idx="1"/>
          </p:nvPr>
        </p:nvSpPr>
        <p:spPr>
          <a:xfrm>
            <a:off x="228600" y="1600200"/>
            <a:ext cx="8763000" cy="4876800"/>
          </a:xfrm>
        </p:spPr>
        <p:txBody>
          <a:bodyPr>
            <a:normAutofit/>
          </a:bodyPr>
          <a:lstStyle/>
          <a:p>
            <a:pPr marL="0" indent="0">
              <a:buNone/>
            </a:pPr>
            <a:r>
              <a:rPr lang="tr-TR" dirty="0"/>
              <a:t> </a:t>
            </a:r>
          </a:p>
          <a:p>
            <a:r>
              <a:rPr lang="tr-TR" i="1" dirty="0"/>
              <a:t>Bilinç nedir? </a:t>
            </a:r>
            <a:endParaRPr lang="tr-TR" dirty="0"/>
          </a:p>
          <a:p>
            <a:r>
              <a:rPr lang="tr-TR" i="1" dirty="0"/>
              <a:t>Kritikal faktörü nedir? </a:t>
            </a:r>
            <a:endParaRPr lang="tr-TR" dirty="0"/>
          </a:p>
          <a:p>
            <a:r>
              <a:rPr lang="tr-TR" i="1" dirty="0"/>
              <a:t>Bunun by-pass edilmesi nedir? </a:t>
            </a:r>
            <a:endParaRPr lang="tr-TR" dirty="0"/>
          </a:p>
          <a:p>
            <a:r>
              <a:rPr lang="tr-TR" i="1" dirty="0"/>
              <a:t>Bilinçaltı nedir? </a:t>
            </a:r>
            <a:endParaRPr lang="tr-TR" dirty="0"/>
          </a:p>
          <a:p>
            <a:r>
              <a:rPr lang="tr-TR" i="1" dirty="0"/>
              <a:t>Selektif düşünce nedir? </a:t>
            </a:r>
            <a:endParaRPr lang="tr-TR" dirty="0"/>
          </a:p>
          <a:p>
            <a:pPr marL="0" indent="0">
              <a:buNone/>
            </a:pPr>
            <a:r>
              <a:rPr lang="tr-TR" dirty="0"/>
              <a:t> </a:t>
            </a:r>
          </a:p>
          <a:p>
            <a:pPr marL="0" indent="0">
              <a:buNone/>
            </a:pPr>
            <a:r>
              <a:rPr lang="tr-TR" dirty="0"/>
              <a:t>Şimdi de bunları tek tek açıklamam gerekecek.  </a:t>
            </a:r>
          </a:p>
          <a:p>
            <a:pPr marL="0" indent="0">
              <a:buNone/>
            </a:pPr>
            <a:r>
              <a:rPr lang="tr-TR" dirty="0"/>
              <a:t>Bunları açıklarken de karşıma başka tanımlanması gereken şeyler çıkacak. </a:t>
            </a:r>
          </a:p>
          <a:p>
            <a:pPr marL="0" indent="0">
              <a:buNone/>
            </a:pPr>
            <a:endParaRPr lang="tr-TR" dirty="0"/>
          </a:p>
        </p:txBody>
      </p:sp>
    </p:spTree>
    <p:extLst>
      <p:ext uri="{BB962C8B-B14F-4D97-AF65-F5344CB8AC3E}">
        <p14:creationId xmlns:p14="http://schemas.microsoft.com/office/powerpoint/2010/main" val="1717378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p:txBody>
          <a:bodyPr>
            <a:normAutofit/>
          </a:bodyPr>
          <a:lstStyle/>
          <a:p>
            <a:r>
              <a:rPr lang="tr-TR" b="1" dirty="0"/>
              <a:t>Aksiyom</a:t>
            </a:r>
            <a:r>
              <a:rPr lang="tr-TR" dirty="0"/>
              <a:t> denen bir kavram vardır. </a:t>
            </a:r>
          </a:p>
          <a:p>
            <a:r>
              <a:rPr lang="tr-TR" dirty="0"/>
              <a:t>Tanımlanamaz, baştan doğru kabul edilen ama doğruluğu kanıtlanamayan ve üzerinde sistem inşa edilen terimler ya da kavramlar. </a:t>
            </a:r>
          </a:p>
          <a:p>
            <a:r>
              <a:rPr lang="tr-TR" dirty="0"/>
              <a:t>Örneğin “nokta” gibi. </a:t>
            </a:r>
          </a:p>
          <a:p>
            <a:r>
              <a:rPr lang="tr-TR" dirty="0"/>
              <a:t>Böylece doğruyu tanımlayabilirsiniz. </a:t>
            </a:r>
          </a:p>
          <a:p>
            <a:r>
              <a:rPr lang="tr-TR" dirty="0"/>
              <a:t>İki noktadan sadece bir doğru geçer gibi. </a:t>
            </a:r>
          </a:p>
          <a:p>
            <a:r>
              <a:rPr lang="tr-TR" dirty="0"/>
              <a:t>Ama bu da bir aksiyomdur çünkü ispat edemezsiniz. </a:t>
            </a:r>
          </a:p>
        </p:txBody>
      </p:sp>
    </p:spTree>
    <p:extLst>
      <p:ext uri="{BB962C8B-B14F-4D97-AF65-F5344CB8AC3E}">
        <p14:creationId xmlns:p14="http://schemas.microsoft.com/office/powerpoint/2010/main" val="2681385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p:txBody>
          <a:bodyPr>
            <a:normAutofit/>
          </a:bodyPr>
          <a:lstStyle/>
          <a:p>
            <a:r>
              <a:rPr lang="tr-TR" dirty="0"/>
              <a:t>İşte bana göre hipnoz da </a:t>
            </a:r>
            <a:r>
              <a:rPr lang="tr-TR" u="sng" dirty="0"/>
              <a:t>tanımsız bir terim</a:t>
            </a:r>
            <a:r>
              <a:rPr lang="tr-TR" dirty="0"/>
              <a:t>. </a:t>
            </a:r>
          </a:p>
          <a:p>
            <a:r>
              <a:rPr lang="tr-TR" dirty="0"/>
              <a:t>Bir aksiyom. </a:t>
            </a:r>
          </a:p>
          <a:p>
            <a:r>
              <a:rPr lang="tr-TR" dirty="0"/>
              <a:t>Oluşan bir duruma göre kabul ettiğimiz bir zihinsel hale verilen isim. </a:t>
            </a:r>
          </a:p>
          <a:p>
            <a:r>
              <a:rPr lang="tr-TR" dirty="0"/>
              <a:t>Nasıl bir cisimdeki nokta sayısını ölçmek mümkün değilse hipnoz halini de ölçmek mümkün değil. </a:t>
            </a:r>
          </a:p>
          <a:p>
            <a:pPr marL="0" indent="0">
              <a:buNone/>
            </a:pPr>
            <a:endParaRPr lang="tr-TR" dirty="0"/>
          </a:p>
        </p:txBody>
      </p:sp>
    </p:spTree>
    <p:extLst>
      <p:ext uri="{BB962C8B-B14F-4D97-AF65-F5344CB8AC3E}">
        <p14:creationId xmlns:p14="http://schemas.microsoft.com/office/powerpoint/2010/main" val="10717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p:txBody>
          <a:bodyPr/>
          <a:lstStyle/>
          <a:p>
            <a:r>
              <a:rPr lang="tr-TR" b="1" dirty="0"/>
              <a:t>Ancak o zihinsel hali temsil eden belli kriterlere göre adlandırılan bir durum. </a:t>
            </a:r>
          </a:p>
          <a:p>
            <a:r>
              <a:rPr lang="tr-TR" b="1" dirty="0"/>
              <a:t>O hali hipnoz hali olarak kabul ettiğimiz bir durum. </a:t>
            </a:r>
            <a:endParaRPr lang="tr-TR" dirty="0"/>
          </a:p>
          <a:p>
            <a:r>
              <a:rPr lang="tr-TR" dirty="0"/>
              <a:t>Bu nedenle hipnoz tanımlanamaz. </a:t>
            </a:r>
          </a:p>
          <a:p>
            <a:r>
              <a:rPr lang="tr-TR" dirty="0"/>
              <a:t>Ancak sahip olduğu özellikleriyle anlatılabilir. </a:t>
            </a:r>
          </a:p>
          <a:p>
            <a:pPr marL="0" indent="0">
              <a:buNone/>
            </a:pPr>
            <a:r>
              <a:rPr lang="tr-TR" dirty="0"/>
              <a:t> </a:t>
            </a:r>
          </a:p>
          <a:p>
            <a:endParaRPr lang="tr-TR" dirty="0"/>
          </a:p>
          <a:p>
            <a:endParaRPr lang="tr-TR" dirty="0"/>
          </a:p>
        </p:txBody>
      </p:sp>
    </p:spTree>
    <p:extLst>
      <p:ext uri="{BB962C8B-B14F-4D97-AF65-F5344CB8AC3E}">
        <p14:creationId xmlns:p14="http://schemas.microsoft.com/office/powerpoint/2010/main" val="3232163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990600" y="685800"/>
            <a:ext cx="7077634" cy="341864"/>
          </a:xfrm>
        </p:spPr>
        <p:txBody>
          <a:bodyPr>
            <a:normAutofit fontScale="90000"/>
          </a:bodyPr>
          <a:lstStyle/>
          <a:p>
            <a:endParaRPr lang="tr-TR" dirty="0"/>
          </a:p>
        </p:txBody>
      </p:sp>
      <p:sp>
        <p:nvSpPr>
          <p:cNvPr id="3" name="Content Placeholder 2"/>
          <p:cNvSpPr>
            <a:spLocks noGrp="1"/>
          </p:cNvSpPr>
          <p:nvPr>
            <p:ph idx="1"/>
          </p:nvPr>
        </p:nvSpPr>
        <p:spPr>
          <a:xfrm>
            <a:off x="228600" y="1600200"/>
            <a:ext cx="8458200" cy="4525963"/>
          </a:xfrm>
        </p:spPr>
        <p:txBody>
          <a:bodyPr>
            <a:normAutofit/>
          </a:bodyPr>
          <a:lstStyle/>
          <a:p>
            <a:r>
              <a:rPr lang="tr-TR" dirty="0"/>
              <a:t>Hipnoz tanımlanamadığı için de istismar edilen bir kelimedir. </a:t>
            </a:r>
          </a:p>
          <a:p>
            <a:r>
              <a:rPr lang="tr-TR" dirty="0"/>
              <a:t>Eğer bir kelime bir çok farklı durumu anlatmak için kullanılıyorsa orada yanlış anlama, yanlış kavrama, yanlış inançlar, karışıklık, yanlış etiketleme ve fırsatçılık kaçınılmaz olarak karşımıza çıkar.</a:t>
            </a:r>
          </a:p>
          <a:p>
            <a:pPr marL="0" indent="0">
              <a:buNone/>
            </a:pPr>
            <a:r>
              <a:rPr lang="tr-TR" dirty="0"/>
              <a:t> </a:t>
            </a:r>
          </a:p>
          <a:p>
            <a:endParaRPr lang="tr-TR" dirty="0"/>
          </a:p>
        </p:txBody>
      </p:sp>
    </p:spTree>
    <p:extLst>
      <p:ext uri="{BB962C8B-B14F-4D97-AF65-F5344CB8AC3E}">
        <p14:creationId xmlns:p14="http://schemas.microsoft.com/office/powerpoint/2010/main" val="2247226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a:t>Sonuçta şöyle söyleyebiliriz: </a:t>
            </a:r>
          </a:p>
        </p:txBody>
      </p:sp>
      <p:sp>
        <p:nvSpPr>
          <p:cNvPr id="3" name="Content Placeholder 2"/>
          <p:cNvSpPr>
            <a:spLocks noGrp="1"/>
          </p:cNvSpPr>
          <p:nvPr>
            <p:ph idx="1"/>
          </p:nvPr>
        </p:nvSpPr>
        <p:spPr>
          <a:xfrm>
            <a:off x="152400" y="1600200"/>
            <a:ext cx="8839200" cy="4953000"/>
          </a:xfrm>
        </p:spPr>
        <p:txBody>
          <a:bodyPr/>
          <a:lstStyle/>
          <a:p>
            <a:pPr marL="0" indent="0">
              <a:buNone/>
            </a:pPr>
            <a:endParaRPr lang="tr-TR" sz="8000" b="1" dirty="0"/>
          </a:p>
          <a:p>
            <a:pPr marL="0" indent="0">
              <a:buNone/>
            </a:pPr>
            <a:r>
              <a:rPr lang="tr-TR" sz="8000" b="1" dirty="0"/>
              <a:t>“ Hipnoz hipnozdur”</a:t>
            </a:r>
            <a:br>
              <a:rPr lang="tr-TR" dirty="0"/>
            </a:br>
            <a:endParaRPr lang="tr-TR" dirty="0"/>
          </a:p>
        </p:txBody>
      </p:sp>
    </p:spTree>
    <p:extLst>
      <p:ext uri="{BB962C8B-B14F-4D97-AF65-F5344CB8AC3E}">
        <p14:creationId xmlns:p14="http://schemas.microsoft.com/office/powerpoint/2010/main" val="3712011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p:txBody>
          <a:bodyPr>
            <a:normAutofit/>
          </a:bodyPr>
          <a:lstStyle/>
          <a:p>
            <a:r>
              <a:rPr lang="tr-TR" dirty="0"/>
              <a:t>Değişik hipnoz tanımlamalarından örnekler vereceğim. </a:t>
            </a:r>
          </a:p>
          <a:p>
            <a:r>
              <a:rPr lang="tr-TR" dirty="0"/>
              <a:t>Çünkü her biri kendi içinde doğru. </a:t>
            </a:r>
          </a:p>
          <a:p>
            <a:r>
              <a:rPr lang="tr-TR" dirty="0"/>
              <a:t>Her biri kendi aksiyomlarını açıklıyorlar. </a:t>
            </a:r>
          </a:p>
          <a:p>
            <a:r>
              <a:rPr lang="tr-TR" dirty="0"/>
              <a:t>Her biri sadece ortaya çıkan bir zihinsel durumu açıklamaktadır.  </a:t>
            </a:r>
          </a:p>
        </p:txBody>
      </p:sp>
    </p:spTree>
    <p:extLst>
      <p:ext uri="{BB962C8B-B14F-4D97-AF65-F5344CB8AC3E}">
        <p14:creationId xmlns:p14="http://schemas.microsoft.com/office/powerpoint/2010/main" val="306732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p:txBody>
          <a:bodyPr/>
          <a:lstStyle/>
          <a:p>
            <a:endParaRPr lang="tr-TR" dirty="0"/>
          </a:p>
          <a:p>
            <a:r>
              <a:rPr lang="tr-TR" b="1" dirty="0"/>
              <a:t>Hipnoz talimatla sağlanan bir hayal kurma şeklidir. Kişiye hipnotist tarafından yönlendirilerek fantezi kurdurulur. </a:t>
            </a:r>
          </a:p>
          <a:p>
            <a:endParaRPr lang="tr-TR" b="1" dirty="0"/>
          </a:p>
          <a:p>
            <a:r>
              <a:rPr lang="tr-TR" b="1" dirty="0"/>
              <a:t>(Yani talimatla hayal kuruyorsanız hipnoza girmişsiniz demektir.)</a:t>
            </a:r>
            <a:endParaRPr lang="tr-TR" dirty="0"/>
          </a:p>
          <a:p>
            <a:endParaRPr lang="tr-TR" dirty="0"/>
          </a:p>
        </p:txBody>
      </p:sp>
    </p:spTree>
    <p:extLst>
      <p:ext uri="{BB962C8B-B14F-4D97-AF65-F5344CB8AC3E}">
        <p14:creationId xmlns:p14="http://schemas.microsoft.com/office/powerpoint/2010/main" val="2787653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p:txBody>
          <a:bodyPr>
            <a:normAutofit/>
          </a:bodyPr>
          <a:lstStyle/>
          <a:p>
            <a:r>
              <a:rPr lang="tr-TR" dirty="0"/>
              <a:t>Hipnoz doğal, değişmiş bir bilinç durumudur. Kişi hipnotik durum denen bir duruma girer ve bu normal durumdan farklı bir durumdur. </a:t>
            </a:r>
          </a:p>
          <a:p>
            <a:r>
              <a:rPr lang="tr-TR" dirty="0"/>
              <a:t>Ama bu duruma girmesi de doğal uyarma yoluyla olur yani dışarıdan bedene başka bir madde ya da fiziksel uyaran verilmez. </a:t>
            </a:r>
          </a:p>
          <a:p>
            <a:endParaRPr lang="tr-TR" i="1" dirty="0"/>
          </a:p>
          <a:p>
            <a:r>
              <a:rPr lang="tr-TR" i="1" dirty="0"/>
              <a:t>(Burada zaten hiçbir durum yok. Hipnotik durum denen durum baştan kabul edilmiş.)</a:t>
            </a:r>
            <a:r>
              <a:rPr lang="tr-TR" dirty="0"/>
              <a:t> </a:t>
            </a:r>
          </a:p>
          <a:p>
            <a:endParaRPr lang="tr-TR" dirty="0"/>
          </a:p>
        </p:txBody>
      </p:sp>
    </p:spTree>
    <p:extLst>
      <p:ext uri="{BB962C8B-B14F-4D97-AF65-F5344CB8AC3E}">
        <p14:creationId xmlns:p14="http://schemas.microsoft.com/office/powerpoint/2010/main" val="2504591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p:txBody>
          <a:bodyPr>
            <a:normAutofit/>
          </a:bodyPr>
          <a:lstStyle/>
          <a:p>
            <a:r>
              <a:rPr lang="tr-TR" dirty="0"/>
              <a:t>Hipnoz gevşemiş bir telkine açıklık halidir. </a:t>
            </a:r>
          </a:p>
          <a:p>
            <a:r>
              <a:rPr lang="tr-TR" dirty="0"/>
              <a:t>Kişi beden ve zihin olarak o kadar gevşek bir hale girer ki sonunda her türlü telkine açık hale gelir. </a:t>
            </a:r>
          </a:p>
          <a:p>
            <a:r>
              <a:rPr lang="tr-TR" i="1" dirty="0"/>
              <a:t>(Telkine açık hale gelemezsen hipnozda değilsin demektir.)</a:t>
            </a:r>
            <a:endParaRPr lang="tr-TR" dirty="0"/>
          </a:p>
          <a:p>
            <a:pPr marL="0" indent="0">
              <a:buNone/>
            </a:pPr>
            <a:endParaRPr lang="tr-TR" dirty="0"/>
          </a:p>
        </p:txBody>
      </p:sp>
    </p:spTree>
    <p:extLst>
      <p:ext uri="{BB962C8B-B14F-4D97-AF65-F5344CB8AC3E}">
        <p14:creationId xmlns:p14="http://schemas.microsoft.com/office/powerpoint/2010/main" val="3256160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1143000" y="457200"/>
            <a:ext cx="7543800" cy="246888"/>
          </a:xfrm>
        </p:spPr>
        <p:txBody>
          <a:bodyPr>
            <a:normAutofit fontScale="90000"/>
          </a:bodyPr>
          <a:lstStyle/>
          <a:p>
            <a:endParaRPr lang="tr-TR" dirty="0"/>
          </a:p>
        </p:txBody>
      </p:sp>
      <p:sp>
        <p:nvSpPr>
          <p:cNvPr id="3" name="Content Placeholder 2"/>
          <p:cNvSpPr>
            <a:spLocks noGrp="1"/>
          </p:cNvSpPr>
          <p:nvPr>
            <p:ph idx="1"/>
          </p:nvPr>
        </p:nvSpPr>
        <p:spPr>
          <a:xfrm>
            <a:off x="304800" y="1600200"/>
            <a:ext cx="8382000" cy="4953000"/>
          </a:xfrm>
        </p:spPr>
        <p:txBody>
          <a:bodyPr>
            <a:normAutofit/>
          </a:bodyPr>
          <a:lstStyle/>
          <a:p>
            <a:r>
              <a:rPr lang="tr-TR" dirty="0"/>
              <a:t>Hipnoz belli bir anda belli bir uyarıya  ya da düşünceye yoğun odaklanma halidir. </a:t>
            </a:r>
          </a:p>
          <a:p>
            <a:pPr marL="0" indent="0">
              <a:buNone/>
            </a:pPr>
            <a:endParaRPr lang="tr-TR" dirty="0"/>
          </a:p>
          <a:p>
            <a:pPr marL="0" indent="0">
              <a:buNone/>
            </a:pPr>
            <a:r>
              <a:rPr lang="tr-TR" dirty="0"/>
              <a:t>    (O halde heyecanlı bir kitap okurken de hipnoz </a:t>
            </a:r>
          </a:p>
          <a:p>
            <a:pPr marL="0" indent="0">
              <a:buNone/>
            </a:pPr>
            <a:r>
              <a:rPr lang="tr-TR" dirty="0"/>
              <a:t>     hali vardır)</a:t>
            </a:r>
          </a:p>
          <a:p>
            <a:pPr marL="0" indent="0">
              <a:buNone/>
            </a:pPr>
            <a:endParaRPr lang="tr-TR" dirty="0"/>
          </a:p>
          <a:p>
            <a:r>
              <a:rPr lang="tr-TR" dirty="0"/>
              <a:t>Hipnoz telkinle oluşturulan ve sonra da telkinle değişim yaptırılan bir haldir. </a:t>
            </a:r>
          </a:p>
          <a:p>
            <a:pPr marL="0" indent="0">
              <a:buNone/>
            </a:pPr>
            <a:r>
              <a:rPr lang="tr-TR" dirty="0"/>
              <a:t>    (Op. Dr. Mehmet Ulusal’ın tanımı.)</a:t>
            </a:r>
          </a:p>
          <a:p>
            <a:endParaRPr lang="tr-TR" dirty="0"/>
          </a:p>
          <a:p>
            <a:endParaRPr lang="tr-TR" dirty="0"/>
          </a:p>
        </p:txBody>
      </p:sp>
    </p:spTree>
    <p:extLst>
      <p:ext uri="{BB962C8B-B14F-4D97-AF65-F5344CB8AC3E}">
        <p14:creationId xmlns:p14="http://schemas.microsoft.com/office/powerpoint/2010/main" val="747168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760"/>
            <a:ext cx="9144000" cy="548640"/>
          </a:xfrm>
        </p:spPr>
        <p:txBody>
          <a:bodyPr>
            <a:normAutofit fontScale="90000"/>
          </a:bodyPr>
          <a:lstStyle/>
          <a:p>
            <a:pPr algn="ctr"/>
            <a:r>
              <a:rPr lang="tr-TR" sz="4000" b="1" dirty="0"/>
              <a:t>Sonuç:</a:t>
            </a:r>
            <a:endParaRPr lang="tr-TR" sz="4000" dirty="0"/>
          </a:p>
        </p:txBody>
      </p:sp>
      <p:sp>
        <p:nvSpPr>
          <p:cNvPr id="3" name="Content Placeholder 2"/>
          <p:cNvSpPr>
            <a:spLocks noGrp="1"/>
          </p:cNvSpPr>
          <p:nvPr>
            <p:ph idx="1"/>
          </p:nvPr>
        </p:nvSpPr>
        <p:spPr>
          <a:xfrm>
            <a:off x="0" y="838200"/>
            <a:ext cx="9144000" cy="4191000"/>
          </a:xfrm>
        </p:spPr>
        <p:txBody>
          <a:bodyPr>
            <a:normAutofit/>
          </a:bodyPr>
          <a:lstStyle/>
          <a:p>
            <a:r>
              <a:rPr lang="tr-TR" sz="4800" b="1" dirty="0"/>
              <a:t>Hipnoz tanımına fazla kafayı </a:t>
            </a:r>
          </a:p>
          <a:p>
            <a:r>
              <a:rPr lang="tr-TR" sz="4800" b="1" dirty="0"/>
              <a:t>takmayalım. </a:t>
            </a:r>
          </a:p>
          <a:p>
            <a:r>
              <a:rPr lang="tr-TR" sz="4800" b="1" dirty="0"/>
              <a:t>Ne olduğunu anlamaya çalışalım. </a:t>
            </a:r>
          </a:p>
          <a:p>
            <a:r>
              <a:rPr lang="tr-TR" sz="4800" b="1" dirty="0"/>
              <a:t>Hipnoz anlatılmaz, yaşanır.  </a:t>
            </a:r>
            <a:endParaRPr lang="tr-TR" sz="4800" dirty="0"/>
          </a:p>
          <a:p>
            <a:endParaRPr lang="tr-TR" sz="4800" dirty="0"/>
          </a:p>
        </p:txBody>
      </p:sp>
    </p:spTree>
    <p:extLst>
      <p:ext uri="{BB962C8B-B14F-4D97-AF65-F5344CB8AC3E}">
        <p14:creationId xmlns:p14="http://schemas.microsoft.com/office/powerpoint/2010/main" val="39301924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pic>
        <p:nvPicPr>
          <p:cNvPr id="1026" name="Picture 2"/>
          <p:cNvPicPr>
            <a:picLocks noGrp="1" noChangeAspect="1" noChangeArrowheads="1"/>
          </p:cNvPicPr>
          <p:nvPr>
            <p:ph idx="1"/>
          </p:nvPr>
        </p:nvPicPr>
        <p:blipFill>
          <a:blip r:embed="rId2" cstate="print"/>
          <a:srcRect/>
          <a:stretch>
            <a:fillRect/>
          </a:stretch>
        </p:blipFill>
        <p:spPr bwMode="auto">
          <a:xfrm>
            <a:off x="1066801" y="1195181"/>
            <a:ext cx="7439772" cy="5662819"/>
          </a:xfrm>
          <a:prstGeom prst="rect">
            <a:avLst/>
          </a:prstGeom>
          <a:noFill/>
          <a:ln w="9525">
            <a:noFill/>
            <a:miter lim="800000"/>
            <a:headEnd/>
            <a:tailEnd/>
          </a:ln>
          <a:effectLst/>
        </p:spPr>
      </p:pic>
    </p:spTree>
    <p:extLst>
      <p:ext uri="{BB962C8B-B14F-4D97-AF65-F5344CB8AC3E}">
        <p14:creationId xmlns:p14="http://schemas.microsoft.com/office/powerpoint/2010/main" val="7440142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09600" y="914400"/>
            <a:ext cx="7543800" cy="2593975"/>
          </a:xfrm>
        </p:spPr>
        <p:txBody>
          <a:bodyPr/>
          <a:lstStyle/>
          <a:p>
            <a:pPr eaLnBrk="1" hangingPunct="1">
              <a:defRPr/>
            </a:pPr>
            <a:r>
              <a:rPr lang="tr-TR" sz="8800" dirty="0"/>
              <a:t>Hipnoz nedir?</a:t>
            </a:r>
          </a:p>
        </p:txBody>
      </p:sp>
    </p:spTree>
    <p:extLst>
      <p:ext uri="{BB962C8B-B14F-4D97-AF65-F5344CB8AC3E}">
        <p14:creationId xmlns:p14="http://schemas.microsoft.com/office/powerpoint/2010/main" val="3770549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A9AA58A-C81C-8B22-CD41-957778621A7D}"/>
              </a:ext>
            </a:extLst>
          </p:cNvPr>
          <p:cNvSpPr>
            <a:spLocks noGrp="1"/>
          </p:cNvSpPr>
          <p:nvPr>
            <p:ph type="title"/>
          </p:nvPr>
        </p:nvSpPr>
        <p:spPr/>
        <p:txBody>
          <a:bodyPr/>
          <a:lstStyle/>
          <a:p>
            <a:r>
              <a:rPr lang="tr-TR" dirty="0"/>
              <a:t>Sonuç Olarak</a:t>
            </a:r>
          </a:p>
        </p:txBody>
      </p:sp>
      <p:sp>
        <p:nvSpPr>
          <p:cNvPr id="3" name="İçerik Yer Tutucusu 2">
            <a:extLst>
              <a:ext uri="{FF2B5EF4-FFF2-40B4-BE49-F238E27FC236}">
                <a16:creationId xmlns:a16="http://schemas.microsoft.com/office/drawing/2014/main" id="{32BA688D-FF8F-E1CA-59BD-869712A831DB}"/>
              </a:ext>
            </a:extLst>
          </p:cNvPr>
          <p:cNvSpPr>
            <a:spLocks noGrp="1"/>
          </p:cNvSpPr>
          <p:nvPr>
            <p:ph idx="1"/>
          </p:nvPr>
        </p:nvSpPr>
        <p:spPr>
          <a:xfrm>
            <a:off x="228600" y="1600200"/>
            <a:ext cx="8077200" cy="4800600"/>
          </a:xfrm>
        </p:spPr>
        <p:txBody>
          <a:bodyPr/>
          <a:lstStyle/>
          <a:p>
            <a:r>
              <a:rPr lang="tr-TR" sz="3600" dirty="0"/>
              <a:t>HİPNOZ ; </a:t>
            </a:r>
          </a:p>
          <a:p>
            <a:r>
              <a:rPr lang="tr-TR" sz="3600" dirty="0"/>
              <a:t>Dünya Sağlık Örgütü Tedavi Kılavuzlarına girmiş, </a:t>
            </a:r>
          </a:p>
          <a:p>
            <a:r>
              <a:rPr lang="tr-TR" sz="3600" dirty="0"/>
              <a:t>güvenli ve insan sağlığına zararlı olmayan </a:t>
            </a:r>
          </a:p>
          <a:p>
            <a:r>
              <a:rPr lang="tr-TR" sz="3600" dirty="0"/>
              <a:t>bir terapi yöntemidir.</a:t>
            </a:r>
          </a:p>
          <a:p>
            <a:endParaRPr lang="tr-TR" dirty="0"/>
          </a:p>
        </p:txBody>
      </p:sp>
    </p:spTree>
    <p:extLst>
      <p:ext uri="{BB962C8B-B14F-4D97-AF65-F5344CB8AC3E}">
        <p14:creationId xmlns:p14="http://schemas.microsoft.com/office/powerpoint/2010/main" val="806759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9FF4E3A-0D22-29AD-162E-26BB3DD65BD7}"/>
              </a:ext>
            </a:extLst>
          </p:cNvPr>
          <p:cNvSpPr>
            <a:spLocks noGrp="1"/>
          </p:cNvSpPr>
          <p:nvPr>
            <p:ph type="title"/>
          </p:nvPr>
        </p:nvSpPr>
        <p:spPr/>
        <p:txBody>
          <a:bodyPr/>
          <a:lstStyle/>
          <a:p>
            <a:pPr algn="ctr"/>
            <a:r>
              <a:rPr lang="tr-TR" dirty="0"/>
              <a:t>27.10.2014 tarihli</a:t>
            </a:r>
          </a:p>
        </p:txBody>
      </p:sp>
      <p:sp>
        <p:nvSpPr>
          <p:cNvPr id="3" name="İçerik Yer Tutucusu 2">
            <a:extLst>
              <a:ext uri="{FF2B5EF4-FFF2-40B4-BE49-F238E27FC236}">
                <a16:creationId xmlns:a16="http://schemas.microsoft.com/office/drawing/2014/main" id="{23F3D2CD-46C8-66A2-BE06-22488E35940E}"/>
              </a:ext>
            </a:extLst>
          </p:cNvPr>
          <p:cNvSpPr>
            <a:spLocks noGrp="1"/>
          </p:cNvSpPr>
          <p:nvPr>
            <p:ph idx="1"/>
          </p:nvPr>
        </p:nvSpPr>
        <p:spPr/>
        <p:txBody>
          <a:bodyPr>
            <a:normAutofit/>
          </a:bodyPr>
          <a:lstStyle/>
          <a:p>
            <a:r>
              <a:rPr lang="tr-TR" sz="3600" dirty="0"/>
              <a:t>Geleneksel ve Tamamlayıcı Tıp Yönetmeliğine göre ise hipnoz; </a:t>
            </a:r>
          </a:p>
          <a:p>
            <a:r>
              <a:rPr lang="tr-TR" sz="3600" dirty="0"/>
              <a:t>Telkin yoluyla diğer bir kişinin bilinç ve farkındalık, vücut, hisler, duygular, düşünceler, hafıza veya davranışlarında değişiklik elde etmek üzere tasarlanmış veya bu sonucu ortaya çıkaran işlemdir</a:t>
            </a:r>
          </a:p>
        </p:txBody>
      </p:sp>
    </p:spTree>
    <p:extLst>
      <p:ext uri="{BB962C8B-B14F-4D97-AF65-F5344CB8AC3E}">
        <p14:creationId xmlns:p14="http://schemas.microsoft.com/office/powerpoint/2010/main" val="19488692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99B3A41-7095-6FA4-7A73-5D99F864153F}"/>
              </a:ext>
            </a:extLst>
          </p:cNvPr>
          <p:cNvSpPr>
            <a:spLocks noGrp="1"/>
          </p:cNvSpPr>
          <p:nvPr>
            <p:ph type="title"/>
          </p:nvPr>
        </p:nvSpPr>
        <p:spPr/>
        <p:txBody>
          <a:bodyPr/>
          <a:lstStyle/>
          <a:p>
            <a:pPr algn="ctr"/>
            <a:r>
              <a:rPr lang="tr-TR" dirty="0"/>
              <a:t>Hipnozun kullanım alanları</a:t>
            </a:r>
          </a:p>
        </p:txBody>
      </p:sp>
      <p:sp>
        <p:nvSpPr>
          <p:cNvPr id="3" name="İçerik Yer Tutucusu 2">
            <a:extLst>
              <a:ext uri="{FF2B5EF4-FFF2-40B4-BE49-F238E27FC236}">
                <a16:creationId xmlns:a16="http://schemas.microsoft.com/office/drawing/2014/main" id="{73B15279-D6AE-C86A-AD7A-2F96CE627C5E}"/>
              </a:ext>
            </a:extLst>
          </p:cNvPr>
          <p:cNvSpPr>
            <a:spLocks noGrp="1"/>
          </p:cNvSpPr>
          <p:nvPr>
            <p:ph idx="1"/>
          </p:nvPr>
        </p:nvSpPr>
        <p:spPr>
          <a:xfrm>
            <a:off x="152400" y="1295400"/>
            <a:ext cx="8153400" cy="5181600"/>
          </a:xfrm>
        </p:spPr>
        <p:txBody>
          <a:bodyPr>
            <a:normAutofit/>
          </a:bodyPr>
          <a:lstStyle/>
          <a:p>
            <a:pPr>
              <a:lnSpc>
                <a:spcPct val="90000"/>
              </a:lnSpc>
            </a:pPr>
            <a:r>
              <a:rPr lang="tr-TR" sz="3200" dirty="0"/>
              <a:t>Psikolojide Hipnoz</a:t>
            </a:r>
          </a:p>
          <a:p>
            <a:pPr>
              <a:lnSpc>
                <a:spcPct val="90000"/>
              </a:lnSpc>
            </a:pPr>
            <a:r>
              <a:rPr lang="tr-TR" sz="3200" dirty="0"/>
              <a:t>Diş Hekimliğinde Hipnoz</a:t>
            </a:r>
          </a:p>
          <a:p>
            <a:pPr>
              <a:lnSpc>
                <a:spcPct val="90000"/>
              </a:lnSpc>
            </a:pPr>
            <a:r>
              <a:rPr lang="tr-TR" sz="3200" dirty="0"/>
              <a:t>Kadın </a:t>
            </a:r>
            <a:r>
              <a:rPr lang="tr-TR" sz="3200" dirty="0" err="1"/>
              <a:t>hst.</a:t>
            </a:r>
            <a:r>
              <a:rPr lang="tr-TR" sz="3200" dirty="0"/>
              <a:t> Ve Hipnoz</a:t>
            </a:r>
          </a:p>
          <a:p>
            <a:pPr>
              <a:lnSpc>
                <a:spcPct val="90000"/>
              </a:lnSpc>
            </a:pPr>
            <a:r>
              <a:rPr lang="tr-TR" sz="3200" dirty="0"/>
              <a:t>Çocuk </a:t>
            </a:r>
            <a:r>
              <a:rPr lang="tr-TR" sz="3200" dirty="0" err="1"/>
              <a:t>hst.</a:t>
            </a:r>
            <a:r>
              <a:rPr lang="tr-TR" sz="3200" dirty="0"/>
              <a:t> Ve Hipnoz</a:t>
            </a:r>
          </a:p>
          <a:p>
            <a:pPr>
              <a:lnSpc>
                <a:spcPct val="90000"/>
              </a:lnSpc>
            </a:pPr>
            <a:r>
              <a:rPr lang="tr-TR" sz="3200" dirty="0"/>
              <a:t>Cerrahide Hipnoz</a:t>
            </a:r>
          </a:p>
          <a:p>
            <a:pPr>
              <a:lnSpc>
                <a:spcPct val="90000"/>
              </a:lnSpc>
            </a:pPr>
            <a:r>
              <a:rPr lang="tr-TR" sz="3200" dirty="0"/>
              <a:t>Bağımlılıklarda Hipnoz</a:t>
            </a:r>
          </a:p>
          <a:p>
            <a:pPr>
              <a:lnSpc>
                <a:spcPct val="90000"/>
              </a:lnSpc>
            </a:pPr>
            <a:r>
              <a:rPr lang="tr-TR" sz="3200" dirty="0"/>
              <a:t>Kekemelik ve Hipnoz</a:t>
            </a:r>
          </a:p>
          <a:p>
            <a:pPr>
              <a:lnSpc>
                <a:spcPct val="90000"/>
              </a:lnSpc>
            </a:pPr>
            <a:r>
              <a:rPr lang="tr-TR" sz="3200" dirty="0"/>
              <a:t>Yaş Geriletmesi ve Hipnoz</a:t>
            </a:r>
          </a:p>
        </p:txBody>
      </p:sp>
    </p:spTree>
    <p:extLst>
      <p:ext uri="{BB962C8B-B14F-4D97-AF65-F5344CB8AC3E}">
        <p14:creationId xmlns:p14="http://schemas.microsoft.com/office/powerpoint/2010/main" val="42077441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0A90A41-BAF2-B7FB-1AA1-85F5EFF6D5B7}"/>
              </a:ext>
            </a:extLst>
          </p:cNvPr>
          <p:cNvSpPr>
            <a:spLocks noGrp="1"/>
          </p:cNvSpPr>
          <p:nvPr>
            <p:ph type="title"/>
          </p:nvPr>
        </p:nvSpPr>
        <p:spPr>
          <a:xfrm>
            <a:off x="304800" y="274638"/>
            <a:ext cx="7772400" cy="487362"/>
          </a:xfrm>
        </p:spPr>
        <p:txBody>
          <a:bodyPr/>
          <a:lstStyle/>
          <a:p>
            <a:endParaRPr lang="tr-TR" dirty="0"/>
          </a:p>
        </p:txBody>
      </p:sp>
      <p:sp>
        <p:nvSpPr>
          <p:cNvPr id="3" name="İçerik Yer Tutucusu 2">
            <a:extLst>
              <a:ext uri="{FF2B5EF4-FFF2-40B4-BE49-F238E27FC236}">
                <a16:creationId xmlns:a16="http://schemas.microsoft.com/office/drawing/2014/main" id="{B6B67EBC-DF84-F805-1242-2AB6EE747DE9}"/>
              </a:ext>
            </a:extLst>
          </p:cNvPr>
          <p:cNvSpPr>
            <a:spLocks noGrp="1"/>
          </p:cNvSpPr>
          <p:nvPr>
            <p:ph idx="1"/>
          </p:nvPr>
        </p:nvSpPr>
        <p:spPr>
          <a:xfrm>
            <a:off x="304800" y="1028700"/>
            <a:ext cx="7848600" cy="5829300"/>
          </a:xfrm>
        </p:spPr>
        <p:txBody>
          <a:bodyPr>
            <a:noAutofit/>
          </a:bodyPr>
          <a:lstStyle/>
          <a:p>
            <a:r>
              <a:rPr lang="tr-TR" sz="3200" dirty="0"/>
              <a:t>Eğitsel hipnoz</a:t>
            </a:r>
          </a:p>
          <a:p>
            <a:r>
              <a:rPr lang="tr-TR" sz="3200" dirty="0"/>
              <a:t>Sporcu hipnozu</a:t>
            </a:r>
          </a:p>
          <a:p>
            <a:r>
              <a:rPr lang="tr-TR" sz="3200" dirty="0"/>
              <a:t>Özgüven ve motivasyon arttırımı</a:t>
            </a:r>
          </a:p>
          <a:p>
            <a:r>
              <a:rPr lang="tr-TR" sz="3200" dirty="0"/>
              <a:t>Sağlıklı alışkanlıkların kazandırılması (dürüstlük- ertelememe-çalışkanlık...)</a:t>
            </a:r>
          </a:p>
          <a:p>
            <a:r>
              <a:rPr lang="tr-TR" sz="3200" dirty="0"/>
              <a:t>Topluluk karşısında konuşma</a:t>
            </a:r>
          </a:p>
          <a:p>
            <a:r>
              <a:rPr lang="tr-TR" sz="3200" dirty="0"/>
              <a:t>Stres yönetimi</a:t>
            </a:r>
          </a:p>
          <a:p>
            <a:r>
              <a:rPr lang="tr-TR" sz="3200" dirty="0"/>
              <a:t>Özsaygı, kendine güven- sosyal beceri</a:t>
            </a:r>
          </a:p>
          <a:p>
            <a:r>
              <a:rPr lang="tr-TR" sz="3200" dirty="0"/>
              <a:t>Ego güçlendirme  </a:t>
            </a:r>
          </a:p>
          <a:p>
            <a:r>
              <a:rPr lang="tr-TR" sz="3200" dirty="0"/>
              <a:t>Konsantrasyon Sağlamak</a:t>
            </a:r>
          </a:p>
        </p:txBody>
      </p:sp>
    </p:spTree>
    <p:extLst>
      <p:ext uri="{BB962C8B-B14F-4D97-AF65-F5344CB8AC3E}">
        <p14:creationId xmlns:p14="http://schemas.microsoft.com/office/powerpoint/2010/main" val="690893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C9BF85F-2890-BBBA-294A-92C1F9CBAB97}"/>
              </a:ext>
            </a:extLst>
          </p:cNvPr>
          <p:cNvSpPr>
            <a:spLocks noGrp="1"/>
          </p:cNvSpPr>
          <p:nvPr>
            <p:ph type="title"/>
          </p:nvPr>
        </p:nvSpPr>
        <p:spPr/>
        <p:txBody>
          <a:bodyPr/>
          <a:lstStyle/>
          <a:p>
            <a:pPr algn="ctr"/>
            <a:r>
              <a:rPr lang="tr-TR" sz="4800" dirty="0"/>
              <a:t>Psikolojide Hipnoz</a:t>
            </a:r>
            <a:endParaRPr lang="tr-TR" dirty="0"/>
          </a:p>
        </p:txBody>
      </p:sp>
      <p:sp>
        <p:nvSpPr>
          <p:cNvPr id="3" name="İçerik Yer Tutucusu 2">
            <a:extLst>
              <a:ext uri="{FF2B5EF4-FFF2-40B4-BE49-F238E27FC236}">
                <a16:creationId xmlns:a16="http://schemas.microsoft.com/office/drawing/2014/main" id="{3E7BF0A0-A280-760C-B45B-C809B062936A}"/>
              </a:ext>
            </a:extLst>
          </p:cNvPr>
          <p:cNvSpPr>
            <a:spLocks noGrp="1"/>
          </p:cNvSpPr>
          <p:nvPr>
            <p:ph idx="1"/>
          </p:nvPr>
        </p:nvSpPr>
        <p:spPr/>
        <p:txBody>
          <a:bodyPr>
            <a:normAutofit fontScale="92500" lnSpcReduction="10000"/>
          </a:bodyPr>
          <a:lstStyle/>
          <a:p>
            <a:r>
              <a:rPr lang="tr-TR" sz="3800" dirty="0"/>
              <a:t>Tikler </a:t>
            </a:r>
          </a:p>
          <a:p>
            <a:r>
              <a:rPr lang="tr-TR" sz="3800" dirty="0"/>
              <a:t>Kekemelik</a:t>
            </a:r>
          </a:p>
          <a:p>
            <a:r>
              <a:rPr lang="tr-TR" sz="3800" dirty="0" err="1"/>
              <a:t>Enürezis</a:t>
            </a:r>
            <a:r>
              <a:rPr lang="tr-TR" sz="3800" dirty="0"/>
              <a:t> </a:t>
            </a:r>
            <a:r>
              <a:rPr lang="tr-TR" sz="3800" dirty="0" err="1"/>
              <a:t>Nokturna</a:t>
            </a:r>
            <a:r>
              <a:rPr lang="tr-TR" sz="3800" dirty="0"/>
              <a:t> ( gece işemesi ) </a:t>
            </a:r>
          </a:p>
          <a:p>
            <a:r>
              <a:rPr lang="tr-TR" sz="3800" dirty="0"/>
              <a:t>Psikosomatik Bozukluklar</a:t>
            </a:r>
          </a:p>
          <a:p>
            <a:r>
              <a:rPr lang="tr-TR" sz="3800" dirty="0" err="1"/>
              <a:t>Bulimia</a:t>
            </a:r>
            <a:r>
              <a:rPr lang="tr-TR" sz="3800" dirty="0"/>
              <a:t> / </a:t>
            </a:r>
            <a:r>
              <a:rPr lang="tr-TR" sz="3800" dirty="0" err="1"/>
              <a:t>Anorexia</a:t>
            </a:r>
            <a:r>
              <a:rPr lang="tr-TR" sz="3800" dirty="0"/>
              <a:t> </a:t>
            </a:r>
          </a:p>
          <a:p>
            <a:r>
              <a:rPr lang="tr-TR" sz="3800" dirty="0"/>
              <a:t>Obezite</a:t>
            </a:r>
          </a:p>
          <a:p>
            <a:r>
              <a:rPr lang="tr-TR" sz="3800" dirty="0"/>
              <a:t>Psikojenik Ağrı </a:t>
            </a:r>
            <a:r>
              <a:rPr lang="tr-TR" sz="3800" dirty="0" err="1"/>
              <a:t>Bzk</a:t>
            </a:r>
            <a:r>
              <a:rPr lang="tr-TR" sz="3800" dirty="0"/>
              <a:t>.</a:t>
            </a:r>
          </a:p>
          <a:p>
            <a:r>
              <a:rPr lang="tr-TR" sz="3800" dirty="0"/>
              <a:t>Konversiyon </a:t>
            </a:r>
            <a:r>
              <a:rPr lang="tr-TR" sz="3800" dirty="0" err="1"/>
              <a:t>Bzk</a:t>
            </a:r>
            <a:r>
              <a:rPr lang="tr-TR" sz="3800" dirty="0"/>
              <a:t>.</a:t>
            </a:r>
          </a:p>
          <a:p>
            <a:endParaRPr lang="tr-TR" dirty="0"/>
          </a:p>
        </p:txBody>
      </p:sp>
    </p:spTree>
    <p:extLst>
      <p:ext uri="{BB962C8B-B14F-4D97-AF65-F5344CB8AC3E}">
        <p14:creationId xmlns:p14="http://schemas.microsoft.com/office/powerpoint/2010/main" val="37047700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1DAD1D1-155F-54B9-7619-A13ECCB0D6FC}"/>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425BEBE1-9ACC-F6E0-1DE2-7406A77A8238}"/>
              </a:ext>
            </a:extLst>
          </p:cNvPr>
          <p:cNvSpPr>
            <a:spLocks noGrp="1"/>
          </p:cNvSpPr>
          <p:nvPr>
            <p:ph idx="1"/>
          </p:nvPr>
        </p:nvSpPr>
        <p:spPr/>
        <p:txBody>
          <a:bodyPr/>
          <a:lstStyle/>
          <a:p>
            <a:r>
              <a:rPr lang="tr-TR" sz="3200" dirty="0"/>
              <a:t>Cinsel İşlev </a:t>
            </a:r>
            <a:r>
              <a:rPr lang="tr-TR" sz="3200" dirty="0" err="1"/>
              <a:t>Bzk</a:t>
            </a:r>
            <a:r>
              <a:rPr lang="tr-TR" sz="3200" dirty="0"/>
              <a:t>.</a:t>
            </a:r>
          </a:p>
          <a:p>
            <a:r>
              <a:rPr lang="tr-TR" sz="3200" dirty="0"/>
              <a:t>Bağımlılıklar </a:t>
            </a:r>
          </a:p>
          <a:p>
            <a:r>
              <a:rPr lang="tr-TR" sz="3200" dirty="0"/>
              <a:t>Dissosiyatif  </a:t>
            </a:r>
            <a:r>
              <a:rPr lang="tr-TR" sz="3200" dirty="0" err="1"/>
              <a:t>Bzk.lar</a:t>
            </a:r>
            <a:endParaRPr lang="tr-TR" sz="3200" dirty="0"/>
          </a:p>
          <a:p>
            <a:r>
              <a:rPr lang="tr-TR" sz="3200" dirty="0"/>
              <a:t>Anksiyete </a:t>
            </a:r>
            <a:r>
              <a:rPr lang="tr-TR" sz="3200" dirty="0" err="1"/>
              <a:t>Bzk.ları</a:t>
            </a:r>
            <a:endParaRPr lang="tr-TR" sz="3200" dirty="0"/>
          </a:p>
          <a:p>
            <a:r>
              <a:rPr lang="tr-TR" sz="3200" dirty="0"/>
              <a:t>Fobiler</a:t>
            </a:r>
          </a:p>
          <a:p>
            <a:r>
              <a:rPr lang="tr-TR" sz="3200" dirty="0"/>
              <a:t>Panik </a:t>
            </a:r>
            <a:r>
              <a:rPr lang="tr-TR" sz="3200" dirty="0" err="1"/>
              <a:t>Bzk.lar</a:t>
            </a:r>
            <a:endParaRPr lang="tr-TR" sz="3200" dirty="0"/>
          </a:p>
          <a:p>
            <a:r>
              <a:rPr lang="tr-TR" sz="3200" dirty="0"/>
              <a:t>Performans Anksiyetesi</a:t>
            </a:r>
          </a:p>
          <a:p>
            <a:r>
              <a:rPr lang="tr-TR" sz="3200" dirty="0"/>
              <a:t>PTSB</a:t>
            </a:r>
          </a:p>
          <a:p>
            <a:endParaRPr lang="tr-TR" dirty="0"/>
          </a:p>
        </p:txBody>
      </p:sp>
    </p:spTree>
    <p:extLst>
      <p:ext uri="{BB962C8B-B14F-4D97-AF65-F5344CB8AC3E}">
        <p14:creationId xmlns:p14="http://schemas.microsoft.com/office/powerpoint/2010/main" val="19840059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pic>
        <p:nvPicPr>
          <p:cNvPr id="1026" name="Picture 2"/>
          <p:cNvPicPr>
            <a:picLocks noGrp="1" noChangeAspect="1" noChangeArrowheads="1"/>
          </p:cNvPicPr>
          <p:nvPr>
            <p:ph idx="1"/>
          </p:nvPr>
        </p:nvPicPr>
        <p:blipFill>
          <a:blip r:embed="rId2" cstate="print"/>
          <a:srcRect/>
          <a:stretch>
            <a:fillRect/>
          </a:stretch>
        </p:blipFill>
        <p:spPr bwMode="auto">
          <a:xfrm>
            <a:off x="1943101" y="1753637"/>
            <a:ext cx="5579829" cy="4247114"/>
          </a:xfrm>
          <a:prstGeom prst="rect">
            <a:avLst/>
          </a:prstGeom>
          <a:noFill/>
          <a:ln w="9525">
            <a:noFill/>
            <a:miter lim="800000"/>
            <a:headEnd/>
            <a:tailEnd/>
          </a:ln>
          <a:effectLst/>
        </p:spPr>
      </p:pic>
    </p:spTree>
    <p:extLst>
      <p:ext uri="{BB962C8B-B14F-4D97-AF65-F5344CB8AC3E}">
        <p14:creationId xmlns:p14="http://schemas.microsoft.com/office/powerpoint/2010/main" val="37513768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txBox="1">
            <a:spLocks noGrp="1"/>
          </p:cNvSpPr>
          <p:nvPr>
            <p:ph type="title" idx="4294967295"/>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lgn="l">
              <a:buNone/>
            </a:pPr>
            <a:endParaRPr lang="tr-TR" sz="1350"/>
          </a:p>
        </p:txBody>
      </p:sp>
      <p:sp>
        <p:nvSpPr>
          <p:cNvPr id="3" name="İçerik Yer Tutucusu 2"/>
          <p:cNvSpPr txBox="1">
            <a:spLocks noGrp="1"/>
          </p:cNvSpPr>
          <p:nvPr>
            <p:ph type="body" idx="4294967295"/>
          </p:nvPr>
        </p:nvSpPr>
        <p:spPr/>
        <p:txBody>
          <a:bodyPr/>
          <a:lstStyle>
            <a:defPPr marL="432000" lvl="0" indent="-324000" algn="l" rtl="0" hangingPunct="1">
              <a:spcBef>
                <a:spcPts val="0"/>
              </a:spcBef>
              <a:spcAft>
                <a:spcPts val="1417"/>
              </a:spcAft>
              <a:buSzPct val="45000"/>
              <a:buFont typeface="StarSymbol"/>
              <a:buNone/>
              <a:defRPr lang="tr-TR"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tr-TR"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tr-TR"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tr-TR"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tr-TR"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tr-TR"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tr-TR"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tr-TR"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tr-TR"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tr-TR" sz="2000" b="0" i="0" u="none" strike="noStrike" kern="1200" spc="0">
                <a:ln>
                  <a:noFill/>
                </a:ln>
                <a:solidFill>
                  <a:srgbClr val="000000"/>
                </a:solidFill>
                <a:latin typeface="Calibri"/>
                <a:ea typeface="Microsoft YaHei" pitchFamily="2"/>
                <a:cs typeface="Mangal" pitchFamily="2"/>
              </a:defRPr>
            </a:lvl9pPr>
          </a:lstStyle>
          <a:p>
            <a:pPr lvl="0">
              <a:buNone/>
            </a:pPr>
            <a:endParaRPr lang="tr-TR">
              <a:latin typeface="" pitchFamily="18"/>
            </a:endParaRPr>
          </a:p>
        </p:txBody>
      </p:sp>
      <p:pic>
        <p:nvPicPr>
          <p:cNvPr id="4" name="Picture 2"/>
          <p:cNvPicPr>
            <a:picLocks noChangeAspect="1"/>
          </p:cNvPicPr>
          <p:nvPr/>
        </p:nvPicPr>
        <p:blipFill>
          <a:blip r:embed="rId3" cstate="print">
            <a:lum/>
            <a:alphaModFix/>
          </a:blip>
          <a:srcRect/>
          <a:stretch>
            <a:fillRect/>
          </a:stretch>
        </p:blipFill>
        <p:spPr>
          <a:xfrm>
            <a:off x="1925729" y="1646730"/>
            <a:ext cx="5454270" cy="3902850"/>
          </a:xfrm>
          <a:prstGeom prst="rect">
            <a:avLst/>
          </a:prstGeom>
          <a:noFill/>
          <a:ln>
            <a:noFill/>
          </a:ln>
        </p:spPr>
      </p:pic>
    </p:spTree>
    <p:extLst>
      <p:ext uri="{BB962C8B-B14F-4D97-AF65-F5344CB8AC3E}">
        <p14:creationId xmlns:p14="http://schemas.microsoft.com/office/powerpoint/2010/main" val="35677534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idx="1"/>
          </p:nvPr>
        </p:nvSpPr>
        <p:spPr/>
        <p:txBody>
          <a:bodyPr/>
          <a:lstStyle/>
          <a:p>
            <a:pPr algn="ctr" eaLnBrk="1" hangingPunct="1">
              <a:buFont typeface="Wingdings" pitchFamily="2" charset="2"/>
              <a:buNone/>
              <a:defRPr/>
            </a:pPr>
            <a:r>
              <a:rPr lang="tr-TR" sz="7700" b="1" dirty="0"/>
              <a:t>Bir telkinin </a:t>
            </a:r>
          </a:p>
          <a:p>
            <a:pPr algn="ctr" eaLnBrk="1" hangingPunct="1">
              <a:buFont typeface="Wingdings" pitchFamily="2" charset="2"/>
              <a:buNone/>
              <a:defRPr/>
            </a:pPr>
            <a:r>
              <a:rPr lang="tr-TR" sz="7700" b="1" dirty="0"/>
              <a:t>kabul edilmesidir</a:t>
            </a:r>
          </a:p>
        </p:txBody>
      </p:sp>
    </p:spTree>
    <p:extLst>
      <p:ext uri="{BB962C8B-B14F-4D97-AF65-F5344CB8AC3E}">
        <p14:creationId xmlns:p14="http://schemas.microsoft.com/office/powerpoint/2010/main" val="32827860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idx="1"/>
          </p:nvPr>
        </p:nvSpPr>
        <p:spPr>
          <a:xfrm>
            <a:off x="152400" y="990600"/>
            <a:ext cx="8229600" cy="4525963"/>
          </a:xfrm>
        </p:spPr>
        <p:txBody>
          <a:bodyPr/>
          <a:lstStyle/>
          <a:p>
            <a:pPr algn="ctr" eaLnBrk="1" hangingPunct="1">
              <a:buFont typeface="Wingdings" pitchFamily="2" charset="2"/>
              <a:buNone/>
              <a:defRPr/>
            </a:pPr>
            <a:r>
              <a:rPr lang="tr-TR" sz="7700" b="1" dirty="0"/>
              <a:t>Hipnoz ve trans birbirinden farklı kavramlardır</a:t>
            </a:r>
          </a:p>
        </p:txBody>
      </p:sp>
    </p:spTree>
    <p:extLst>
      <p:ext uri="{BB962C8B-B14F-4D97-AF65-F5344CB8AC3E}">
        <p14:creationId xmlns:p14="http://schemas.microsoft.com/office/powerpoint/2010/main" val="5088208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p:txBody>
          <a:bodyPr/>
          <a:lstStyle/>
          <a:p>
            <a:pPr algn="ctr" eaLnBrk="1" hangingPunct="1">
              <a:buFont typeface="Wingdings" pitchFamily="2" charset="2"/>
              <a:buNone/>
              <a:defRPr/>
            </a:pPr>
            <a:r>
              <a:rPr lang="tr-TR" sz="8800" b="1"/>
              <a:t>Trans nedir?</a:t>
            </a:r>
          </a:p>
        </p:txBody>
      </p:sp>
    </p:spTree>
    <p:extLst>
      <p:ext uri="{BB962C8B-B14F-4D97-AF65-F5344CB8AC3E}">
        <p14:creationId xmlns:p14="http://schemas.microsoft.com/office/powerpoint/2010/main" val="24823957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idx="1"/>
          </p:nvPr>
        </p:nvSpPr>
        <p:spPr>
          <a:xfrm>
            <a:off x="457200" y="1600200"/>
            <a:ext cx="8229600" cy="1828800"/>
          </a:xfrm>
        </p:spPr>
        <p:txBody>
          <a:bodyPr/>
          <a:lstStyle/>
          <a:p>
            <a:pPr algn="ctr" eaLnBrk="1" hangingPunct="1">
              <a:buFont typeface="Wingdings" pitchFamily="2" charset="2"/>
              <a:buNone/>
              <a:defRPr/>
            </a:pPr>
            <a:r>
              <a:rPr lang="tr-TR" sz="7700" b="1"/>
              <a:t>Odaklanmaktır</a:t>
            </a:r>
          </a:p>
        </p:txBody>
      </p:sp>
    </p:spTree>
    <p:extLst>
      <p:ext uri="{BB962C8B-B14F-4D97-AF65-F5344CB8AC3E}">
        <p14:creationId xmlns:p14="http://schemas.microsoft.com/office/powerpoint/2010/main" val="29611196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idx="1"/>
          </p:nvPr>
        </p:nvSpPr>
        <p:spPr>
          <a:xfrm>
            <a:off x="228600" y="1600200"/>
            <a:ext cx="8229600" cy="4852988"/>
          </a:xfrm>
        </p:spPr>
        <p:txBody>
          <a:bodyPr/>
          <a:lstStyle/>
          <a:p>
            <a:pPr algn="ctr" eaLnBrk="1" hangingPunct="1">
              <a:buFont typeface="Wingdings" pitchFamily="2" charset="2"/>
              <a:buNone/>
              <a:defRPr/>
            </a:pPr>
            <a:r>
              <a:rPr lang="tr-TR" sz="7700" b="1" dirty="0"/>
              <a:t>Hipnoz yapılmaz, olunur</a:t>
            </a:r>
          </a:p>
        </p:txBody>
      </p:sp>
    </p:spTree>
    <p:extLst>
      <p:ext uri="{BB962C8B-B14F-4D97-AF65-F5344CB8AC3E}">
        <p14:creationId xmlns:p14="http://schemas.microsoft.com/office/powerpoint/2010/main" val="20870502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468313" y="1268413"/>
            <a:ext cx="8229600" cy="4352925"/>
          </a:xfrm>
        </p:spPr>
        <p:txBody>
          <a:bodyPr/>
          <a:lstStyle/>
          <a:p>
            <a:pPr algn="ctr" eaLnBrk="1" hangingPunct="1">
              <a:buFont typeface="Wingdings" pitchFamily="2" charset="2"/>
              <a:buNone/>
              <a:defRPr/>
            </a:pPr>
            <a:r>
              <a:rPr lang="tr-TR" sz="6600" b="1" dirty="0"/>
              <a:t>Telkin kabul eden </a:t>
            </a:r>
          </a:p>
          <a:p>
            <a:pPr algn="ctr" eaLnBrk="1" hangingPunct="1">
              <a:buFont typeface="Wingdings" pitchFamily="2" charset="2"/>
              <a:buNone/>
              <a:defRPr/>
            </a:pPr>
            <a:r>
              <a:rPr lang="tr-TR" sz="6600" b="1" dirty="0"/>
              <a:t>her durum </a:t>
            </a:r>
          </a:p>
          <a:p>
            <a:pPr algn="ctr" eaLnBrk="1" hangingPunct="1">
              <a:buFont typeface="Wingdings" pitchFamily="2" charset="2"/>
              <a:buNone/>
              <a:defRPr/>
            </a:pPr>
            <a:r>
              <a:rPr lang="tr-TR" sz="6600" b="1" dirty="0"/>
              <a:t>hipnotik durumdur</a:t>
            </a:r>
          </a:p>
        </p:txBody>
      </p:sp>
    </p:spTree>
    <p:extLst>
      <p:ext uri="{BB962C8B-B14F-4D97-AF65-F5344CB8AC3E}">
        <p14:creationId xmlns:p14="http://schemas.microsoft.com/office/powerpoint/2010/main" val="24030447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a:xfrm>
            <a:off x="304800" y="1143000"/>
            <a:ext cx="8229600" cy="4525962"/>
          </a:xfrm>
        </p:spPr>
        <p:txBody>
          <a:bodyPr/>
          <a:lstStyle/>
          <a:p>
            <a:pPr algn="ctr" eaLnBrk="1" hangingPunct="1">
              <a:buFont typeface="Wingdings" pitchFamily="2" charset="2"/>
              <a:buNone/>
              <a:defRPr/>
            </a:pPr>
            <a:r>
              <a:rPr lang="tr-TR" sz="6600" b="1" dirty="0"/>
              <a:t>Hipnoz olabilmek için hipnoz olmayı istemek yeterlidir.</a:t>
            </a:r>
          </a:p>
        </p:txBody>
      </p:sp>
    </p:spTree>
    <p:extLst>
      <p:ext uri="{BB962C8B-B14F-4D97-AF65-F5344CB8AC3E}">
        <p14:creationId xmlns:p14="http://schemas.microsoft.com/office/powerpoint/2010/main" val="20623819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468313" y="2781300"/>
            <a:ext cx="7772400" cy="1431925"/>
          </a:xfrm>
        </p:spPr>
        <p:txBody>
          <a:bodyPr>
            <a:normAutofit fontScale="90000"/>
          </a:bodyPr>
          <a:lstStyle/>
          <a:p>
            <a:pPr eaLnBrk="1" hangingPunct="1">
              <a:defRPr/>
            </a:pPr>
            <a:r>
              <a:rPr lang="tr-TR" sz="7200" u="sng" dirty="0"/>
              <a:t>Hİpnozun bİleşenlerİ</a:t>
            </a:r>
          </a:p>
        </p:txBody>
      </p:sp>
    </p:spTree>
    <p:extLst>
      <p:ext uri="{BB962C8B-B14F-4D97-AF65-F5344CB8AC3E}">
        <p14:creationId xmlns:p14="http://schemas.microsoft.com/office/powerpoint/2010/main" val="3691795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rrowheads="1"/>
          </p:cNvSpPr>
          <p:nvPr>
            <p:ph type="title"/>
          </p:nvPr>
        </p:nvSpPr>
        <p:spPr/>
        <p:txBody>
          <a:bodyPr>
            <a:normAutofit fontScale="90000"/>
          </a:bodyPr>
          <a:lstStyle/>
          <a:p>
            <a:pPr eaLnBrk="1" hangingPunct="1">
              <a:defRPr/>
            </a:pPr>
            <a:r>
              <a:rPr lang="tr-TR" sz="4800" b="0" dirty="0">
                <a:solidFill>
                  <a:srgbClr val="FF0000"/>
                </a:solidFill>
              </a:rPr>
              <a:t>Hayal</a:t>
            </a:r>
          </a:p>
        </p:txBody>
      </p:sp>
      <p:sp>
        <p:nvSpPr>
          <p:cNvPr id="6147" name="Rectangle 3"/>
          <p:cNvSpPr>
            <a:spLocks noGrp="1" noChangeArrowheads="1"/>
          </p:cNvSpPr>
          <p:nvPr>
            <p:ph idx="1"/>
          </p:nvPr>
        </p:nvSpPr>
        <p:spPr/>
        <p:txBody>
          <a:bodyPr>
            <a:normAutofit lnSpcReduction="10000"/>
          </a:bodyPr>
          <a:lstStyle/>
          <a:p>
            <a:pPr eaLnBrk="1" hangingPunct="1">
              <a:lnSpc>
                <a:spcPct val="90000"/>
              </a:lnSpc>
              <a:buFont typeface="Wingdings" pitchFamily="2" charset="2"/>
              <a:buNone/>
              <a:defRPr/>
            </a:pPr>
            <a:endParaRPr lang="tr-TR" dirty="0">
              <a:solidFill>
                <a:schemeClr val="hlink"/>
              </a:solidFill>
            </a:endParaRPr>
          </a:p>
          <a:p>
            <a:pPr algn="ctr" eaLnBrk="1" hangingPunct="1">
              <a:lnSpc>
                <a:spcPct val="90000"/>
              </a:lnSpc>
              <a:buFont typeface="Wingdings" pitchFamily="2" charset="2"/>
              <a:buNone/>
              <a:defRPr/>
            </a:pPr>
            <a:r>
              <a:rPr lang="tr-TR" sz="6600" b="1" dirty="0">
                <a:solidFill>
                  <a:schemeClr val="hlink"/>
                </a:solidFill>
              </a:rPr>
              <a:t>Hayal bilinçaltının dilidir. </a:t>
            </a:r>
          </a:p>
          <a:p>
            <a:pPr eaLnBrk="1" hangingPunct="1">
              <a:lnSpc>
                <a:spcPct val="90000"/>
              </a:lnSpc>
              <a:buFont typeface="Wingdings" pitchFamily="2" charset="2"/>
              <a:buNone/>
              <a:defRPr/>
            </a:pPr>
            <a:endParaRPr lang="tr-TR" sz="6600" b="1" dirty="0">
              <a:solidFill>
                <a:schemeClr val="hlink"/>
              </a:solidFill>
            </a:endParaRPr>
          </a:p>
        </p:txBody>
      </p:sp>
    </p:spTree>
    <p:extLst>
      <p:ext uri="{BB962C8B-B14F-4D97-AF65-F5344CB8AC3E}">
        <p14:creationId xmlns:p14="http://schemas.microsoft.com/office/powerpoint/2010/main" val="23275231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p:txBody>
          <a:bodyPr>
            <a:normAutofit/>
          </a:bodyPr>
          <a:lstStyle/>
          <a:p>
            <a:pPr eaLnBrk="1" hangingPunct="1">
              <a:defRPr/>
            </a:pPr>
            <a:r>
              <a:rPr lang="tr-TR" b="0" dirty="0">
                <a:solidFill>
                  <a:srgbClr val="FF0000"/>
                </a:solidFill>
              </a:rPr>
              <a:t>İnanç </a:t>
            </a:r>
          </a:p>
        </p:txBody>
      </p:sp>
      <p:sp>
        <p:nvSpPr>
          <p:cNvPr id="7171" name="Rectangle 3"/>
          <p:cNvSpPr>
            <a:spLocks noGrp="1" noChangeArrowheads="1"/>
          </p:cNvSpPr>
          <p:nvPr>
            <p:ph idx="1"/>
          </p:nvPr>
        </p:nvSpPr>
        <p:spPr>
          <a:xfrm>
            <a:off x="762000" y="2286000"/>
            <a:ext cx="7315200" cy="3200401"/>
          </a:xfrm>
        </p:spPr>
        <p:txBody>
          <a:bodyPr>
            <a:normAutofit fontScale="70000" lnSpcReduction="20000"/>
          </a:bodyPr>
          <a:lstStyle/>
          <a:p>
            <a:pPr algn="ctr" eaLnBrk="1" hangingPunct="1">
              <a:lnSpc>
                <a:spcPct val="80000"/>
              </a:lnSpc>
              <a:buFont typeface="Wingdings" pitchFamily="2" charset="2"/>
              <a:buNone/>
              <a:defRPr/>
            </a:pPr>
            <a:endParaRPr lang="tr-TR" sz="6600" b="1" dirty="0">
              <a:solidFill>
                <a:schemeClr val="hlink"/>
              </a:solidFill>
            </a:endParaRPr>
          </a:p>
          <a:p>
            <a:pPr algn="ctr" eaLnBrk="1" hangingPunct="1">
              <a:lnSpc>
                <a:spcPct val="80000"/>
              </a:lnSpc>
              <a:buFont typeface="Wingdings" pitchFamily="2" charset="2"/>
              <a:buNone/>
              <a:defRPr/>
            </a:pPr>
            <a:r>
              <a:rPr lang="tr-TR" sz="6600" b="1" dirty="0">
                <a:solidFill>
                  <a:schemeClr val="hlink"/>
                </a:solidFill>
              </a:rPr>
              <a:t>Bir kişi neyin olacağına inanırsa, farkında olmasa da </a:t>
            </a:r>
          </a:p>
          <a:p>
            <a:pPr algn="ctr" eaLnBrk="1" hangingPunct="1">
              <a:lnSpc>
                <a:spcPct val="80000"/>
              </a:lnSpc>
              <a:buFont typeface="Wingdings" pitchFamily="2" charset="2"/>
              <a:buNone/>
              <a:defRPr/>
            </a:pPr>
            <a:r>
              <a:rPr lang="tr-TR" sz="6600" b="1" dirty="0">
                <a:solidFill>
                  <a:schemeClr val="hlink"/>
                </a:solidFill>
              </a:rPr>
              <a:t>o yönde hareket eder. </a:t>
            </a:r>
          </a:p>
          <a:p>
            <a:pPr eaLnBrk="1" hangingPunct="1">
              <a:lnSpc>
                <a:spcPct val="80000"/>
              </a:lnSpc>
              <a:buFont typeface="Wingdings" pitchFamily="2" charset="2"/>
              <a:buNone/>
              <a:defRPr/>
            </a:pPr>
            <a:endParaRPr lang="tr-TR" sz="6600" b="1" dirty="0">
              <a:solidFill>
                <a:schemeClr val="hlink"/>
              </a:solidFill>
            </a:endParaRPr>
          </a:p>
          <a:p>
            <a:pPr eaLnBrk="1" hangingPunct="1">
              <a:lnSpc>
                <a:spcPct val="80000"/>
              </a:lnSpc>
              <a:buFont typeface="Wingdings" pitchFamily="2" charset="2"/>
              <a:buNone/>
              <a:defRPr/>
            </a:pPr>
            <a:br>
              <a:rPr lang="tr-TR" sz="2400" dirty="0"/>
            </a:br>
            <a:endParaRPr lang="tr-TR" sz="2400" dirty="0"/>
          </a:p>
        </p:txBody>
      </p:sp>
    </p:spTree>
    <p:extLst>
      <p:ext uri="{BB962C8B-B14F-4D97-AF65-F5344CB8AC3E}">
        <p14:creationId xmlns:p14="http://schemas.microsoft.com/office/powerpoint/2010/main" val="32267027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468313" y="0"/>
            <a:ext cx="8229600" cy="1143000"/>
          </a:xfrm>
        </p:spPr>
        <p:txBody>
          <a:bodyPr/>
          <a:lstStyle/>
          <a:p>
            <a:pPr eaLnBrk="1" hangingPunct="1">
              <a:defRPr/>
            </a:pPr>
            <a:endParaRPr lang="tr-TR" dirty="0">
              <a:solidFill>
                <a:srgbClr val="FF0000"/>
              </a:solidFill>
            </a:endParaRPr>
          </a:p>
        </p:txBody>
      </p:sp>
      <p:sp>
        <p:nvSpPr>
          <p:cNvPr id="8195" name="Rectangle 3"/>
          <p:cNvSpPr>
            <a:spLocks noGrp="1" noChangeArrowheads="1"/>
          </p:cNvSpPr>
          <p:nvPr>
            <p:ph idx="1"/>
          </p:nvPr>
        </p:nvSpPr>
        <p:spPr>
          <a:xfrm>
            <a:off x="395288" y="1125538"/>
            <a:ext cx="8229600" cy="4525962"/>
          </a:xfrm>
        </p:spPr>
        <p:txBody>
          <a:bodyPr>
            <a:normAutofit/>
          </a:bodyPr>
          <a:lstStyle/>
          <a:p>
            <a:pPr algn="ctr">
              <a:lnSpc>
                <a:spcPct val="80000"/>
              </a:lnSpc>
              <a:buNone/>
              <a:defRPr/>
            </a:pPr>
            <a:r>
              <a:rPr lang="tr-TR" sz="6600" dirty="0">
                <a:solidFill>
                  <a:srgbClr val="FF0000"/>
                </a:solidFill>
              </a:rPr>
              <a:t>Beklenti ve İkna</a:t>
            </a:r>
          </a:p>
          <a:p>
            <a:pPr algn="ctr">
              <a:lnSpc>
                <a:spcPct val="80000"/>
              </a:lnSpc>
              <a:buNone/>
              <a:defRPr/>
            </a:pPr>
            <a:r>
              <a:rPr lang="tr-TR" sz="5400" dirty="0">
                <a:solidFill>
                  <a:schemeClr val="hlink"/>
                </a:solidFill>
              </a:rPr>
              <a:t>Bir kişiyi hipnoz edeceğinize </a:t>
            </a:r>
          </a:p>
          <a:p>
            <a:pPr algn="ctr">
              <a:lnSpc>
                <a:spcPct val="80000"/>
              </a:lnSpc>
              <a:buNone/>
              <a:defRPr/>
            </a:pPr>
            <a:r>
              <a:rPr lang="tr-TR" sz="5400" dirty="0">
                <a:solidFill>
                  <a:schemeClr val="hlink"/>
                </a:solidFill>
              </a:rPr>
              <a:t>ikna ederseniz, </a:t>
            </a:r>
          </a:p>
          <a:p>
            <a:pPr algn="ctr">
              <a:lnSpc>
                <a:spcPct val="80000"/>
              </a:lnSpc>
              <a:buNone/>
              <a:defRPr/>
            </a:pPr>
            <a:r>
              <a:rPr lang="tr-TR" sz="5400" dirty="0">
                <a:solidFill>
                  <a:schemeClr val="hlink"/>
                </a:solidFill>
              </a:rPr>
              <a:t>olma beklentisi artar</a:t>
            </a:r>
          </a:p>
        </p:txBody>
      </p:sp>
    </p:spTree>
    <p:extLst>
      <p:ext uri="{BB962C8B-B14F-4D97-AF65-F5344CB8AC3E}">
        <p14:creationId xmlns:p14="http://schemas.microsoft.com/office/powerpoint/2010/main" val="22148075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rrowheads="1"/>
          </p:cNvSpPr>
          <p:nvPr>
            <p:ph type="title"/>
          </p:nvPr>
        </p:nvSpPr>
        <p:spPr>
          <a:xfrm>
            <a:off x="1447800" y="188913"/>
            <a:ext cx="7250113" cy="45719"/>
          </a:xfrm>
        </p:spPr>
        <p:txBody>
          <a:bodyPr>
            <a:normAutofit fontScale="90000"/>
          </a:bodyPr>
          <a:lstStyle/>
          <a:p>
            <a:pPr eaLnBrk="1" hangingPunct="1">
              <a:defRPr/>
            </a:pPr>
            <a:endParaRPr lang="tr-TR" sz="4000" dirty="0">
              <a:solidFill>
                <a:srgbClr val="CCFF66"/>
              </a:solidFill>
            </a:endParaRPr>
          </a:p>
        </p:txBody>
      </p:sp>
      <p:sp>
        <p:nvSpPr>
          <p:cNvPr id="9219" name="Rectangle 3"/>
          <p:cNvSpPr>
            <a:spLocks noGrp="1" noChangeArrowheads="1"/>
          </p:cNvSpPr>
          <p:nvPr>
            <p:ph idx="1"/>
          </p:nvPr>
        </p:nvSpPr>
        <p:spPr>
          <a:xfrm>
            <a:off x="685800" y="1524000"/>
            <a:ext cx="7620000" cy="4267200"/>
          </a:xfrm>
        </p:spPr>
        <p:txBody>
          <a:bodyPr>
            <a:normAutofit fontScale="62500" lnSpcReduction="20000"/>
          </a:bodyPr>
          <a:lstStyle/>
          <a:p>
            <a:pPr algn="ctr">
              <a:buNone/>
              <a:defRPr/>
            </a:pPr>
            <a:r>
              <a:rPr lang="tr-TR" sz="6000" dirty="0">
                <a:solidFill>
                  <a:srgbClr val="FF0000"/>
                </a:solidFill>
              </a:rPr>
              <a:t>Hipnozun Bileşenlerini Karıştırmak</a:t>
            </a:r>
          </a:p>
          <a:p>
            <a:pPr algn="ctr">
              <a:buNone/>
              <a:defRPr/>
            </a:pPr>
            <a:endParaRPr lang="tr-TR" sz="6000" b="1" dirty="0">
              <a:solidFill>
                <a:schemeClr val="hlink"/>
              </a:solidFill>
            </a:endParaRPr>
          </a:p>
          <a:p>
            <a:pPr algn="ctr">
              <a:buNone/>
              <a:defRPr/>
            </a:pPr>
            <a:r>
              <a:rPr lang="tr-TR" sz="6000" b="1" dirty="0">
                <a:solidFill>
                  <a:schemeClr val="hlink"/>
                </a:solidFill>
              </a:rPr>
              <a:t>Hayal + İnanç +  Beklenti + İkna = Sonuç ( HİBİ)</a:t>
            </a:r>
            <a:r>
              <a:rPr lang="tr-TR" sz="6000" dirty="0">
                <a:solidFill>
                  <a:schemeClr val="hlink"/>
                </a:solidFill>
              </a:rPr>
              <a:t>  </a:t>
            </a:r>
            <a:br>
              <a:rPr lang="tr-TR" sz="6000" dirty="0">
                <a:solidFill>
                  <a:schemeClr val="hlink"/>
                </a:solidFill>
              </a:rPr>
            </a:br>
            <a:endParaRPr lang="tr-TR" sz="6000" dirty="0">
              <a:solidFill>
                <a:schemeClr val="hlink"/>
              </a:solidFill>
            </a:endParaRPr>
          </a:p>
        </p:txBody>
      </p:sp>
    </p:spTree>
    <p:extLst>
      <p:ext uri="{BB962C8B-B14F-4D97-AF65-F5344CB8AC3E}">
        <p14:creationId xmlns:p14="http://schemas.microsoft.com/office/powerpoint/2010/main" val="11406156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838200" y="2133600"/>
            <a:ext cx="7467600" cy="3505200"/>
          </a:xfrm>
        </p:spPr>
        <p:txBody>
          <a:bodyPr>
            <a:normAutofit fontScale="77500" lnSpcReduction="20000"/>
          </a:bodyPr>
          <a:lstStyle/>
          <a:p>
            <a:pPr algn="ctr" eaLnBrk="1" hangingPunct="1">
              <a:defRPr/>
            </a:pPr>
            <a:r>
              <a:rPr lang="tr-TR" sz="5500" b="1" dirty="0">
                <a:solidFill>
                  <a:schemeClr val="hlink"/>
                </a:solidFill>
              </a:rPr>
              <a:t>Hayal inancı besler. </a:t>
            </a:r>
          </a:p>
          <a:p>
            <a:pPr algn="ctr" eaLnBrk="1" hangingPunct="1">
              <a:defRPr/>
            </a:pPr>
            <a:r>
              <a:rPr lang="tr-TR" sz="5500" b="1" dirty="0">
                <a:solidFill>
                  <a:schemeClr val="hlink"/>
                </a:solidFill>
              </a:rPr>
              <a:t>Bu ikisi, </a:t>
            </a:r>
          </a:p>
          <a:p>
            <a:pPr algn="ctr" eaLnBrk="1" hangingPunct="1">
              <a:defRPr/>
            </a:pPr>
            <a:r>
              <a:rPr lang="tr-TR" sz="5500" b="1" dirty="0">
                <a:solidFill>
                  <a:schemeClr val="hlink"/>
                </a:solidFill>
              </a:rPr>
              <a:t>beklenti ve iknayı doğurur.  </a:t>
            </a:r>
          </a:p>
          <a:p>
            <a:pPr eaLnBrk="1" hangingPunct="1">
              <a:buFont typeface="Wingdings" pitchFamily="2" charset="2"/>
              <a:buNone/>
              <a:defRPr/>
            </a:pPr>
            <a:endParaRPr lang="tr-TR" sz="5500" b="1" dirty="0">
              <a:solidFill>
                <a:schemeClr val="hlink"/>
              </a:solidFill>
            </a:endParaRPr>
          </a:p>
          <a:p>
            <a:pPr eaLnBrk="1" hangingPunct="1">
              <a:buFont typeface="Wingdings" pitchFamily="2" charset="2"/>
              <a:buNone/>
              <a:defRPr/>
            </a:pPr>
            <a:endParaRPr lang="tr-TR" dirty="0"/>
          </a:p>
        </p:txBody>
      </p:sp>
    </p:spTree>
    <p:extLst>
      <p:ext uri="{BB962C8B-B14F-4D97-AF65-F5344CB8AC3E}">
        <p14:creationId xmlns:p14="http://schemas.microsoft.com/office/powerpoint/2010/main" val="2874286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a:xfrm>
            <a:off x="1066800" y="990600"/>
            <a:ext cx="7010400" cy="1143000"/>
          </a:xfrm>
        </p:spPr>
        <p:txBody>
          <a:bodyPr>
            <a:normAutofit fontScale="90000"/>
          </a:bodyPr>
          <a:lstStyle/>
          <a:p>
            <a:pPr>
              <a:defRPr/>
            </a:pPr>
            <a:r>
              <a:rPr lang="tr-TR" sz="4000" cap="none" dirty="0">
                <a:solidFill>
                  <a:srgbClr val="FF0000"/>
                </a:solidFill>
              </a:rPr>
              <a:t>Bir hipnoterapist </a:t>
            </a:r>
            <a:br>
              <a:rPr lang="tr-TR" sz="4000" cap="none" dirty="0">
                <a:solidFill>
                  <a:srgbClr val="FF0000"/>
                </a:solidFill>
              </a:rPr>
            </a:br>
            <a:r>
              <a:rPr lang="tr-TR" sz="4000" cap="none" dirty="0">
                <a:solidFill>
                  <a:srgbClr val="FF0000"/>
                </a:solidFill>
              </a:rPr>
              <a:t>bu bileşenleri nasıl kullanmalı?</a:t>
            </a:r>
            <a:endParaRPr lang="tr-TR" sz="4000" cap="none" dirty="0">
              <a:solidFill>
                <a:srgbClr val="CCFF66"/>
              </a:solidFill>
            </a:endParaRPr>
          </a:p>
        </p:txBody>
      </p:sp>
      <p:sp>
        <p:nvSpPr>
          <p:cNvPr id="14339" name="Rectangle 3"/>
          <p:cNvSpPr>
            <a:spLocks noGrp="1" noChangeArrowheads="1"/>
          </p:cNvSpPr>
          <p:nvPr>
            <p:ph idx="1"/>
          </p:nvPr>
        </p:nvSpPr>
        <p:spPr>
          <a:xfrm>
            <a:off x="685800" y="1676400"/>
            <a:ext cx="7696200" cy="4800600"/>
          </a:xfrm>
        </p:spPr>
        <p:txBody>
          <a:bodyPr>
            <a:normAutofit fontScale="55000" lnSpcReduction="20000"/>
          </a:bodyPr>
          <a:lstStyle/>
          <a:p>
            <a:pPr algn="ctr">
              <a:defRPr/>
            </a:pPr>
            <a:endParaRPr lang="tr-TR" sz="4600" dirty="0">
              <a:solidFill>
                <a:srgbClr val="FF0000"/>
              </a:solidFill>
            </a:endParaRPr>
          </a:p>
          <a:p>
            <a:pPr>
              <a:defRPr/>
            </a:pPr>
            <a:r>
              <a:rPr lang="tr-TR" sz="4600" dirty="0"/>
              <a:t>kişiye hipnotize olabileceğini </a:t>
            </a:r>
            <a:r>
              <a:rPr lang="tr-TR" sz="4600" u="sng" dirty="0"/>
              <a:t>hayal</a:t>
            </a:r>
            <a:r>
              <a:rPr lang="tr-TR" sz="4600" dirty="0"/>
              <a:t> ettirmeli.  </a:t>
            </a:r>
          </a:p>
          <a:p>
            <a:pPr eaLnBrk="1" hangingPunct="1">
              <a:defRPr/>
            </a:pPr>
            <a:r>
              <a:rPr lang="tr-TR" sz="4600" dirty="0"/>
              <a:t>kişi hipnoz olacağına </a:t>
            </a:r>
            <a:r>
              <a:rPr lang="tr-TR" sz="4600" u="sng" dirty="0"/>
              <a:t>inanmalı </a:t>
            </a:r>
            <a:r>
              <a:rPr lang="tr-TR" sz="4600" dirty="0"/>
              <a:t>ve sizin de bu işlemi   </a:t>
            </a:r>
          </a:p>
          <a:p>
            <a:pPr indent="0" eaLnBrk="1" hangingPunct="1">
              <a:buNone/>
              <a:defRPr/>
            </a:pPr>
            <a:r>
              <a:rPr lang="tr-TR" sz="4600" dirty="0"/>
              <a:t>    kolaylaştırma yeteneğiniz olduğuna inanmalı.  </a:t>
            </a:r>
          </a:p>
          <a:p>
            <a:pPr eaLnBrk="1" hangingPunct="1">
              <a:defRPr/>
            </a:pPr>
            <a:r>
              <a:rPr lang="tr-TR" sz="4600" dirty="0"/>
              <a:t>Kişi, hipnotize olacağı </a:t>
            </a:r>
            <a:r>
              <a:rPr lang="tr-TR" sz="4600" u="sng" dirty="0"/>
              <a:t>beklentisi</a:t>
            </a:r>
            <a:r>
              <a:rPr lang="tr-TR" sz="4600" dirty="0"/>
              <a:t> içine girmelidir. </a:t>
            </a:r>
          </a:p>
          <a:p>
            <a:pPr eaLnBrk="1" hangingPunct="1">
              <a:defRPr/>
            </a:pPr>
            <a:r>
              <a:rPr lang="tr-TR" sz="4600" dirty="0"/>
              <a:t>Ve bunun, sürekli bir başarı elde etmek için olması  </a:t>
            </a:r>
          </a:p>
          <a:p>
            <a:pPr indent="0" eaLnBrk="1" hangingPunct="1">
              <a:buNone/>
              <a:defRPr/>
            </a:pPr>
            <a:r>
              <a:rPr lang="tr-TR" sz="4600" dirty="0"/>
              <a:t>    gerektiğine </a:t>
            </a:r>
            <a:r>
              <a:rPr lang="tr-TR" sz="4600" u="sng" dirty="0"/>
              <a:t>ikna </a:t>
            </a:r>
            <a:r>
              <a:rPr lang="tr-TR" sz="4600" dirty="0"/>
              <a:t>olmuş olması gerekir. </a:t>
            </a:r>
            <a:br>
              <a:rPr lang="tr-TR" sz="2800" dirty="0">
                <a:solidFill>
                  <a:schemeClr val="hlink"/>
                </a:solidFill>
              </a:rPr>
            </a:br>
            <a:r>
              <a:rPr lang="tr-TR" sz="2800" dirty="0"/>
              <a:t> </a:t>
            </a:r>
          </a:p>
        </p:txBody>
      </p:sp>
    </p:spTree>
    <p:extLst>
      <p:ext uri="{BB962C8B-B14F-4D97-AF65-F5344CB8AC3E}">
        <p14:creationId xmlns:p14="http://schemas.microsoft.com/office/powerpoint/2010/main" val="21863211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AFF0648F-CE34-0C53-3AE1-750D0BAD765E}"/>
              </a:ext>
            </a:extLst>
          </p:cNvPr>
          <p:cNvSpPr>
            <a:spLocks noGrp="1"/>
          </p:cNvSpPr>
          <p:nvPr>
            <p:ph idx="1"/>
          </p:nvPr>
        </p:nvSpPr>
        <p:spPr/>
        <p:txBody>
          <a:bodyPr>
            <a:normAutofit/>
          </a:bodyPr>
          <a:lstStyle/>
          <a:p>
            <a:r>
              <a:rPr lang="tr-TR" dirty="0"/>
              <a:t>Charles </a:t>
            </a:r>
            <a:r>
              <a:rPr lang="tr-TR" dirty="0" err="1"/>
              <a:t>Tebbetts</a:t>
            </a:r>
            <a:r>
              <a:rPr lang="tr-TR" dirty="0"/>
              <a:t> bilinçaltını ikna etmenin 5 metodu olduğundan bahsetmiştir. </a:t>
            </a:r>
          </a:p>
          <a:p>
            <a:r>
              <a:rPr lang="tr-TR" dirty="0"/>
              <a:t>Bu yöntemlere kısaca değinirken bu yaklaşımlara « alışkanlık kontrolü ve motivasyon için yararlı yaklaşımlar» adını vermekte fayda var aslında. </a:t>
            </a:r>
          </a:p>
          <a:p>
            <a:r>
              <a:rPr lang="tr-TR" dirty="0"/>
              <a:t>Bunlar bilinçaltına açılan 5 kapı niteliğindedir.</a:t>
            </a:r>
          </a:p>
          <a:p>
            <a:endParaRPr lang="tr-TR" dirty="0"/>
          </a:p>
        </p:txBody>
      </p:sp>
      <p:sp>
        <p:nvSpPr>
          <p:cNvPr id="3" name="Başlık 2">
            <a:extLst>
              <a:ext uri="{FF2B5EF4-FFF2-40B4-BE49-F238E27FC236}">
                <a16:creationId xmlns:a16="http://schemas.microsoft.com/office/drawing/2014/main" id="{3630B883-DBF3-B79F-D8F8-BAC9BAFF857F}"/>
              </a:ext>
            </a:extLst>
          </p:cNvPr>
          <p:cNvSpPr>
            <a:spLocks noGrp="1"/>
          </p:cNvSpPr>
          <p:nvPr>
            <p:ph type="title"/>
          </p:nvPr>
        </p:nvSpPr>
        <p:spPr>
          <a:xfrm>
            <a:off x="457200" y="274638"/>
            <a:ext cx="8458200" cy="1143000"/>
          </a:xfrm>
        </p:spPr>
        <p:txBody>
          <a:bodyPr>
            <a:normAutofit fontScale="90000"/>
          </a:bodyPr>
          <a:lstStyle/>
          <a:p>
            <a:r>
              <a:rPr lang="tr-TR" dirty="0"/>
              <a:t>Bilinçaltı Programlamanın 5 yöntemi</a:t>
            </a:r>
          </a:p>
        </p:txBody>
      </p:sp>
    </p:spTree>
    <p:extLst>
      <p:ext uri="{BB962C8B-B14F-4D97-AF65-F5344CB8AC3E}">
        <p14:creationId xmlns:p14="http://schemas.microsoft.com/office/powerpoint/2010/main" val="42912860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2B8A5A5B-466E-6441-BF75-50B8E40B9C6B}"/>
              </a:ext>
            </a:extLst>
          </p:cNvPr>
          <p:cNvSpPr>
            <a:spLocks noGrp="1"/>
          </p:cNvSpPr>
          <p:nvPr>
            <p:ph idx="1"/>
          </p:nvPr>
        </p:nvSpPr>
        <p:spPr/>
        <p:txBody>
          <a:bodyPr>
            <a:normAutofit/>
          </a:bodyPr>
          <a:lstStyle/>
          <a:p>
            <a:endParaRPr lang="tr-TR" sz="3200" dirty="0"/>
          </a:p>
          <a:p>
            <a:r>
              <a:rPr lang="tr-TR" sz="3200" dirty="0"/>
              <a:t>Tekrar, yavaş, zor ama yeteri kadar zaman verilirse ve güçlü bir bilinçaltı direnç yoksa işe yaramaktadır.</a:t>
            </a:r>
          </a:p>
          <a:p>
            <a:endParaRPr lang="tr-TR" dirty="0"/>
          </a:p>
        </p:txBody>
      </p:sp>
      <p:sp>
        <p:nvSpPr>
          <p:cNvPr id="3" name="Başlık 2">
            <a:extLst>
              <a:ext uri="{FF2B5EF4-FFF2-40B4-BE49-F238E27FC236}">
                <a16:creationId xmlns:a16="http://schemas.microsoft.com/office/drawing/2014/main" id="{E3969495-3CD6-CE3F-30F9-3E47272E711B}"/>
              </a:ext>
            </a:extLst>
          </p:cNvPr>
          <p:cNvSpPr>
            <a:spLocks noGrp="1"/>
          </p:cNvSpPr>
          <p:nvPr>
            <p:ph type="title"/>
          </p:nvPr>
        </p:nvSpPr>
        <p:spPr/>
        <p:txBody>
          <a:bodyPr/>
          <a:lstStyle/>
          <a:p>
            <a:pPr algn="ctr"/>
            <a:r>
              <a:rPr lang="tr-TR" dirty="0"/>
              <a:t>Tekrar etmek:</a:t>
            </a:r>
          </a:p>
        </p:txBody>
      </p:sp>
    </p:spTree>
    <p:extLst>
      <p:ext uri="{BB962C8B-B14F-4D97-AF65-F5344CB8AC3E}">
        <p14:creationId xmlns:p14="http://schemas.microsoft.com/office/powerpoint/2010/main" val="28668558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1B46CE44-AC79-9C0B-508A-CE7FBF18FDBA}"/>
              </a:ext>
            </a:extLst>
          </p:cNvPr>
          <p:cNvSpPr>
            <a:spLocks noGrp="1"/>
          </p:cNvSpPr>
          <p:nvPr>
            <p:ph idx="1"/>
          </p:nvPr>
        </p:nvSpPr>
        <p:spPr/>
        <p:txBody>
          <a:bodyPr>
            <a:normAutofit/>
          </a:bodyPr>
          <a:lstStyle/>
          <a:p>
            <a:endParaRPr lang="tr-TR" sz="3200" dirty="0"/>
          </a:p>
          <a:p>
            <a:r>
              <a:rPr lang="tr-TR" sz="3200" dirty="0"/>
              <a:t>Otorite pozisyonunda olan kişiler, aile bireyleri, öğretmenler, doktorlar, yöneticiler vs. bilinçaltımıza iz bırakırlar. </a:t>
            </a:r>
          </a:p>
          <a:p>
            <a:endParaRPr lang="tr-TR" dirty="0"/>
          </a:p>
        </p:txBody>
      </p:sp>
      <p:sp>
        <p:nvSpPr>
          <p:cNvPr id="3" name="Başlık 2">
            <a:extLst>
              <a:ext uri="{FF2B5EF4-FFF2-40B4-BE49-F238E27FC236}">
                <a16:creationId xmlns:a16="http://schemas.microsoft.com/office/drawing/2014/main" id="{38302056-FDCA-FBA3-95F6-0A6B90F8F547}"/>
              </a:ext>
            </a:extLst>
          </p:cNvPr>
          <p:cNvSpPr>
            <a:spLocks noGrp="1"/>
          </p:cNvSpPr>
          <p:nvPr>
            <p:ph type="title"/>
          </p:nvPr>
        </p:nvSpPr>
        <p:spPr/>
        <p:txBody>
          <a:bodyPr/>
          <a:lstStyle/>
          <a:p>
            <a:pPr algn="ctr"/>
            <a:r>
              <a:rPr lang="tr-TR" sz="4400" dirty="0"/>
              <a:t>Otorite figürleri:</a:t>
            </a:r>
            <a:endParaRPr lang="tr-TR" dirty="0"/>
          </a:p>
        </p:txBody>
      </p:sp>
    </p:spTree>
    <p:extLst>
      <p:ext uri="{BB962C8B-B14F-4D97-AF65-F5344CB8AC3E}">
        <p14:creationId xmlns:p14="http://schemas.microsoft.com/office/powerpoint/2010/main" val="24126758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7F6643D7-8523-2711-BA45-2E4E8C64FB70}"/>
              </a:ext>
            </a:extLst>
          </p:cNvPr>
          <p:cNvSpPr>
            <a:spLocks noGrp="1"/>
          </p:cNvSpPr>
          <p:nvPr>
            <p:ph idx="1"/>
          </p:nvPr>
        </p:nvSpPr>
        <p:spPr/>
        <p:txBody>
          <a:bodyPr/>
          <a:lstStyle/>
          <a:p>
            <a:r>
              <a:rPr lang="tr-TR" dirty="0"/>
              <a:t>Diğerleri ile özdeşleşme, akran, aile, koçlar vs. bilinçaltını girdi için açar. </a:t>
            </a:r>
          </a:p>
          <a:p>
            <a:r>
              <a:rPr lang="tr-TR" dirty="0"/>
              <a:t>Her birimizin içinde sevmek, ait olmak, kabul edilmek, tanınmak isteyen ve itilmekten korunmak isteyen bir çocuk vardır. </a:t>
            </a:r>
          </a:p>
          <a:p>
            <a:r>
              <a:rPr lang="tr-TR" dirty="0"/>
              <a:t>Bazen, ihtiyacımız olan ilgiyi almak için, bu ilginin bedeli fazla olsa bile kabul edilmeyen şeyler yaparız.</a:t>
            </a:r>
          </a:p>
          <a:p>
            <a:endParaRPr lang="tr-TR" dirty="0"/>
          </a:p>
        </p:txBody>
      </p:sp>
      <p:sp>
        <p:nvSpPr>
          <p:cNvPr id="3" name="Başlık 2">
            <a:extLst>
              <a:ext uri="{FF2B5EF4-FFF2-40B4-BE49-F238E27FC236}">
                <a16:creationId xmlns:a16="http://schemas.microsoft.com/office/drawing/2014/main" id="{A67EE3F7-B989-8E8E-D4F2-B03141C57B8E}"/>
              </a:ext>
            </a:extLst>
          </p:cNvPr>
          <p:cNvSpPr>
            <a:spLocks noGrp="1"/>
          </p:cNvSpPr>
          <p:nvPr>
            <p:ph type="title"/>
          </p:nvPr>
        </p:nvSpPr>
        <p:spPr/>
        <p:txBody>
          <a:bodyPr>
            <a:normAutofit fontScale="90000"/>
          </a:bodyPr>
          <a:lstStyle/>
          <a:p>
            <a:pPr algn="ctr"/>
            <a:r>
              <a:rPr lang="tr-TR" dirty="0"/>
              <a:t>Kimlik arzusu veya özdeşleşme :</a:t>
            </a:r>
          </a:p>
        </p:txBody>
      </p:sp>
    </p:spTree>
    <p:extLst>
      <p:ext uri="{BB962C8B-B14F-4D97-AF65-F5344CB8AC3E}">
        <p14:creationId xmlns:p14="http://schemas.microsoft.com/office/powerpoint/2010/main" val="27448770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00CAA8BA-D004-107B-375E-CB3D89BD70CF}"/>
              </a:ext>
            </a:extLst>
          </p:cNvPr>
          <p:cNvSpPr>
            <a:spLocks noGrp="1"/>
          </p:cNvSpPr>
          <p:nvPr>
            <p:ph idx="1"/>
          </p:nvPr>
        </p:nvSpPr>
        <p:spPr/>
        <p:txBody>
          <a:bodyPr>
            <a:normAutofit/>
          </a:bodyPr>
          <a:lstStyle/>
          <a:p>
            <a:r>
              <a:rPr lang="tr-TR" dirty="0"/>
              <a:t>İnsanların hayatlarını değiştirmek için hipnozun kullanılmasının nedeni hipnozun bilinçaltını değiştirmeye yarıyor olmasından kaynaklanmaktadır. </a:t>
            </a:r>
          </a:p>
          <a:p>
            <a:r>
              <a:rPr lang="tr-TR" dirty="0"/>
              <a:t>Ama farkında olmadan yapılan kendi kendine hipnoz bilinçaltını etkileyebilir. </a:t>
            </a:r>
          </a:p>
          <a:p>
            <a:r>
              <a:rPr lang="tr-TR" dirty="0"/>
              <a:t>Örneğin TV karşısında kişi birden kül tabağını sigara dolu bulabiliyor ama bu kadar içtiğini hatırlamıyor.</a:t>
            </a:r>
          </a:p>
          <a:p>
            <a:endParaRPr lang="tr-TR" dirty="0"/>
          </a:p>
        </p:txBody>
      </p:sp>
      <p:sp>
        <p:nvSpPr>
          <p:cNvPr id="3" name="Başlık 2">
            <a:extLst>
              <a:ext uri="{FF2B5EF4-FFF2-40B4-BE49-F238E27FC236}">
                <a16:creationId xmlns:a16="http://schemas.microsoft.com/office/drawing/2014/main" id="{8426A145-53C6-A419-96C8-1B9AB8FA95AE}"/>
              </a:ext>
            </a:extLst>
          </p:cNvPr>
          <p:cNvSpPr>
            <a:spLocks noGrp="1"/>
          </p:cNvSpPr>
          <p:nvPr>
            <p:ph type="title"/>
          </p:nvPr>
        </p:nvSpPr>
        <p:spPr/>
        <p:txBody>
          <a:bodyPr/>
          <a:lstStyle/>
          <a:p>
            <a:pPr algn="ctr"/>
            <a:r>
              <a:rPr lang="tr-TR" dirty="0"/>
              <a:t>Gizli hipnoz:</a:t>
            </a:r>
          </a:p>
        </p:txBody>
      </p:sp>
    </p:spTree>
    <p:extLst>
      <p:ext uri="{BB962C8B-B14F-4D97-AF65-F5344CB8AC3E}">
        <p14:creationId xmlns:p14="http://schemas.microsoft.com/office/powerpoint/2010/main" val="5821651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4CAAFBBD-04E4-0860-9CE0-2E9F80AA35E5}"/>
              </a:ext>
            </a:extLst>
          </p:cNvPr>
          <p:cNvSpPr>
            <a:spLocks noGrp="1"/>
          </p:cNvSpPr>
          <p:nvPr>
            <p:ph idx="1"/>
          </p:nvPr>
        </p:nvSpPr>
        <p:spPr/>
        <p:txBody>
          <a:bodyPr/>
          <a:lstStyle/>
          <a:p>
            <a:r>
              <a:rPr lang="tr-TR" dirty="0"/>
              <a:t>Duygular derin ve uzun süren izlere yol açabilir. </a:t>
            </a:r>
          </a:p>
          <a:p>
            <a:r>
              <a:rPr lang="tr-TR" dirty="0"/>
              <a:t>Heyecanlı bir kişi, amacını gerçekleştirmede birçok engeli aşmak zorunda kalabilir. </a:t>
            </a:r>
          </a:p>
          <a:p>
            <a:r>
              <a:rPr lang="tr-TR" dirty="0"/>
              <a:t>Tehlikeli bir köpeğin saldırısına uğramış bir kişi  hayatı boyunca mantıklı bulmasa bile köpek fobisini taşıyabilir.</a:t>
            </a:r>
          </a:p>
          <a:p>
            <a:endParaRPr lang="tr-TR" dirty="0"/>
          </a:p>
        </p:txBody>
      </p:sp>
      <p:sp>
        <p:nvSpPr>
          <p:cNvPr id="3" name="Başlık 2">
            <a:extLst>
              <a:ext uri="{FF2B5EF4-FFF2-40B4-BE49-F238E27FC236}">
                <a16:creationId xmlns:a16="http://schemas.microsoft.com/office/drawing/2014/main" id="{042E1375-8BEB-ED23-6DC0-DB2FFF637B93}"/>
              </a:ext>
            </a:extLst>
          </p:cNvPr>
          <p:cNvSpPr>
            <a:spLocks noGrp="1"/>
          </p:cNvSpPr>
          <p:nvPr>
            <p:ph type="title"/>
          </p:nvPr>
        </p:nvSpPr>
        <p:spPr/>
        <p:txBody>
          <a:bodyPr/>
          <a:lstStyle/>
          <a:p>
            <a:pPr algn="ctr"/>
            <a:r>
              <a:rPr lang="tr-TR" dirty="0"/>
              <a:t>Duygu :</a:t>
            </a:r>
          </a:p>
        </p:txBody>
      </p:sp>
    </p:spTree>
    <p:extLst>
      <p:ext uri="{BB962C8B-B14F-4D97-AF65-F5344CB8AC3E}">
        <p14:creationId xmlns:p14="http://schemas.microsoft.com/office/powerpoint/2010/main" val="18764313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a:xfrm>
            <a:off x="228600" y="1600200"/>
            <a:ext cx="8458200" cy="5029200"/>
          </a:xfrm>
        </p:spPr>
        <p:txBody>
          <a:bodyPr>
            <a:normAutofit/>
          </a:bodyPr>
          <a:lstStyle/>
          <a:p>
            <a:pPr marL="0" indent="0">
              <a:buNone/>
            </a:pPr>
            <a:r>
              <a:rPr lang="tr-TR" sz="7200" cap="all" dirty="0">
                <a:solidFill>
                  <a:srgbClr val="FF0000"/>
                </a:solidFill>
              </a:rPr>
              <a:t>	Hİpnozun </a:t>
            </a:r>
          </a:p>
          <a:p>
            <a:pPr marL="0" indent="0">
              <a:buNone/>
            </a:pPr>
            <a:endParaRPr lang="tr-TR" sz="7200" cap="all" dirty="0">
              <a:solidFill>
                <a:srgbClr val="FF0000"/>
              </a:solidFill>
            </a:endParaRPr>
          </a:p>
          <a:p>
            <a:pPr marL="0" indent="0">
              <a:buNone/>
            </a:pPr>
            <a:r>
              <a:rPr lang="tr-TR" sz="7200" cap="all" dirty="0">
                <a:solidFill>
                  <a:srgbClr val="FF0000"/>
                </a:solidFill>
              </a:rPr>
              <a:t>			tarİhçesİ</a:t>
            </a:r>
          </a:p>
        </p:txBody>
      </p:sp>
    </p:spTree>
    <p:extLst>
      <p:ext uri="{BB962C8B-B14F-4D97-AF65-F5344CB8AC3E}">
        <p14:creationId xmlns:p14="http://schemas.microsoft.com/office/powerpoint/2010/main" val="2477635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7"/>
          <p:cNvSpPr>
            <a:spLocks noGrp="1" noChangeArrowheads="1"/>
          </p:cNvSpPr>
          <p:nvPr>
            <p:ph type="title"/>
          </p:nvPr>
        </p:nvSpPr>
        <p:spPr/>
        <p:txBody>
          <a:bodyPr/>
          <a:lstStyle/>
          <a:p>
            <a:r>
              <a:rPr lang="tr-TR" sz="4800" b="0" dirty="0">
                <a:solidFill>
                  <a:schemeClr val="tx2"/>
                </a:solidFill>
              </a:rPr>
              <a:t>Hipnozun tarihçesi</a:t>
            </a:r>
          </a:p>
        </p:txBody>
      </p:sp>
      <p:sp>
        <p:nvSpPr>
          <p:cNvPr id="2057" name="Rectangle 9"/>
          <p:cNvSpPr>
            <a:spLocks noGrp="1" noChangeArrowheads="1"/>
          </p:cNvSpPr>
          <p:nvPr>
            <p:ph type="body" sz="half" idx="2"/>
          </p:nvPr>
        </p:nvSpPr>
        <p:spPr>
          <a:xfrm>
            <a:off x="4908550" y="1981200"/>
            <a:ext cx="3702050" cy="4114800"/>
          </a:xfrm>
        </p:spPr>
        <p:txBody>
          <a:bodyPr/>
          <a:lstStyle/>
          <a:p>
            <a:r>
              <a:rPr lang="tr-TR" sz="3600" b="1" dirty="0">
                <a:solidFill>
                  <a:schemeClr val="accent1"/>
                </a:solidFill>
              </a:rPr>
              <a:t>Tarih öncesi</a:t>
            </a:r>
          </a:p>
          <a:p>
            <a:endParaRPr lang="tr-TR" sz="3600" b="1" dirty="0">
              <a:solidFill>
                <a:schemeClr val="accent1"/>
              </a:solidFill>
            </a:endParaRPr>
          </a:p>
          <a:p>
            <a:r>
              <a:rPr lang="tr-TR" sz="3600" b="1" dirty="0">
                <a:solidFill>
                  <a:schemeClr val="accent1"/>
                </a:solidFill>
              </a:rPr>
              <a:t>Rönesans</a:t>
            </a:r>
          </a:p>
          <a:p>
            <a:endParaRPr lang="tr-TR" sz="3600" b="1" dirty="0">
              <a:solidFill>
                <a:schemeClr val="accent1"/>
              </a:solidFill>
            </a:endParaRPr>
          </a:p>
          <a:p>
            <a:r>
              <a:rPr lang="tr-TR" sz="3600" b="1" dirty="0">
                <a:solidFill>
                  <a:schemeClr val="accent1"/>
                </a:solidFill>
              </a:rPr>
              <a:t>20. yüzyıl</a:t>
            </a:r>
          </a:p>
          <a:p>
            <a:endParaRPr lang="tr-TR" sz="3600" b="1" dirty="0">
              <a:solidFill>
                <a:srgbClr val="F2EA4E"/>
              </a:solidFill>
            </a:endParaRPr>
          </a:p>
        </p:txBody>
      </p:sp>
      <p:pic>
        <p:nvPicPr>
          <p:cNvPr id="2058" name="Picture 10" descr="Hypnos"/>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52551" y="1696098"/>
            <a:ext cx="4821401" cy="439990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3320255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533400" y="-20782"/>
            <a:ext cx="7543800" cy="1431925"/>
          </a:xfrm>
        </p:spPr>
        <p:txBody>
          <a:bodyPr/>
          <a:lstStyle/>
          <a:p>
            <a:r>
              <a:rPr lang="tr-TR" b="0" dirty="0">
                <a:solidFill>
                  <a:srgbClr val="FF0000"/>
                </a:solidFill>
              </a:rPr>
              <a:t>Hint ve Mısır Uyku tapınakları</a:t>
            </a:r>
            <a:endParaRPr lang="tr-TR" sz="4800" b="0" dirty="0">
              <a:solidFill>
                <a:srgbClr val="FF0000"/>
              </a:solidFill>
            </a:endParaRPr>
          </a:p>
        </p:txBody>
      </p:sp>
      <p:pic>
        <p:nvPicPr>
          <p:cNvPr id="8200" name="Picture 8" descr="sleep%20temple"/>
          <p:cNvPicPr>
            <a:picLocks noGrp="1" noChangeAspect="1" noChangeArrowheads="1"/>
          </p:cNvPicPr>
          <p:nvPr>
            <p:ph sz="quarter" idx="1"/>
          </p:nvPr>
        </p:nvPicPr>
        <p:blipFill>
          <a:blip r:embed="rId2" cstate="print">
            <a:extLst>
              <a:ext uri="{28A0092B-C50C-407E-A947-70E740481C1C}">
                <a14:useLocalDpi xmlns:a14="http://schemas.microsoft.com/office/drawing/2010/main" val="0"/>
              </a:ext>
            </a:extLst>
          </a:blip>
          <a:srcRect/>
          <a:stretch>
            <a:fillRect/>
          </a:stretch>
        </p:blipFill>
        <p:spPr>
          <a:xfrm>
            <a:off x="381000" y="2057400"/>
            <a:ext cx="3213100" cy="388063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195" name="Rectangle 3"/>
          <p:cNvSpPr>
            <a:spLocks noGrp="1" noChangeArrowheads="1"/>
          </p:cNvSpPr>
          <p:nvPr>
            <p:ph type="body" sz="half" idx="3"/>
          </p:nvPr>
        </p:nvSpPr>
        <p:spPr>
          <a:xfrm>
            <a:off x="4800600" y="1066800"/>
            <a:ext cx="3695700" cy="4114800"/>
          </a:xfrm>
        </p:spPr>
        <p:txBody>
          <a:bodyPr/>
          <a:lstStyle/>
          <a:p>
            <a:r>
              <a:rPr lang="tr-TR" sz="3600" b="1" dirty="0">
                <a:solidFill>
                  <a:schemeClr val="accent1"/>
                </a:solidFill>
              </a:rPr>
              <a:t>Tarih öncesi</a:t>
            </a:r>
          </a:p>
          <a:p>
            <a:r>
              <a:rPr lang="tr-TR" sz="3600" b="1" dirty="0">
                <a:solidFill>
                  <a:schemeClr val="accent1"/>
                </a:solidFill>
              </a:rPr>
              <a:t>Hintliler</a:t>
            </a:r>
          </a:p>
          <a:p>
            <a:r>
              <a:rPr lang="tr-TR" sz="3600" b="1" dirty="0">
                <a:solidFill>
                  <a:schemeClr val="accent1"/>
                </a:solidFill>
              </a:rPr>
              <a:t>Yunanlılar</a:t>
            </a:r>
          </a:p>
          <a:p>
            <a:r>
              <a:rPr lang="tr-TR" sz="3600" b="1" dirty="0">
                <a:solidFill>
                  <a:schemeClr val="accent1"/>
                </a:solidFill>
              </a:rPr>
              <a:t>Mısırlılar</a:t>
            </a:r>
          </a:p>
          <a:p>
            <a:pPr>
              <a:buFont typeface="Wingdings" pitchFamily="2" charset="2"/>
              <a:buNone/>
            </a:pPr>
            <a:endParaRPr lang="tr-TR" sz="3600" b="1" dirty="0">
              <a:solidFill>
                <a:srgbClr val="F2EA4E"/>
              </a:solidFill>
            </a:endParaRPr>
          </a:p>
          <a:p>
            <a:pPr>
              <a:buFont typeface="Wingdings" pitchFamily="2" charset="2"/>
              <a:buNone/>
            </a:pPr>
            <a:endParaRPr lang="tr-TR" sz="3600" b="1" dirty="0">
              <a:solidFill>
                <a:srgbClr val="F2EA4E"/>
              </a:solidFill>
            </a:endParaRPr>
          </a:p>
        </p:txBody>
      </p:sp>
      <p:pic>
        <p:nvPicPr>
          <p:cNvPr id="8201" name="Picture 9" descr="geschichte_tempelschlaf"/>
          <p:cNvPicPr>
            <a:picLocks noGrp="1" noChangeAspect="1" noChangeArrowheads="1"/>
          </p:cNvPicPr>
          <p:nvPr>
            <p:ph sz="quarter" idx="2"/>
          </p:nvPr>
        </p:nvPicPr>
        <p:blipFill>
          <a:blip r:embed="rId3" cstate="print">
            <a:extLst>
              <a:ext uri="{28A0092B-C50C-407E-A947-70E740481C1C}">
                <a14:useLocalDpi xmlns:a14="http://schemas.microsoft.com/office/drawing/2010/main" val="0"/>
              </a:ext>
            </a:extLst>
          </a:blip>
          <a:srcRect/>
          <a:stretch>
            <a:fillRect/>
          </a:stretch>
        </p:blipFill>
        <p:spPr>
          <a:xfrm>
            <a:off x="4038600" y="3657599"/>
            <a:ext cx="4758778" cy="296167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3231446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tr-TR" b="0" dirty="0">
                <a:solidFill>
                  <a:srgbClr val="FF0000"/>
                </a:solidFill>
              </a:rPr>
              <a:t>Hayvanlarda hipnotizma</a:t>
            </a:r>
            <a:endParaRPr lang="tr-TR" sz="4800" b="0" dirty="0">
              <a:solidFill>
                <a:srgbClr val="FF0000"/>
              </a:solidFill>
            </a:endParaRPr>
          </a:p>
        </p:txBody>
      </p:sp>
      <p:sp>
        <p:nvSpPr>
          <p:cNvPr id="9219" name="Rectangle 3"/>
          <p:cNvSpPr>
            <a:spLocks noGrp="1" noChangeArrowheads="1"/>
          </p:cNvSpPr>
          <p:nvPr>
            <p:ph type="body" sz="half" idx="2"/>
          </p:nvPr>
        </p:nvSpPr>
        <p:spPr>
          <a:xfrm>
            <a:off x="4908550" y="1981200"/>
            <a:ext cx="3702050" cy="4114800"/>
          </a:xfrm>
        </p:spPr>
        <p:txBody>
          <a:bodyPr/>
          <a:lstStyle/>
          <a:p>
            <a:r>
              <a:rPr lang="tr-TR" sz="3600" b="1" dirty="0">
                <a:solidFill>
                  <a:schemeClr val="tx2"/>
                </a:solidFill>
              </a:rPr>
              <a:t>1600 lerde</a:t>
            </a:r>
          </a:p>
          <a:p>
            <a:r>
              <a:rPr lang="tr-TR" sz="3600" b="1" dirty="0">
                <a:solidFill>
                  <a:schemeClr val="tx2"/>
                </a:solidFill>
              </a:rPr>
              <a:t>Fransız çiftçiler</a:t>
            </a:r>
          </a:p>
          <a:p>
            <a:r>
              <a:rPr lang="tr-TR" sz="3600" b="1" dirty="0">
                <a:solidFill>
                  <a:schemeClr val="tx2"/>
                </a:solidFill>
              </a:rPr>
              <a:t>Verimlilik </a:t>
            </a:r>
          </a:p>
          <a:p>
            <a:r>
              <a:rPr lang="tr-TR" sz="3600" b="1" dirty="0">
                <a:solidFill>
                  <a:schemeClr val="tx2"/>
                </a:solidFill>
              </a:rPr>
              <a:t>Civciv sakinleştirme</a:t>
            </a:r>
          </a:p>
          <a:p>
            <a:pPr>
              <a:buFont typeface="Wingdings" pitchFamily="2" charset="2"/>
              <a:buNone/>
            </a:pPr>
            <a:endParaRPr lang="tr-TR" sz="3600" b="1" dirty="0">
              <a:solidFill>
                <a:srgbClr val="F2EA4E"/>
              </a:solidFill>
            </a:endParaRPr>
          </a:p>
          <a:p>
            <a:pPr>
              <a:buFont typeface="Wingdings" pitchFamily="2" charset="2"/>
              <a:buNone/>
            </a:pPr>
            <a:endParaRPr lang="tr-TR" sz="3600" b="1" dirty="0">
              <a:solidFill>
                <a:srgbClr val="F2EA4E"/>
              </a:solidFill>
            </a:endParaRPr>
          </a:p>
        </p:txBody>
      </p:sp>
      <p:pic>
        <p:nvPicPr>
          <p:cNvPr id="9222" name="Picture 6" descr="1156294"/>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685800" y="2578022"/>
            <a:ext cx="4083050" cy="267184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461174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tr-TR" b="0" dirty="0">
                <a:solidFill>
                  <a:srgbClr val="FF0000"/>
                </a:solidFill>
              </a:rPr>
              <a:t>Paracelsus (1493-1541),</a:t>
            </a:r>
            <a:r>
              <a:rPr lang="tr-TR" dirty="0">
                <a:solidFill>
                  <a:srgbClr val="FF0000"/>
                </a:solidFill>
              </a:rPr>
              <a:t> </a:t>
            </a:r>
            <a:endParaRPr lang="tr-TR" b="0" dirty="0">
              <a:solidFill>
                <a:srgbClr val="FF0000"/>
              </a:solidFill>
            </a:endParaRPr>
          </a:p>
        </p:txBody>
      </p:sp>
      <p:sp>
        <p:nvSpPr>
          <p:cNvPr id="10243" name="Rectangle 3"/>
          <p:cNvSpPr>
            <a:spLocks noGrp="1" noChangeArrowheads="1"/>
          </p:cNvSpPr>
          <p:nvPr>
            <p:ph type="body" sz="half" idx="2"/>
          </p:nvPr>
        </p:nvSpPr>
        <p:spPr>
          <a:xfrm>
            <a:off x="4419600" y="1676400"/>
            <a:ext cx="4191000" cy="4419600"/>
          </a:xfrm>
        </p:spPr>
        <p:txBody>
          <a:bodyPr/>
          <a:lstStyle/>
          <a:p>
            <a:r>
              <a:rPr lang="tr-TR" sz="2800" b="1" dirty="0">
                <a:solidFill>
                  <a:schemeClr val="tx2"/>
                </a:solidFill>
              </a:rPr>
              <a:t>İsviçreli tıp doktoru,</a:t>
            </a:r>
          </a:p>
          <a:p>
            <a:endParaRPr lang="tr-TR" sz="2800" b="1" dirty="0">
              <a:solidFill>
                <a:schemeClr val="tx2"/>
              </a:solidFill>
            </a:endParaRPr>
          </a:p>
          <a:p>
            <a:r>
              <a:rPr lang="tr-TR" sz="2800" b="1" dirty="0">
                <a:solidFill>
                  <a:schemeClr val="tx2"/>
                </a:solidFill>
              </a:rPr>
              <a:t>Sifiliz; cıva tedavisi </a:t>
            </a:r>
          </a:p>
          <a:p>
            <a:endParaRPr lang="tr-TR" sz="2800" b="1" dirty="0">
              <a:solidFill>
                <a:schemeClr val="tx2"/>
              </a:solidFill>
            </a:endParaRPr>
          </a:p>
          <a:p>
            <a:r>
              <a:rPr lang="tr-TR" sz="2800" b="1" dirty="0">
                <a:solidFill>
                  <a:schemeClr val="tx2"/>
                </a:solidFill>
              </a:rPr>
              <a:t>mıknatısı ilk kullanan </a:t>
            </a:r>
          </a:p>
          <a:p>
            <a:endParaRPr lang="tr-TR" sz="2800" b="1" dirty="0">
              <a:solidFill>
                <a:schemeClr val="tx2"/>
              </a:solidFill>
            </a:endParaRPr>
          </a:p>
          <a:p>
            <a:r>
              <a:rPr lang="tr-TR" sz="2800" b="1" u="sng" dirty="0">
                <a:solidFill>
                  <a:schemeClr val="tx2"/>
                </a:solidFill>
              </a:rPr>
              <a:t>Mıknatısla tedavi</a:t>
            </a:r>
            <a:endParaRPr lang="tr-TR" sz="3600" b="1" u="sng" dirty="0">
              <a:solidFill>
                <a:schemeClr val="tx2"/>
              </a:solidFill>
            </a:endParaRPr>
          </a:p>
          <a:p>
            <a:pPr>
              <a:buFont typeface="Wingdings" pitchFamily="2" charset="2"/>
              <a:buNone/>
            </a:pPr>
            <a:endParaRPr lang="tr-TR" sz="3600" b="1" dirty="0">
              <a:solidFill>
                <a:srgbClr val="F7F28D"/>
              </a:solidFill>
            </a:endParaRPr>
          </a:p>
          <a:p>
            <a:pPr>
              <a:buFont typeface="Wingdings" pitchFamily="2" charset="2"/>
              <a:buNone/>
            </a:pPr>
            <a:endParaRPr lang="tr-TR" sz="3600" b="1" dirty="0">
              <a:solidFill>
                <a:srgbClr val="F2EA4E"/>
              </a:solidFill>
            </a:endParaRPr>
          </a:p>
        </p:txBody>
      </p:sp>
      <p:pic>
        <p:nvPicPr>
          <p:cNvPr id="10246" name="Picture 6" descr="150px-Paracelsus"/>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133761" y="1484313"/>
            <a:ext cx="3295239" cy="44592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3020615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tr-TR" b="0" dirty="0">
                <a:solidFill>
                  <a:srgbClr val="FF0000"/>
                </a:solidFill>
              </a:rPr>
              <a:t>Valentine Greatrakes</a:t>
            </a:r>
          </a:p>
        </p:txBody>
      </p:sp>
      <p:sp>
        <p:nvSpPr>
          <p:cNvPr id="11267" name="Rectangle 3"/>
          <p:cNvSpPr>
            <a:spLocks noGrp="1" noChangeArrowheads="1"/>
          </p:cNvSpPr>
          <p:nvPr>
            <p:ph type="body" sz="half" idx="2"/>
          </p:nvPr>
        </p:nvSpPr>
        <p:spPr>
          <a:xfrm>
            <a:off x="4648200" y="1905000"/>
            <a:ext cx="4191000" cy="4724400"/>
          </a:xfrm>
        </p:spPr>
        <p:txBody>
          <a:bodyPr/>
          <a:lstStyle/>
          <a:p>
            <a:r>
              <a:rPr lang="tr-TR" sz="2800" b="1" dirty="0">
                <a:solidFill>
                  <a:schemeClr val="tx2"/>
                </a:solidFill>
              </a:rPr>
              <a:t>(1628-1666) </a:t>
            </a:r>
          </a:p>
          <a:p>
            <a:endParaRPr lang="tr-TR" sz="2800" b="1" dirty="0">
              <a:solidFill>
                <a:schemeClr val="tx2"/>
              </a:solidFill>
            </a:endParaRPr>
          </a:p>
          <a:p>
            <a:r>
              <a:rPr lang="tr-TR" sz="2800" b="1" dirty="0">
                <a:solidFill>
                  <a:schemeClr val="tx2"/>
                </a:solidFill>
              </a:rPr>
              <a:t>Büyük İrlandalı Okşayıcı </a:t>
            </a:r>
          </a:p>
          <a:p>
            <a:endParaRPr lang="tr-TR" sz="2800" b="1" dirty="0">
              <a:solidFill>
                <a:schemeClr val="tx2"/>
              </a:solidFill>
            </a:endParaRPr>
          </a:p>
          <a:p>
            <a:r>
              <a:rPr lang="tr-TR" sz="2800" b="1" dirty="0">
                <a:solidFill>
                  <a:schemeClr val="tx2"/>
                </a:solidFill>
              </a:rPr>
              <a:t>Mıknatısı üstlerinden geçirirken elini de üzerine koyuyor</a:t>
            </a:r>
            <a:endParaRPr lang="tr-TR" sz="3600" b="1" dirty="0">
              <a:solidFill>
                <a:schemeClr val="tx2"/>
              </a:solidFill>
            </a:endParaRPr>
          </a:p>
          <a:p>
            <a:pPr>
              <a:buFont typeface="Wingdings" pitchFamily="2" charset="2"/>
              <a:buNone/>
            </a:pPr>
            <a:endParaRPr lang="tr-TR" sz="3600" b="1" dirty="0">
              <a:solidFill>
                <a:schemeClr val="tx2"/>
              </a:solidFill>
            </a:endParaRPr>
          </a:p>
        </p:txBody>
      </p:sp>
      <p:pic>
        <p:nvPicPr>
          <p:cNvPr id="11270" name="Picture 6" descr="greatrakes"/>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495300" y="1484313"/>
            <a:ext cx="3695700" cy="46878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9766264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tr-TR" b="0" dirty="0">
                <a:solidFill>
                  <a:srgbClr val="FF0000"/>
                </a:solidFill>
              </a:rPr>
              <a:t>Johann Joseph Gassner</a:t>
            </a:r>
          </a:p>
        </p:txBody>
      </p:sp>
      <p:sp>
        <p:nvSpPr>
          <p:cNvPr id="12291" name="Rectangle 3"/>
          <p:cNvSpPr>
            <a:spLocks noGrp="1" noChangeArrowheads="1"/>
          </p:cNvSpPr>
          <p:nvPr>
            <p:ph type="body" sz="half" idx="2"/>
          </p:nvPr>
        </p:nvSpPr>
        <p:spPr>
          <a:xfrm>
            <a:off x="4876800" y="1981200"/>
            <a:ext cx="3886200" cy="4648200"/>
          </a:xfrm>
        </p:spPr>
        <p:txBody>
          <a:bodyPr/>
          <a:lstStyle/>
          <a:p>
            <a:r>
              <a:rPr lang="tr-TR" sz="2800" b="1" dirty="0">
                <a:solidFill>
                  <a:schemeClr val="accent1"/>
                </a:solidFill>
              </a:rPr>
              <a:t>(1727-1779) </a:t>
            </a:r>
          </a:p>
          <a:p>
            <a:endParaRPr lang="tr-TR" sz="2800" b="1" dirty="0">
              <a:solidFill>
                <a:schemeClr val="accent1"/>
              </a:solidFill>
            </a:endParaRPr>
          </a:p>
          <a:p>
            <a:r>
              <a:rPr lang="tr-TR" sz="2800" b="1" dirty="0">
                <a:solidFill>
                  <a:schemeClr val="accent1"/>
                </a:solidFill>
              </a:rPr>
              <a:t>Katolik bir papaz. </a:t>
            </a:r>
          </a:p>
          <a:p>
            <a:r>
              <a:rPr lang="tr-TR" sz="2800" b="1" dirty="0">
                <a:solidFill>
                  <a:schemeClr val="accent1"/>
                </a:solidFill>
              </a:rPr>
              <a:t>şeytan çıkarma </a:t>
            </a:r>
          </a:p>
          <a:p>
            <a:r>
              <a:rPr lang="tr-TR" sz="2800" b="1" dirty="0">
                <a:solidFill>
                  <a:schemeClr val="accent1"/>
                </a:solidFill>
              </a:rPr>
              <a:t>İlk kez sakin hipnoz </a:t>
            </a:r>
          </a:p>
          <a:p>
            <a:r>
              <a:rPr lang="tr-TR" sz="2800" b="1" dirty="0">
                <a:solidFill>
                  <a:schemeClr val="accent1"/>
                </a:solidFill>
              </a:rPr>
              <a:t>basit telkinler +</a:t>
            </a:r>
          </a:p>
          <a:p>
            <a:r>
              <a:rPr lang="tr-TR" sz="2800" b="1" dirty="0">
                <a:solidFill>
                  <a:schemeClr val="accent1"/>
                </a:solidFill>
              </a:rPr>
              <a:t>dini törenler</a:t>
            </a:r>
            <a:endParaRPr lang="tr-TR" sz="2800" dirty="0">
              <a:solidFill>
                <a:schemeClr val="accent1"/>
              </a:solidFill>
            </a:endParaRPr>
          </a:p>
        </p:txBody>
      </p:sp>
      <p:pic>
        <p:nvPicPr>
          <p:cNvPr id="12294" name="Picture 6" descr="gassner"/>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364244" y="1524000"/>
            <a:ext cx="3977570" cy="5105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6439215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tr-TR" b="0" dirty="0">
                <a:solidFill>
                  <a:srgbClr val="FF0000"/>
                </a:solidFill>
              </a:rPr>
              <a:t>Father Maximilian Hell</a:t>
            </a:r>
          </a:p>
        </p:txBody>
      </p:sp>
      <p:sp>
        <p:nvSpPr>
          <p:cNvPr id="13315" name="Rectangle 3"/>
          <p:cNvSpPr>
            <a:spLocks noGrp="1" noChangeArrowheads="1"/>
          </p:cNvSpPr>
          <p:nvPr>
            <p:ph type="body" sz="half" idx="2"/>
          </p:nvPr>
        </p:nvSpPr>
        <p:spPr>
          <a:xfrm>
            <a:off x="4495800" y="1981200"/>
            <a:ext cx="4495800" cy="4572000"/>
          </a:xfrm>
        </p:spPr>
        <p:txBody>
          <a:bodyPr>
            <a:noAutofit/>
          </a:bodyPr>
          <a:lstStyle/>
          <a:p>
            <a:pPr>
              <a:lnSpc>
                <a:spcPct val="90000"/>
              </a:lnSpc>
            </a:pPr>
            <a:r>
              <a:rPr lang="tr-TR" sz="2800" b="1" dirty="0">
                <a:solidFill>
                  <a:schemeClr val="accent1"/>
                </a:solidFill>
              </a:rPr>
              <a:t>(1720-1792) </a:t>
            </a:r>
          </a:p>
          <a:p>
            <a:pPr>
              <a:lnSpc>
                <a:spcPct val="90000"/>
              </a:lnSpc>
            </a:pPr>
            <a:r>
              <a:rPr lang="tr-TR" sz="2800" b="1" dirty="0">
                <a:solidFill>
                  <a:schemeClr val="accent1"/>
                </a:solidFill>
              </a:rPr>
              <a:t>mıknatısı ve çelik plakları çıplak bedenlere yerleştiriyordu. </a:t>
            </a:r>
          </a:p>
          <a:p>
            <a:pPr marL="0" indent="0">
              <a:lnSpc>
                <a:spcPct val="90000"/>
              </a:lnSpc>
              <a:buNone/>
            </a:pPr>
            <a:r>
              <a:rPr lang="tr-TR" sz="2800" b="1" dirty="0">
                <a:solidFill>
                  <a:schemeClr val="accent1"/>
                </a:solidFill>
              </a:rPr>
              <a:t>    astronom</a:t>
            </a:r>
          </a:p>
          <a:p>
            <a:pPr>
              <a:lnSpc>
                <a:spcPct val="90000"/>
              </a:lnSpc>
            </a:pPr>
            <a:r>
              <a:rPr lang="tr-TR" sz="2800" b="1" dirty="0">
                <a:solidFill>
                  <a:schemeClr val="accent1"/>
                </a:solidFill>
              </a:rPr>
              <a:t>aydaki kraterleden birine  </a:t>
            </a:r>
          </a:p>
          <a:p>
            <a:pPr marL="0" indent="0">
              <a:lnSpc>
                <a:spcPct val="90000"/>
              </a:lnSpc>
              <a:buNone/>
            </a:pPr>
            <a:r>
              <a:rPr lang="tr-TR" sz="2800" b="1" dirty="0">
                <a:solidFill>
                  <a:schemeClr val="accent1"/>
                </a:solidFill>
              </a:rPr>
              <a:t>     adı verilmiştir. </a:t>
            </a:r>
          </a:p>
          <a:p>
            <a:pPr>
              <a:lnSpc>
                <a:spcPct val="90000"/>
              </a:lnSpc>
            </a:pPr>
            <a:r>
              <a:rPr lang="tr-TR" sz="2800" b="1" dirty="0">
                <a:solidFill>
                  <a:schemeClr val="accent1"/>
                </a:solidFill>
              </a:rPr>
              <a:t>Öğrencisi: </a:t>
            </a:r>
            <a:r>
              <a:rPr lang="tr-TR" sz="2800" b="1" u="sng" dirty="0">
                <a:solidFill>
                  <a:schemeClr val="accent1"/>
                </a:solidFill>
              </a:rPr>
              <a:t>Franz Anton Mesmer</a:t>
            </a:r>
            <a:r>
              <a:rPr lang="tr-TR" sz="2800" u="sng" dirty="0">
                <a:solidFill>
                  <a:schemeClr val="accent1"/>
                </a:solidFill>
              </a:rPr>
              <a:t> </a:t>
            </a:r>
          </a:p>
        </p:txBody>
      </p:sp>
      <p:pic>
        <p:nvPicPr>
          <p:cNvPr id="13318" name="Picture 6" descr="Max Hell"/>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209992" y="1447800"/>
            <a:ext cx="4196908" cy="5257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8392633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tr-TR" b="0" dirty="0">
                <a:solidFill>
                  <a:srgbClr val="FF0000"/>
                </a:solidFill>
              </a:rPr>
              <a:t>Franz Anton Mesmer</a:t>
            </a:r>
            <a:r>
              <a:rPr lang="tr-TR" dirty="0">
                <a:solidFill>
                  <a:srgbClr val="FF0000"/>
                </a:solidFill>
              </a:rPr>
              <a:t> </a:t>
            </a:r>
          </a:p>
        </p:txBody>
      </p:sp>
      <p:sp>
        <p:nvSpPr>
          <p:cNvPr id="14339" name="Rectangle 3"/>
          <p:cNvSpPr>
            <a:spLocks noGrp="1" noChangeArrowheads="1"/>
          </p:cNvSpPr>
          <p:nvPr>
            <p:ph type="body" sz="half" idx="2"/>
          </p:nvPr>
        </p:nvSpPr>
        <p:spPr>
          <a:xfrm>
            <a:off x="4908550" y="1981200"/>
            <a:ext cx="3702050" cy="4114800"/>
          </a:xfrm>
        </p:spPr>
        <p:txBody>
          <a:bodyPr/>
          <a:lstStyle/>
          <a:p>
            <a:r>
              <a:rPr lang="tr-TR" dirty="0">
                <a:solidFill>
                  <a:schemeClr val="accent1"/>
                </a:solidFill>
              </a:rPr>
              <a:t>(1734-1815)</a:t>
            </a:r>
          </a:p>
          <a:p>
            <a:r>
              <a:rPr lang="tr-TR" dirty="0">
                <a:solidFill>
                  <a:schemeClr val="accent1"/>
                </a:solidFill>
              </a:rPr>
              <a:t> Avusturyalı </a:t>
            </a:r>
          </a:p>
          <a:p>
            <a:r>
              <a:rPr lang="tr-TR" dirty="0">
                <a:solidFill>
                  <a:schemeClr val="accent1"/>
                </a:solidFill>
              </a:rPr>
              <a:t>Tıp doktoru  </a:t>
            </a:r>
          </a:p>
          <a:p>
            <a:r>
              <a:rPr lang="tr-TR" dirty="0">
                <a:solidFill>
                  <a:schemeClr val="accent1"/>
                </a:solidFill>
              </a:rPr>
              <a:t>Animal manyetizması</a:t>
            </a:r>
          </a:p>
          <a:p>
            <a:r>
              <a:rPr lang="tr-TR" dirty="0">
                <a:solidFill>
                  <a:schemeClr val="accent1"/>
                </a:solidFill>
              </a:rPr>
              <a:t>Mesmerizm</a:t>
            </a:r>
          </a:p>
        </p:txBody>
      </p:sp>
      <p:pic>
        <p:nvPicPr>
          <p:cNvPr id="14342" name="Picture 6" descr="180px-Franz_Anton_Mesmer"/>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0" y="1283615"/>
            <a:ext cx="4343400" cy="554667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5181819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990600" y="0"/>
            <a:ext cx="7543800" cy="1431925"/>
          </a:xfrm>
        </p:spPr>
        <p:txBody>
          <a:bodyPr/>
          <a:lstStyle/>
          <a:p>
            <a:r>
              <a:rPr lang="tr-TR" b="0" dirty="0">
                <a:solidFill>
                  <a:srgbClr val="FF0000"/>
                </a:solidFill>
              </a:rPr>
              <a:t>Mesmerizm</a:t>
            </a:r>
            <a:r>
              <a:rPr lang="tr-TR" dirty="0">
                <a:solidFill>
                  <a:srgbClr val="FF0000"/>
                </a:solidFill>
              </a:rPr>
              <a:t> </a:t>
            </a:r>
          </a:p>
        </p:txBody>
      </p:sp>
      <p:sp>
        <p:nvSpPr>
          <p:cNvPr id="15363" name="Rectangle 3"/>
          <p:cNvSpPr>
            <a:spLocks noGrp="1" noChangeArrowheads="1"/>
          </p:cNvSpPr>
          <p:nvPr>
            <p:ph type="body" sz="half" idx="2"/>
          </p:nvPr>
        </p:nvSpPr>
        <p:spPr>
          <a:xfrm>
            <a:off x="4419600" y="1524000"/>
            <a:ext cx="4724400" cy="5181600"/>
          </a:xfrm>
        </p:spPr>
        <p:txBody>
          <a:bodyPr/>
          <a:lstStyle/>
          <a:p>
            <a:pPr>
              <a:lnSpc>
                <a:spcPct val="80000"/>
              </a:lnSpc>
              <a:buFont typeface="Wingdings" pitchFamily="2" charset="2"/>
              <a:buNone/>
            </a:pPr>
            <a:r>
              <a:rPr lang="tr-TR" sz="1800" dirty="0"/>
              <a:t> </a:t>
            </a:r>
          </a:p>
          <a:p>
            <a:pPr>
              <a:lnSpc>
                <a:spcPct val="80000"/>
              </a:lnSpc>
            </a:pPr>
            <a:r>
              <a:rPr lang="tr-TR" sz="2800" dirty="0">
                <a:solidFill>
                  <a:schemeClr val="accent1"/>
                </a:solidFill>
              </a:rPr>
              <a:t>Mıknatıs kanı durdurur</a:t>
            </a:r>
          </a:p>
          <a:p>
            <a:pPr>
              <a:lnSpc>
                <a:spcPct val="80000"/>
              </a:lnSpc>
            </a:pPr>
            <a:r>
              <a:rPr lang="tr-TR" sz="2800" dirty="0">
                <a:solidFill>
                  <a:schemeClr val="accent1"/>
                </a:solidFill>
              </a:rPr>
              <a:t>Evrensel bir sıvı her şeyin içindedir.</a:t>
            </a:r>
          </a:p>
          <a:p>
            <a:pPr>
              <a:lnSpc>
                <a:spcPct val="80000"/>
              </a:lnSpc>
            </a:pPr>
            <a:r>
              <a:rPr lang="tr-TR" sz="2800" dirty="0">
                <a:solidFill>
                  <a:schemeClr val="accent1"/>
                </a:solidFill>
              </a:rPr>
              <a:t>Bu sıvı manyetik titreşimler yayar </a:t>
            </a:r>
          </a:p>
          <a:p>
            <a:pPr>
              <a:lnSpc>
                <a:spcPct val="80000"/>
              </a:lnSpc>
            </a:pPr>
            <a:r>
              <a:rPr lang="tr-TR" sz="2800" dirty="0">
                <a:solidFill>
                  <a:schemeClr val="accent1"/>
                </a:solidFill>
              </a:rPr>
              <a:t>Bir kızı konvulsiyonlarından mıknatıs kullanarak iyileştiriyor. </a:t>
            </a:r>
          </a:p>
          <a:p>
            <a:pPr>
              <a:lnSpc>
                <a:spcPct val="80000"/>
              </a:lnSpc>
            </a:pPr>
            <a:r>
              <a:rPr lang="tr-TR" sz="2800" dirty="0">
                <a:solidFill>
                  <a:schemeClr val="accent1"/>
                </a:solidFill>
              </a:rPr>
              <a:t>Daha sonra kendi ellerinin de bu mıknatıs özelliğini taşıdığına inanmaya başlıyor.  </a:t>
            </a:r>
          </a:p>
        </p:txBody>
      </p:sp>
      <p:pic>
        <p:nvPicPr>
          <p:cNvPr id="15366" name="Picture 6" descr="mesmer hipnoz ediyor"/>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228600" y="1447800"/>
            <a:ext cx="4139651" cy="512528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0806339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990600" y="-13855"/>
            <a:ext cx="7543800" cy="1431925"/>
          </a:xfrm>
        </p:spPr>
        <p:txBody>
          <a:bodyPr/>
          <a:lstStyle/>
          <a:p>
            <a:r>
              <a:rPr lang="tr-TR" b="0" dirty="0">
                <a:solidFill>
                  <a:srgbClr val="FF0000"/>
                </a:solidFill>
              </a:rPr>
              <a:t>Mesmerizm</a:t>
            </a:r>
            <a:r>
              <a:rPr lang="tr-TR" dirty="0">
                <a:solidFill>
                  <a:srgbClr val="FF0000"/>
                </a:solidFill>
              </a:rPr>
              <a:t> </a:t>
            </a:r>
          </a:p>
        </p:txBody>
      </p:sp>
      <p:sp>
        <p:nvSpPr>
          <p:cNvPr id="23555" name="Rectangle 3"/>
          <p:cNvSpPr>
            <a:spLocks noGrp="1" noChangeArrowheads="1"/>
          </p:cNvSpPr>
          <p:nvPr>
            <p:ph type="body" sz="half" idx="2"/>
          </p:nvPr>
        </p:nvSpPr>
        <p:spPr>
          <a:xfrm>
            <a:off x="4800600" y="1371600"/>
            <a:ext cx="4343400" cy="5334000"/>
          </a:xfrm>
        </p:spPr>
        <p:txBody>
          <a:bodyPr>
            <a:noAutofit/>
          </a:bodyPr>
          <a:lstStyle/>
          <a:p>
            <a:r>
              <a:rPr lang="tr-TR" sz="3600" dirty="0">
                <a:solidFill>
                  <a:srgbClr val="00B0F0"/>
                </a:solidFill>
              </a:rPr>
              <a:t>gerçek bir hipnoz ?</a:t>
            </a:r>
          </a:p>
          <a:p>
            <a:endParaRPr lang="tr-TR" sz="3600" u="sng" dirty="0">
              <a:solidFill>
                <a:srgbClr val="00B0F0"/>
              </a:solidFill>
            </a:endParaRPr>
          </a:p>
          <a:p>
            <a:r>
              <a:rPr lang="tr-TR" sz="3600" u="sng" dirty="0">
                <a:solidFill>
                  <a:srgbClr val="00B0F0"/>
                </a:solidFill>
              </a:rPr>
              <a:t>hipnozun babası </a:t>
            </a:r>
          </a:p>
          <a:p>
            <a:endParaRPr lang="tr-TR" sz="3600" dirty="0">
              <a:solidFill>
                <a:srgbClr val="00B0F0"/>
              </a:solidFill>
            </a:endParaRPr>
          </a:p>
          <a:p>
            <a:r>
              <a:rPr lang="tr-TR" sz="3600" dirty="0">
                <a:solidFill>
                  <a:srgbClr val="00B0F0"/>
                </a:solidFill>
              </a:rPr>
              <a:t>etkileri  konvülsiftir </a:t>
            </a:r>
          </a:p>
          <a:p>
            <a:endParaRPr lang="tr-TR" sz="3600" dirty="0">
              <a:solidFill>
                <a:srgbClr val="00B0F0"/>
              </a:solidFill>
            </a:endParaRPr>
          </a:p>
          <a:p>
            <a:r>
              <a:rPr lang="tr-TR" sz="3600" dirty="0">
                <a:solidFill>
                  <a:srgbClr val="00B0F0"/>
                </a:solidFill>
              </a:rPr>
              <a:t>dramatik iyileşmeler</a:t>
            </a:r>
          </a:p>
        </p:txBody>
      </p:sp>
      <p:pic>
        <p:nvPicPr>
          <p:cNvPr id="23560" name="Picture 8" descr="mesmtub"/>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304800" y="1371599"/>
            <a:ext cx="4343400" cy="5537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1734778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914400" y="-457200"/>
            <a:ext cx="7543800" cy="1431925"/>
          </a:xfrm>
        </p:spPr>
        <p:txBody>
          <a:bodyPr/>
          <a:lstStyle/>
          <a:p>
            <a:r>
              <a:rPr lang="tr-TR" b="0" dirty="0">
                <a:solidFill>
                  <a:srgbClr val="FF0000"/>
                </a:solidFill>
              </a:rPr>
              <a:t>Abbe Faria</a:t>
            </a:r>
            <a:r>
              <a:rPr lang="tr-TR" dirty="0">
                <a:solidFill>
                  <a:srgbClr val="FF0000"/>
                </a:solidFill>
              </a:rPr>
              <a:t> </a:t>
            </a:r>
          </a:p>
        </p:txBody>
      </p:sp>
      <p:sp>
        <p:nvSpPr>
          <p:cNvPr id="26627" name="Rectangle 3"/>
          <p:cNvSpPr>
            <a:spLocks noGrp="1" noChangeArrowheads="1"/>
          </p:cNvSpPr>
          <p:nvPr>
            <p:ph type="body" sz="half" idx="2"/>
          </p:nvPr>
        </p:nvSpPr>
        <p:spPr>
          <a:xfrm>
            <a:off x="3886200" y="990600"/>
            <a:ext cx="5257800" cy="5715000"/>
          </a:xfrm>
        </p:spPr>
        <p:txBody>
          <a:bodyPr>
            <a:noAutofit/>
          </a:bodyPr>
          <a:lstStyle/>
          <a:p>
            <a:pPr>
              <a:lnSpc>
                <a:spcPct val="80000"/>
              </a:lnSpc>
            </a:pPr>
            <a:r>
              <a:rPr lang="tr-TR" dirty="0">
                <a:solidFill>
                  <a:schemeClr val="accent1"/>
                </a:solidFill>
              </a:rPr>
              <a:t>Fransız devrimi sonrası manyetizma unutuluyor</a:t>
            </a:r>
          </a:p>
          <a:p>
            <a:pPr>
              <a:lnSpc>
                <a:spcPct val="80000"/>
              </a:lnSpc>
            </a:pPr>
            <a:r>
              <a:rPr lang="tr-TR" dirty="0">
                <a:solidFill>
                  <a:schemeClr val="accent1"/>
                </a:solidFill>
              </a:rPr>
              <a:t>Portekizli keşiş </a:t>
            </a:r>
          </a:p>
          <a:p>
            <a:pPr>
              <a:lnSpc>
                <a:spcPct val="80000"/>
              </a:lnSpc>
            </a:pPr>
            <a:r>
              <a:rPr lang="tr-TR" dirty="0">
                <a:solidFill>
                  <a:schemeClr val="accent1"/>
                </a:solidFill>
              </a:rPr>
              <a:t>Pariste oryantal hipnozu tanıtıyor. ( 19. yy. başı )</a:t>
            </a:r>
          </a:p>
          <a:p>
            <a:pPr>
              <a:lnSpc>
                <a:spcPct val="80000"/>
              </a:lnSpc>
            </a:pPr>
            <a:r>
              <a:rPr lang="tr-TR" dirty="0">
                <a:solidFill>
                  <a:schemeClr val="accent1"/>
                </a:solidFill>
              </a:rPr>
              <a:t>Mesmerin çubukları olmadan gösteriler yapıyor. </a:t>
            </a:r>
          </a:p>
          <a:p>
            <a:pPr>
              <a:lnSpc>
                <a:spcPct val="80000"/>
              </a:lnSpc>
            </a:pPr>
            <a:r>
              <a:rPr lang="tr-TR" dirty="0">
                <a:solidFill>
                  <a:schemeClr val="accent1"/>
                </a:solidFill>
              </a:rPr>
              <a:t>Zihinden kaynaklı olduğunu </a:t>
            </a:r>
          </a:p>
          <a:p>
            <a:pPr>
              <a:lnSpc>
                <a:spcPct val="80000"/>
              </a:lnSpc>
            </a:pPr>
            <a:r>
              <a:rPr lang="tr-TR" dirty="0">
                <a:solidFill>
                  <a:schemeClr val="accent1"/>
                </a:solidFill>
              </a:rPr>
              <a:t>beklentiye bağlı olduğunu ileri sürüyor. </a:t>
            </a:r>
          </a:p>
          <a:p>
            <a:pPr>
              <a:lnSpc>
                <a:spcPct val="80000"/>
              </a:lnSpc>
            </a:pPr>
            <a:r>
              <a:rPr lang="tr-TR" dirty="0">
                <a:solidFill>
                  <a:schemeClr val="accent1"/>
                </a:solidFill>
              </a:rPr>
              <a:t>Ayrıca hastanın kooperasyonu gerektiğini belirtiyor.. </a:t>
            </a:r>
          </a:p>
        </p:txBody>
      </p:sp>
      <p:pic>
        <p:nvPicPr>
          <p:cNvPr id="26630" name="Picture 6" descr="abbe faria-richard harris"/>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152401" y="1066800"/>
            <a:ext cx="3657600" cy="540564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2480803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tr-TR" dirty="0">
                <a:solidFill>
                  <a:srgbClr val="FF0000"/>
                </a:solidFill>
              </a:rPr>
              <a:t>Abbe Faria </a:t>
            </a:r>
          </a:p>
        </p:txBody>
      </p:sp>
      <p:pic>
        <p:nvPicPr>
          <p:cNvPr id="24584" name="Picture 8" descr="330px-AbaDeFaria heykeli Panaji"/>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236346" y="1371600"/>
            <a:ext cx="4363581" cy="5105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587" name="Rectangle 11"/>
          <p:cNvSpPr>
            <a:spLocks noGrp="1" noChangeArrowheads="1"/>
          </p:cNvSpPr>
          <p:nvPr>
            <p:ph sz="half" idx="2"/>
          </p:nvPr>
        </p:nvSpPr>
        <p:spPr>
          <a:xfrm>
            <a:off x="4648200" y="1447800"/>
            <a:ext cx="4267200" cy="5105400"/>
          </a:xfrm>
        </p:spPr>
        <p:txBody>
          <a:bodyPr/>
          <a:lstStyle/>
          <a:p>
            <a:r>
              <a:rPr lang="tr-TR" dirty="0"/>
              <a:t>klinik ve teorik çalışmaların öncüsü </a:t>
            </a:r>
          </a:p>
          <a:p>
            <a:r>
              <a:rPr lang="tr-TR" dirty="0"/>
              <a:t>Uygulayıcılar; H</a:t>
            </a:r>
            <a:r>
              <a:rPr lang="tr-TR" dirty="0">
                <a:hlinkClick r:id="rId3" action="ppaction://hlinkfile"/>
              </a:rPr>
              <a:t>ippolyte ernheim</a:t>
            </a:r>
            <a:r>
              <a:rPr lang="tr-TR" dirty="0"/>
              <a:t>,  </a:t>
            </a:r>
            <a:r>
              <a:rPr lang="tr-TR" dirty="0">
                <a:hlinkClick r:id="rId4" action="ppaction://hlinkfile"/>
              </a:rPr>
              <a:t>Ambroise-Auguste Liébault</a:t>
            </a:r>
            <a:r>
              <a:rPr lang="tr-TR" dirty="0"/>
              <a:t>. </a:t>
            </a:r>
          </a:p>
          <a:p>
            <a:r>
              <a:rPr lang="tr-TR" dirty="0"/>
              <a:t>Nancy okulu. </a:t>
            </a:r>
          </a:p>
          <a:p>
            <a:r>
              <a:rPr lang="tr-TR" dirty="0">
                <a:hlinkClick r:id="rId5" action="ppaction://hlinkfile"/>
              </a:rPr>
              <a:t>Émile Coué</a:t>
            </a:r>
            <a:r>
              <a:rPr lang="tr-TR" dirty="0"/>
              <a:t> ve </a:t>
            </a:r>
            <a:r>
              <a:rPr lang="tr-TR" dirty="0">
                <a:hlinkClick r:id="rId6" action="ppaction://hlinkfile"/>
              </a:rPr>
              <a:t>autogenic training</a:t>
            </a:r>
            <a:r>
              <a:rPr lang="tr-TR" dirty="0"/>
              <a:t> </a:t>
            </a:r>
          </a:p>
        </p:txBody>
      </p:sp>
    </p:spTree>
    <p:extLst>
      <p:ext uri="{BB962C8B-B14F-4D97-AF65-F5344CB8AC3E}">
        <p14:creationId xmlns:p14="http://schemas.microsoft.com/office/powerpoint/2010/main" val="31852143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76200" y="274638"/>
            <a:ext cx="9067800" cy="1143000"/>
          </a:xfrm>
        </p:spPr>
        <p:txBody>
          <a:bodyPr>
            <a:normAutofit fontScale="90000"/>
          </a:bodyPr>
          <a:lstStyle/>
          <a:p>
            <a:r>
              <a:rPr lang="tr-TR" dirty="0">
                <a:solidFill>
                  <a:srgbClr val="FF0000"/>
                </a:solidFill>
              </a:rPr>
              <a:t>Marquis de Puységur ve Somnanbulism</a:t>
            </a:r>
          </a:p>
        </p:txBody>
      </p:sp>
      <p:sp>
        <p:nvSpPr>
          <p:cNvPr id="28675" name="Rectangle 3"/>
          <p:cNvSpPr>
            <a:spLocks noGrp="1" noChangeArrowheads="1"/>
          </p:cNvSpPr>
          <p:nvPr>
            <p:ph sz="half" idx="2"/>
          </p:nvPr>
        </p:nvSpPr>
        <p:spPr>
          <a:xfrm>
            <a:off x="4648200" y="1295400"/>
            <a:ext cx="4495800" cy="5410200"/>
          </a:xfrm>
        </p:spPr>
        <p:txBody>
          <a:bodyPr/>
          <a:lstStyle/>
          <a:p>
            <a:endParaRPr lang="tr-TR" dirty="0"/>
          </a:p>
          <a:p>
            <a:endParaRPr lang="tr-TR" dirty="0"/>
          </a:p>
          <a:p>
            <a:r>
              <a:rPr lang="tr-TR" dirty="0">
                <a:solidFill>
                  <a:srgbClr val="00B0F0"/>
                </a:solidFill>
              </a:rPr>
              <a:t>Mesmerin öğrencisi</a:t>
            </a:r>
          </a:p>
          <a:p>
            <a:endParaRPr lang="tr-TR" dirty="0">
              <a:solidFill>
                <a:srgbClr val="00B0F0"/>
              </a:solidFill>
            </a:endParaRPr>
          </a:p>
          <a:p>
            <a:endParaRPr lang="tr-TR" dirty="0">
              <a:solidFill>
                <a:srgbClr val="00B0F0"/>
              </a:solidFill>
            </a:endParaRPr>
          </a:p>
          <a:p>
            <a:r>
              <a:rPr lang="tr-TR" dirty="0">
                <a:solidFill>
                  <a:srgbClr val="00B0F0"/>
                </a:solidFill>
              </a:rPr>
              <a:t>Somnanbulizm terimini kulandı </a:t>
            </a:r>
          </a:p>
          <a:p>
            <a:pPr>
              <a:buFont typeface="Wingdings" pitchFamily="2" charset="2"/>
              <a:buNone/>
            </a:pPr>
            <a:endParaRPr lang="tr-TR" dirty="0"/>
          </a:p>
        </p:txBody>
      </p:sp>
      <p:pic>
        <p:nvPicPr>
          <p:cNvPr id="28676" name="Picture 4" descr="puyseg"/>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152400" y="1229539"/>
            <a:ext cx="4419600" cy="558805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6481237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tr-TR" dirty="0">
                <a:solidFill>
                  <a:srgbClr val="FF0000"/>
                </a:solidFill>
              </a:rPr>
              <a:t>James Braid (1795-1860) </a:t>
            </a:r>
          </a:p>
        </p:txBody>
      </p:sp>
      <p:sp>
        <p:nvSpPr>
          <p:cNvPr id="27652" name="Rectangle 4"/>
          <p:cNvSpPr>
            <a:spLocks noGrp="1" noChangeArrowheads="1"/>
          </p:cNvSpPr>
          <p:nvPr>
            <p:ph sz="half" idx="2"/>
          </p:nvPr>
        </p:nvSpPr>
        <p:spPr>
          <a:xfrm>
            <a:off x="4572000" y="1371600"/>
            <a:ext cx="4419600" cy="5181600"/>
          </a:xfrm>
        </p:spPr>
        <p:txBody>
          <a:bodyPr/>
          <a:lstStyle/>
          <a:p>
            <a:r>
              <a:rPr lang="tr-TR" dirty="0">
                <a:solidFill>
                  <a:srgbClr val="00B0F0"/>
                </a:solidFill>
              </a:rPr>
              <a:t>1842; </a:t>
            </a:r>
          </a:p>
          <a:p>
            <a:endParaRPr lang="tr-TR" dirty="0">
              <a:solidFill>
                <a:srgbClr val="00B0F0"/>
              </a:solidFill>
            </a:endParaRPr>
          </a:p>
          <a:p>
            <a:r>
              <a:rPr lang="tr-TR" dirty="0">
                <a:solidFill>
                  <a:srgbClr val="00B0F0"/>
                </a:solidFill>
              </a:rPr>
              <a:t>hipnoz terimini kullandı</a:t>
            </a:r>
          </a:p>
          <a:p>
            <a:endParaRPr lang="tr-TR" dirty="0">
              <a:solidFill>
                <a:srgbClr val="00B0F0"/>
              </a:solidFill>
            </a:endParaRPr>
          </a:p>
          <a:p>
            <a:r>
              <a:rPr lang="tr-TR" dirty="0">
                <a:solidFill>
                  <a:srgbClr val="00B0F0"/>
                </a:solidFill>
              </a:rPr>
              <a:t>Modern hipnozun babası </a:t>
            </a:r>
          </a:p>
          <a:p>
            <a:endParaRPr lang="tr-TR" dirty="0">
              <a:solidFill>
                <a:srgbClr val="00B0F0"/>
              </a:solidFill>
            </a:endParaRPr>
          </a:p>
          <a:p>
            <a:r>
              <a:rPr lang="tr-TR" dirty="0">
                <a:solidFill>
                  <a:srgbClr val="00B0F0"/>
                </a:solidFill>
              </a:rPr>
              <a:t>göz fiksasyonu </a:t>
            </a:r>
          </a:p>
          <a:p>
            <a:endParaRPr lang="tr-TR" dirty="0">
              <a:solidFill>
                <a:srgbClr val="00B0F0"/>
              </a:solidFill>
            </a:endParaRPr>
          </a:p>
          <a:p>
            <a:r>
              <a:rPr lang="tr-TR" dirty="0">
                <a:solidFill>
                  <a:srgbClr val="00B0F0"/>
                </a:solidFill>
              </a:rPr>
              <a:t>monoideaizm</a:t>
            </a:r>
          </a:p>
        </p:txBody>
      </p:sp>
      <p:pic>
        <p:nvPicPr>
          <p:cNvPr id="27656" name="Picture 8" descr="200px-James_Braid%2C_portrait"/>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325408" y="1287304"/>
            <a:ext cx="4017992" cy="534209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5103530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tr-TR" dirty="0">
                <a:solidFill>
                  <a:srgbClr val="FF0000"/>
                </a:solidFill>
              </a:rPr>
              <a:t>John Elliotson </a:t>
            </a:r>
            <a:r>
              <a:rPr lang="tr-TR" sz="4000" dirty="0">
                <a:solidFill>
                  <a:srgbClr val="FF0000"/>
                </a:solidFill>
              </a:rPr>
              <a:t>(1791-1868)</a:t>
            </a:r>
          </a:p>
        </p:txBody>
      </p:sp>
      <p:sp>
        <p:nvSpPr>
          <p:cNvPr id="29699" name="Rectangle 3"/>
          <p:cNvSpPr>
            <a:spLocks noGrp="1" noChangeArrowheads="1"/>
          </p:cNvSpPr>
          <p:nvPr>
            <p:ph sz="half" idx="2"/>
          </p:nvPr>
        </p:nvSpPr>
        <p:spPr>
          <a:xfrm>
            <a:off x="4648200" y="1600200"/>
            <a:ext cx="4343400" cy="5029200"/>
          </a:xfrm>
        </p:spPr>
        <p:txBody>
          <a:bodyPr>
            <a:normAutofit lnSpcReduction="10000"/>
          </a:bodyPr>
          <a:lstStyle/>
          <a:p>
            <a:r>
              <a:rPr lang="tr-TR" dirty="0">
                <a:solidFill>
                  <a:srgbClr val="00B0F0"/>
                </a:solidFill>
              </a:rPr>
              <a:t>İngiliz cerrah</a:t>
            </a:r>
          </a:p>
          <a:p>
            <a:endParaRPr lang="tr-TR" dirty="0">
              <a:solidFill>
                <a:srgbClr val="00B0F0"/>
              </a:solidFill>
            </a:endParaRPr>
          </a:p>
          <a:p>
            <a:r>
              <a:rPr lang="tr-TR" dirty="0">
                <a:solidFill>
                  <a:srgbClr val="00B0F0"/>
                </a:solidFill>
              </a:rPr>
              <a:t>Mesmer’in öğrencisi</a:t>
            </a:r>
          </a:p>
          <a:p>
            <a:endParaRPr lang="tr-TR" u="sng" dirty="0">
              <a:solidFill>
                <a:srgbClr val="00B0F0"/>
              </a:solidFill>
            </a:endParaRPr>
          </a:p>
          <a:p>
            <a:r>
              <a:rPr lang="tr-TR" u="sng" dirty="0">
                <a:solidFill>
                  <a:srgbClr val="00B0F0"/>
                </a:solidFill>
              </a:rPr>
              <a:t>ağrısız ameliyat</a:t>
            </a:r>
          </a:p>
          <a:p>
            <a:endParaRPr lang="tr-TR" dirty="0">
              <a:solidFill>
                <a:srgbClr val="00B0F0"/>
              </a:solidFill>
            </a:endParaRPr>
          </a:p>
          <a:p>
            <a:r>
              <a:rPr lang="tr-TR" dirty="0">
                <a:solidFill>
                  <a:srgbClr val="00B0F0"/>
                </a:solidFill>
              </a:rPr>
              <a:t>İyileşme için Ağrı her zaman gerekli değil</a:t>
            </a:r>
          </a:p>
          <a:p>
            <a:endParaRPr lang="tr-TR" dirty="0">
              <a:solidFill>
                <a:srgbClr val="00B0F0"/>
              </a:solidFill>
            </a:endParaRPr>
          </a:p>
          <a:p>
            <a:r>
              <a:rPr lang="tr-TR" dirty="0">
                <a:solidFill>
                  <a:srgbClr val="00B0F0"/>
                </a:solidFill>
              </a:rPr>
              <a:t>Londra Ünv. den atıldı</a:t>
            </a:r>
          </a:p>
        </p:txBody>
      </p:sp>
      <p:pic>
        <p:nvPicPr>
          <p:cNvPr id="29702" name="Picture 6" descr="ElliotsonJohnThm"/>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609600" y="1690928"/>
            <a:ext cx="3657600" cy="493847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1944727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200" y="0"/>
            <a:ext cx="8229600" cy="1143000"/>
          </a:xfrm>
        </p:spPr>
        <p:txBody>
          <a:bodyPr/>
          <a:lstStyle/>
          <a:p>
            <a:r>
              <a:rPr lang="tr-TR" sz="4000" dirty="0">
                <a:solidFill>
                  <a:srgbClr val="FF0000"/>
                </a:solidFill>
              </a:rPr>
              <a:t>James Esdaile (1805-1859)</a:t>
            </a:r>
            <a:r>
              <a:rPr lang="tr-TR" dirty="0">
                <a:solidFill>
                  <a:srgbClr val="FF0000"/>
                </a:solidFill>
              </a:rPr>
              <a:t> </a:t>
            </a:r>
          </a:p>
        </p:txBody>
      </p:sp>
      <p:sp>
        <p:nvSpPr>
          <p:cNvPr id="30723" name="Rectangle 3"/>
          <p:cNvSpPr>
            <a:spLocks noGrp="1" noChangeArrowheads="1"/>
          </p:cNvSpPr>
          <p:nvPr>
            <p:ph sz="half" idx="2"/>
          </p:nvPr>
        </p:nvSpPr>
        <p:spPr>
          <a:xfrm>
            <a:off x="4648200" y="1295400"/>
            <a:ext cx="4267200" cy="5334000"/>
          </a:xfrm>
        </p:spPr>
        <p:txBody>
          <a:bodyPr/>
          <a:lstStyle/>
          <a:p>
            <a:endParaRPr lang="tr-TR" dirty="0">
              <a:solidFill>
                <a:srgbClr val="00B0F0"/>
              </a:solidFill>
            </a:endParaRPr>
          </a:p>
          <a:p>
            <a:r>
              <a:rPr lang="tr-TR" dirty="0">
                <a:solidFill>
                  <a:srgbClr val="00B0F0"/>
                </a:solidFill>
              </a:rPr>
              <a:t>İngiliz Hindistanında     345 ameliyat </a:t>
            </a:r>
          </a:p>
          <a:p>
            <a:endParaRPr lang="tr-TR" dirty="0">
              <a:solidFill>
                <a:srgbClr val="00B0F0"/>
              </a:solidFill>
            </a:endParaRPr>
          </a:p>
          <a:p>
            <a:r>
              <a:rPr lang="tr-TR" u="sng" dirty="0">
                <a:solidFill>
                  <a:srgbClr val="00B0F0"/>
                </a:solidFill>
              </a:rPr>
              <a:t>Esdaile state</a:t>
            </a:r>
          </a:p>
          <a:p>
            <a:endParaRPr lang="tr-TR" dirty="0">
              <a:solidFill>
                <a:srgbClr val="00B0F0"/>
              </a:solidFill>
            </a:endParaRPr>
          </a:p>
          <a:p>
            <a:r>
              <a:rPr lang="tr-TR" dirty="0">
                <a:solidFill>
                  <a:srgbClr val="00B0F0"/>
                </a:solidFill>
              </a:rPr>
              <a:t>Mortaliteyi %50 den     %5 düşürmüş</a:t>
            </a:r>
          </a:p>
        </p:txBody>
      </p:sp>
      <p:pic>
        <p:nvPicPr>
          <p:cNvPr id="30726" name="Picture 6" descr="esdaile_book"/>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139524" y="1095465"/>
            <a:ext cx="4356276" cy="553393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5041490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fontScale="90000"/>
          </a:bodyPr>
          <a:lstStyle/>
          <a:p>
            <a:r>
              <a:rPr lang="tr-TR" sz="4000" dirty="0">
                <a:solidFill>
                  <a:srgbClr val="FF0000"/>
                </a:solidFill>
              </a:rPr>
              <a:t>Jean-Martin Charcot </a:t>
            </a:r>
            <a:br>
              <a:rPr lang="tr-TR" sz="4000" dirty="0">
                <a:solidFill>
                  <a:srgbClr val="FF0000"/>
                </a:solidFill>
              </a:rPr>
            </a:br>
            <a:r>
              <a:rPr lang="tr-TR" sz="4000" dirty="0">
                <a:solidFill>
                  <a:srgbClr val="FF0000"/>
                </a:solidFill>
              </a:rPr>
              <a:t>(1825-1893)</a:t>
            </a:r>
          </a:p>
        </p:txBody>
      </p:sp>
      <p:sp>
        <p:nvSpPr>
          <p:cNvPr id="31747" name="Rectangle 3"/>
          <p:cNvSpPr>
            <a:spLocks noGrp="1" noChangeArrowheads="1"/>
          </p:cNvSpPr>
          <p:nvPr>
            <p:ph sz="half" idx="2"/>
          </p:nvPr>
        </p:nvSpPr>
        <p:spPr>
          <a:xfrm>
            <a:off x="5105400" y="1600200"/>
            <a:ext cx="4038600" cy="4525963"/>
          </a:xfrm>
        </p:spPr>
        <p:txBody>
          <a:bodyPr/>
          <a:lstStyle/>
          <a:p>
            <a:pPr marL="0" indent="0">
              <a:buNone/>
            </a:pPr>
            <a:r>
              <a:rPr lang="tr-TR" dirty="0"/>
              <a:t> </a:t>
            </a:r>
          </a:p>
          <a:p>
            <a:r>
              <a:rPr lang="tr-TR" dirty="0">
                <a:solidFill>
                  <a:srgbClr val="00B0F0"/>
                </a:solidFill>
              </a:rPr>
              <a:t>histeri tedavisinde hipnozu kullandı</a:t>
            </a:r>
          </a:p>
          <a:p>
            <a:endParaRPr lang="tr-TR" dirty="0">
              <a:solidFill>
                <a:srgbClr val="00B0F0"/>
              </a:solidFill>
            </a:endParaRPr>
          </a:p>
          <a:p>
            <a:r>
              <a:rPr lang="tr-TR" dirty="0">
                <a:solidFill>
                  <a:srgbClr val="00B0F0"/>
                </a:solidFill>
              </a:rPr>
              <a:t>Posthipnotik telkinler</a:t>
            </a:r>
          </a:p>
          <a:p>
            <a:endParaRPr lang="tr-TR" dirty="0">
              <a:solidFill>
                <a:srgbClr val="00B0F0"/>
              </a:solidFill>
            </a:endParaRPr>
          </a:p>
          <a:p>
            <a:r>
              <a:rPr lang="tr-TR" dirty="0">
                <a:solidFill>
                  <a:srgbClr val="00B0F0"/>
                </a:solidFill>
              </a:rPr>
              <a:t>Freud’u etkiledi</a:t>
            </a:r>
          </a:p>
        </p:txBody>
      </p:sp>
      <p:pic>
        <p:nvPicPr>
          <p:cNvPr id="31750" name="Picture 6" descr="charcot histeri"/>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29201" y="1905000"/>
            <a:ext cx="4868908" cy="4724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9300990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tr-TR" dirty="0">
                <a:solidFill>
                  <a:srgbClr val="FF0000"/>
                </a:solidFill>
              </a:rPr>
              <a:t>Pierre Janet </a:t>
            </a:r>
            <a:endParaRPr lang="tr-TR" sz="4000" dirty="0">
              <a:solidFill>
                <a:srgbClr val="FF0000"/>
              </a:solidFill>
            </a:endParaRPr>
          </a:p>
        </p:txBody>
      </p:sp>
      <p:sp>
        <p:nvSpPr>
          <p:cNvPr id="32771" name="Rectangle 3"/>
          <p:cNvSpPr>
            <a:spLocks noGrp="1" noChangeArrowheads="1"/>
          </p:cNvSpPr>
          <p:nvPr>
            <p:ph sz="half" idx="2"/>
          </p:nvPr>
        </p:nvSpPr>
        <p:spPr/>
        <p:txBody>
          <a:bodyPr/>
          <a:lstStyle/>
          <a:p>
            <a:endParaRPr lang="tr-TR" dirty="0"/>
          </a:p>
          <a:p>
            <a:r>
              <a:rPr lang="tr-TR" dirty="0">
                <a:solidFill>
                  <a:srgbClr val="00B0F0"/>
                </a:solidFill>
              </a:rPr>
              <a:t>Dissosiasyon teorisini </a:t>
            </a:r>
          </a:p>
          <a:p>
            <a:endParaRPr lang="tr-TR" dirty="0">
              <a:solidFill>
                <a:srgbClr val="00B0F0"/>
              </a:solidFill>
            </a:endParaRPr>
          </a:p>
          <a:p>
            <a:r>
              <a:rPr lang="tr-TR" dirty="0">
                <a:solidFill>
                  <a:srgbClr val="00B0F0"/>
                </a:solidFill>
              </a:rPr>
              <a:t>(Zihnin hipnoz altında ikiye bölündüğünü )</a:t>
            </a:r>
          </a:p>
          <a:p>
            <a:endParaRPr lang="tr-TR" dirty="0">
              <a:solidFill>
                <a:srgbClr val="00B0F0"/>
              </a:solidFill>
            </a:endParaRPr>
          </a:p>
          <a:p>
            <a:r>
              <a:rPr lang="tr-TR" dirty="0">
                <a:solidFill>
                  <a:srgbClr val="00B0F0"/>
                </a:solidFill>
              </a:rPr>
              <a:t>ortaya koydu</a:t>
            </a:r>
          </a:p>
        </p:txBody>
      </p:sp>
      <p:pic>
        <p:nvPicPr>
          <p:cNvPr id="32774" name="Picture 6" descr="Pierre%20Janet"/>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462998" y="1524000"/>
            <a:ext cx="3880402" cy="5181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25668848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tr-TR" dirty="0">
                <a:solidFill>
                  <a:srgbClr val="FF0000"/>
                </a:solidFill>
              </a:rPr>
              <a:t>Hippolyte Bernheim </a:t>
            </a:r>
          </a:p>
        </p:txBody>
      </p:sp>
      <p:sp>
        <p:nvSpPr>
          <p:cNvPr id="33795" name="Rectangle 3"/>
          <p:cNvSpPr>
            <a:spLocks noGrp="1" noChangeArrowheads="1"/>
          </p:cNvSpPr>
          <p:nvPr>
            <p:ph sz="half" idx="2"/>
          </p:nvPr>
        </p:nvSpPr>
        <p:spPr/>
        <p:txBody>
          <a:bodyPr/>
          <a:lstStyle/>
          <a:p>
            <a:r>
              <a:rPr lang="tr-TR" dirty="0">
                <a:solidFill>
                  <a:srgbClr val="00B0F0"/>
                </a:solidFill>
              </a:rPr>
              <a:t>Nancy okulu kurucusu</a:t>
            </a:r>
          </a:p>
          <a:p>
            <a:r>
              <a:rPr lang="tr-TR" dirty="0">
                <a:solidFill>
                  <a:srgbClr val="00B0F0"/>
                </a:solidFill>
              </a:rPr>
              <a:t>30.000 hasta tedavisi</a:t>
            </a:r>
          </a:p>
          <a:p>
            <a:r>
              <a:rPr lang="tr-TR" dirty="0">
                <a:solidFill>
                  <a:srgbClr val="00B0F0"/>
                </a:solidFill>
              </a:rPr>
              <a:t>Freud’u etkiledi</a:t>
            </a:r>
          </a:p>
          <a:p>
            <a:r>
              <a:rPr lang="tr-TR" dirty="0">
                <a:solidFill>
                  <a:srgbClr val="00B0F0"/>
                </a:solidFill>
              </a:rPr>
              <a:t>Hipnoz= artmış sugestibilite</a:t>
            </a:r>
          </a:p>
          <a:p>
            <a:r>
              <a:rPr lang="tr-TR" dirty="0">
                <a:solidFill>
                  <a:srgbClr val="00B0F0"/>
                </a:solidFill>
              </a:rPr>
              <a:t>Telkinlerle ilgili kitap yazdı</a:t>
            </a:r>
          </a:p>
          <a:p>
            <a:endParaRPr lang="tr-TR" dirty="0">
              <a:solidFill>
                <a:srgbClr val="00B0F0"/>
              </a:solidFill>
            </a:endParaRPr>
          </a:p>
        </p:txBody>
      </p:sp>
      <p:pic>
        <p:nvPicPr>
          <p:cNvPr id="33798" name="Picture 6" descr="Hippolyte%20Bernheim"/>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152400" y="1171536"/>
            <a:ext cx="4381984" cy="557557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9506780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tr-TR" dirty="0">
                <a:solidFill>
                  <a:srgbClr val="FF0000"/>
                </a:solidFill>
              </a:rPr>
              <a:t>Clark Hull </a:t>
            </a:r>
            <a:r>
              <a:rPr lang="tr-TR" sz="4000" dirty="0">
                <a:solidFill>
                  <a:srgbClr val="FF0000"/>
                </a:solidFill>
              </a:rPr>
              <a:t>(1884-1952)</a:t>
            </a:r>
          </a:p>
        </p:txBody>
      </p:sp>
      <p:sp>
        <p:nvSpPr>
          <p:cNvPr id="39939" name="Rectangle 3"/>
          <p:cNvSpPr>
            <a:spLocks noGrp="1" noChangeArrowheads="1"/>
          </p:cNvSpPr>
          <p:nvPr>
            <p:ph sz="half" idx="2"/>
          </p:nvPr>
        </p:nvSpPr>
        <p:spPr>
          <a:xfrm>
            <a:off x="4648200" y="1371600"/>
            <a:ext cx="4495800" cy="5334000"/>
          </a:xfrm>
        </p:spPr>
        <p:txBody>
          <a:bodyPr>
            <a:normAutofit lnSpcReduction="10000"/>
          </a:bodyPr>
          <a:lstStyle/>
          <a:p>
            <a:endParaRPr lang="tr-TR" sz="2400" dirty="0">
              <a:solidFill>
                <a:srgbClr val="00B0F0"/>
              </a:solidFill>
            </a:endParaRPr>
          </a:p>
          <a:p>
            <a:r>
              <a:rPr lang="tr-TR" dirty="0">
                <a:solidFill>
                  <a:srgbClr val="00B0F0"/>
                </a:solidFill>
              </a:rPr>
              <a:t>Hipnozun modern incelemesinin 1930 larda </a:t>
            </a:r>
            <a:r>
              <a:rPr lang="tr-TR" dirty="0">
                <a:solidFill>
                  <a:srgbClr val="00B0F0"/>
                </a:solidFill>
                <a:hlinkClick r:id="rId2" action="ppaction://hlinkfile"/>
              </a:rPr>
              <a:t>Clark Leonard Hull</a:t>
            </a:r>
            <a:r>
              <a:rPr lang="tr-TR" dirty="0">
                <a:solidFill>
                  <a:srgbClr val="00B0F0"/>
                </a:solidFill>
              </a:rPr>
              <a:t>          (</a:t>
            </a:r>
            <a:r>
              <a:rPr lang="tr-TR" dirty="0">
                <a:solidFill>
                  <a:srgbClr val="00B0F0"/>
                </a:solidFill>
                <a:hlinkClick r:id="rId3" action="ppaction://hlinkfile"/>
              </a:rPr>
              <a:t>Yale University</a:t>
            </a:r>
            <a:r>
              <a:rPr lang="tr-TR" dirty="0">
                <a:solidFill>
                  <a:srgbClr val="00B0F0"/>
                </a:solidFill>
              </a:rPr>
              <a:t>) ile başladığı kabul edilir. </a:t>
            </a:r>
          </a:p>
          <a:p>
            <a:endParaRPr lang="tr-TR" dirty="0">
              <a:solidFill>
                <a:srgbClr val="00B0F0"/>
              </a:solidFill>
            </a:endParaRPr>
          </a:p>
          <a:p>
            <a:r>
              <a:rPr lang="tr-TR" dirty="0">
                <a:solidFill>
                  <a:srgbClr val="00B0F0"/>
                </a:solidFill>
              </a:rPr>
              <a:t>Hipnotik anestezi, post hipnotik amnezi gibi fenomenlerin gerçek olduğunu ortaya koymuştur. </a:t>
            </a:r>
          </a:p>
        </p:txBody>
      </p:sp>
      <p:pic>
        <p:nvPicPr>
          <p:cNvPr id="39942" name="Picture 6" descr="Clark%20Hull"/>
          <p:cNvPicPr>
            <a:picLocks noGrp="1" noChangeAspect="1" noChangeArrowheads="1"/>
          </p:cNvPicPr>
          <p:nvPr>
            <p:ph sz="half" idx="1"/>
          </p:nvPr>
        </p:nvPicPr>
        <p:blipFill>
          <a:blip r:embed="rId4" cstate="print">
            <a:extLst>
              <a:ext uri="{28A0092B-C50C-407E-A947-70E740481C1C}">
                <a14:useLocalDpi xmlns:a14="http://schemas.microsoft.com/office/drawing/2010/main" val="0"/>
              </a:ext>
            </a:extLst>
          </a:blip>
          <a:srcRect/>
          <a:stretch>
            <a:fillRect/>
          </a:stretch>
        </p:blipFill>
        <p:spPr>
          <a:xfrm>
            <a:off x="150732" y="1524000"/>
            <a:ext cx="4421268" cy="52345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06285546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tr-TR" dirty="0">
                <a:solidFill>
                  <a:srgbClr val="FF0000"/>
                </a:solidFill>
              </a:rPr>
              <a:t>Kilometre taşları </a:t>
            </a:r>
          </a:p>
        </p:txBody>
      </p:sp>
      <p:sp>
        <p:nvSpPr>
          <p:cNvPr id="34819" name="Rectangle 3"/>
          <p:cNvSpPr>
            <a:spLocks noGrp="1" noChangeArrowheads="1"/>
          </p:cNvSpPr>
          <p:nvPr>
            <p:ph sz="half" idx="2"/>
          </p:nvPr>
        </p:nvSpPr>
        <p:spPr>
          <a:xfrm>
            <a:off x="4572000" y="1371600"/>
            <a:ext cx="4419600" cy="5334000"/>
          </a:xfrm>
        </p:spPr>
        <p:txBody>
          <a:bodyPr/>
          <a:lstStyle/>
          <a:p>
            <a:r>
              <a:rPr lang="tr-TR" dirty="0">
                <a:solidFill>
                  <a:srgbClr val="00B0F0"/>
                </a:solidFill>
              </a:rPr>
              <a:t>1847 Roma kilisesi; sınırlama getirdi</a:t>
            </a:r>
          </a:p>
          <a:p>
            <a:endParaRPr lang="tr-TR" dirty="0">
              <a:solidFill>
                <a:srgbClr val="00B0F0"/>
              </a:solidFill>
            </a:endParaRPr>
          </a:p>
          <a:p>
            <a:r>
              <a:rPr lang="tr-TR" dirty="0">
                <a:solidFill>
                  <a:srgbClr val="00B0F0"/>
                </a:solidFill>
              </a:rPr>
              <a:t>1956 Papa kabul etti</a:t>
            </a:r>
          </a:p>
          <a:p>
            <a:endParaRPr lang="tr-TR" dirty="0">
              <a:solidFill>
                <a:srgbClr val="00B0F0"/>
              </a:solidFill>
            </a:endParaRPr>
          </a:p>
          <a:p>
            <a:r>
              <a:rPr lang="tr-TR" dirty="0">
                <a:solidFill>
                  <a:srgbClr val="00B0F0"/>
                </a:solidFill>
              </a:rPr>
              <a:t>İlk Enternasyonel Kongre  1889</a:t>
            </a:r>
          </a:p>
          <a:p>
            <a:endParaRPr lang="tr-TR" b="1" dirty="0">
              <a:solidFill>
                <a:srgbClr val="00B0F0"/>
              </a:solidFill>
              <a:hlinkClick r:id="rId2" action="ppaction://hlinkfile"/>
            </a:endParaRPr>
          </a:p>
          <a:p>
            <a:r>
              <a:rPr lang="tr-TR" b="1" dirty="0">
                <a:solidFill>
                  <a:srgbClr val="00B0F0"/>
                </a:solidFill>
                <a:hlinkClick r:id="rId2" action="ppaction://hlinkfile"/>
              </a:rPr>
              <a:t>British Medical Association</a:t>
            </a:r>
            <a:r>
              <a:rPr lang="tr-TR" b="1" dirty="0">
                <a:solidFill>
                  <a:srgbClr val="00B0F0"/>
                </a:solidFill>
              </a:rPr>
              <a:t>  1892 de onayladı</a:t>
            </a:r>
            <a:endParaRPr lang="tr-TR" dirty="0">
              <a:solidFill>
                <a:srgbClr val="00B0F0"/>
              </a:solidFill>
            </a:endParaRPr>
          </a:p>
          <a:p>
            <a:endParaRPr lang="tr-TR" dirty="0"/>
          </a:p>
        </p:txBody>
      </p:sp>
      <p:pic>
        <p:nvPicPr>
          <p:cNvPr id="34822" name="Picture 6" descr="1156297"/>
          <p:cNvPicPr>
            <a:picLocks noGrp="1" noChangeAspect="1" noChangeArrowheads="1"/>
          </p:cNvPicPr>
          <p:nvPr>
            <p:ph sz="half" idx="1"/>
          </p:nvPr>
        </p:nvPicPr>
        <p:blipFill>
          <a:blip r:embed="rId3" cstate="print">
            <a:extLst>
              <a:ext uri="{28A0092B-C50C-407E-A947-70E740481C1C}">
                <a14:useLocalDpi xmlns:a14="http://schemas.microsoft.com/office/drawing/2010/main" val="0"/>
              </a:ext>
            </a:extLst>
          </a:blip>
          <a:srcRect/>
          <a:stretch>
            <a:fillRect/>
          </a:stretch>
        </p:blipFill>
        <p:spPr>
          <a:xfrm>
            <a:off x="231944" y="1183100"/>
            <a:ext cx="3730456" cy="561844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91043189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tr-TR" dirty="0">
                <a:solidFill>
                  <a:srgbClr val="FF0000"/>
                </a:solidFill>
              </a:rPr>
              <a:t>Kilometre taşları </a:t>
            </a:r>
          </a:p>
        </p:txBody>
      </p:sp>
      <p:sp>
        <p:nvSpPr>
          <p:cNvPr id="35843" name="Rectangle 3"/>
          <p:cNvSpPr>
            <a:spLocks noGrp="1" noChangeArrowheads="1"/>
          </p:cNvSpPr>
          <p:nvPr>
            <p:ph sz="half" idx="2"/>
          </p:nvPr>
        </p:nvSpPr>
        <p:spPr>
          <a:xfrm>
            <a:off x="5140036" y="1600200"/>
            <a:ext cx="4038600" cy="4525963"/>
          </a:xfrm>
        </p:spPr>
        <p:txBody>
          <a:bodyPr/>
          <a:lstStyle/>
          <a:p>
            <a:endParaRPr lang="tr-TR" dirty="0">
              <a:solidFill>
                <a:srgbClr val="00B0F0"/>
              </a:solidFill>
            </a:endParaRPr>
          </a:p>
          <a:p>
            <a:r>
              <a:rPr lang="tr-TR" dirty="0">
                <a:solidFill>
                  <a:srgbClr val="00B0F0"/>
                </a:solidFill>
              </a:rPr>
              <a:t>British Medical Association Approval, 1955</a:t>
            </a:r>
          </a:p>
          <a:p>
            <a:endParaRPr lang="tr-TR" b="1" dirty="0">
              <a:solidFill>
                <a:srgbClr val="00B0F0"/>
              </a:solidFill>
            </a:endParaRPr>
          </a:p>
          <a:p>
            <a:r>
              <a:rPr lang="tr-TR" b="1" dirty="0">
                <a:solidFill>
                  <a:srgbClr val="00B0F0"/>
                </a:solidFill>
              </a:rPr>
              <a:t>American Medical Association Approval, 1958</a:t>
            </a:r>
          </a:p>
          <a:p>
            <a:endParaRPr lang="tr-TR" dirty="0"/>
          </a:p>
          <a:p>
            <a:pPr>
              <a:buFont typeface="Wingdings" pitchFamily="2" charset="2"/>
              <a:buNone/>
            </a:pPr>
            <a:endParaRPr lang="tr-TR" dirty="0"/>
          </a:p>
        </p:txBody>
      </p:sp>
      <p:pic>
        <p:nvPicPr>
          <p:cNvPr id="35846" name="Picture 6" descr="1088410-medium"/>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68255" y="1371600"/>
            <a:ext cx="4834186" cy="5105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6712504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tr-TR" dirty="0">
                <a:solidFill>
                  <a:srgbClr val="FF0000"/>
                </a:solidFill>
              </a:rPr>
              <a:t>Kilometre taşları </a:t>
            </a:r>
          </a:p>
        </p:txBody>
      </p:sp>
      <p:pic>
        <p:nvPicPr>
          <p:cNvPr id="36870" name="Picture 6" descr="erickson"/>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40696" y="1295400"/>
            <a:ext cx="3883350" cy="5410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6867" name="Rectangle 3"/>
          <p:cNvSpPr>
            <a:spLocks noGrp="1" noChangeArrowheads="1"/>
          </p:cNvSpPr>
          <p:nvPr>
            <p:ph sz="quarter" idx="2"/>
          </p:nvPr>
        </p:nvSpPr>
        <p:spPr>
          <a:xfrm>
            <a:off x="4876800" y="1447800"/>
            <a:ext cx="3695700" cy="1981200"/>
          </a:xfrm>
        </p:spPr>
        <p:txBody>
          <a:bodyPr/>
          <a:lstStyle/>
          <a:p>
            <a:r>
              <a:rPr lang="tr-TR" sz="2400" dirty="0"/>
              <a:t> </a:t>
            </a:r>
            <a:r>
              <a:rPr lang="tr-TR" sz="3600" dirty="0">
                <a:solidFill>
                  <a:srgbClr val="FF0000"/>
                </a:solidFill>
              </a:rPr>
              <a:t>Milton Erickson</a:t>
            </a:r>
          </a:p>
          <a:p>
            <a:pPr>
              <a:buFont typeface="Wingdings" pitchFamily="2" charset="2"/>
              <a:buNone/>
            </a:pPr>
            <a:r>
              <a:rPr lang="tr-TR" sz="2800" dirty="0">
                <a:solidFill>
                  <a:srgbClr val="FF0000"/>
                </a:solidFill>
              </a:rPr>
              <a:t>(1901-1980)</a:t>
            </a:r>
            <a:r>
              <a:rPr lang="tr-TR" sz="2400" dirty="0">
                <a:solidFill>
                  <a:srgbClr val="FF0000"/>
                </a:solidFill>
              </a:rPr>
              <a:t> </a:t>
            </a:r>
          </a:p>
        </p:txBody>
      </p:sp>
      <p:pic>
        <p:nvPicPr>
          <p:cNvPr id="36871" name="Picture 7" descr="erickson"/>
          <p:cNvPicPr>
            <a:picLocks noGrp="1" noChangeAspect="1" noChangeArrowheads="1"/>
          </p:cNvPicPr>
          <p:nvPr>
            <p:ph sz="quarter" idx="3"/>
          </p:nvPr>
        </p:nvPicPr>
        <p:blipFill>
          <a:blip r:embed="rId3" cstate="print">
            <a:extLst>
              <a:ext uri="{28A0092B-C50C-407E-A947-70E740481C1C}">
                <a14:useLocalDpi xmlns:a14="http://schemas.microsoft.com/office/drawing/2010/main" val="0"/>
              </a:ext>
            </a:extLst>
          </a:blip>
          <a:srcRect/>
          <a:stretch>
            <a:fillRect/>
          </a:stretch>
        </p:blipFill>
        <p:spPr>
          <a:xfrm>
            <a:off x="4845527" y="2895600"/>
            <a:ext cx="3460273" cy="392284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64503714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066800" y="-152400"/>
            <a:ext cx="7543800" cy="1431925"/>
          </a:xfrm>
        </p:spPr>
        <p:txBody>
          <a:bodyPr/>
          <a:lstStyle/>
          <a:p>
            <a:r>
              <a:rPr lang="tr-TR" dirty="0">
                <a:solidFill>
                  <a:srgbClr val="FF0000"/>
                </a:solidFill>
              </a:rPr>
              <a:t>Kilometre taşları </a:t>
            </a:r>
          </a:p>
        </p:txBody>
      </p:sp>
      <p:sp>
        <p:nvSpPr>
          <p:cNvPr id="38916" name="Rectangle 4"/>
          <p:cNvSpPr>
            <a:spLocks noGrp="1" noChangeArrowheads="1"/>
          </p:cNvSpPr>
          <p:nvPr>
            <p:ph sz="quarter" idx="2"/>
          </p:nvPr>
        </p:nvSpPr>
        <p:spPr>
          <a:xfrm>
            <a:off x="3276600" y="1066800"/>
            <a:ext cx="4000500" cy="2362200"/>
          </a:xfrm>
        </p:spPr>
        <p:txBody>
          <a:bodyPr>
            <a:normAutofit fontScale="92500" lnSpcReduction="10000"/>
          </a:bodyPr>
          <a:lstStyle/>
          <a:p>
            <a:r>
              <a:rPr lang="tr-TR" sz="2400" b="1" u="sng" dirty="0"/>
              <a:t>Dave Elman</a:t>
            </a:r>
          </a:p>
          <a:p>
            <a:r>
              <a:rPr lang="tr-TR" sz="2400" b="1" u="sng" dirty="0"/>
              <a:t>Gill Boyne</a:t>
            </a:r>
          </a:p>
          <a:p>
            <a:r>
              <a:rPr lang="tr-TR" sz="2400" b="1" u="sng" dirty="0">
                <a:hlinkClick r:id="rId2" action="ppaction://hlinkfile"/>
              </a:rPr>
              <a:t>Ernest Hilgard</a:t>
            </a:r>
            <a:r>
              <a:rPr lang="tr-TR" sz="2400" b="1" u="sng" dirty="0"/>
              <a:t> </a:t>
            </a:r>
          </a:p>
          <a:p>
            <a:r>
              <a:rPr lang="tr-TR" sz="2400" b="1" u="sng" dirty="0">
                <a:hlinkClick r:id="rId3" action="ppaction://hlinkfile"/>
              </a:rPr>
              <a:t>André Weitzenhoffer</a:t>
            </a:r>
            <a:r>
              <a:rPr lang="tr-TR" sz="2400" b="1" u="sng" dirty="0"/>
              <a:t> </a:t>
            </a:r>
          </a:p>
          <a:p>
            <a:r>
              <a:rPr lang="tr-TR" sz="2400" b="1" u="sng" dirty="0"/>
              <a:t>Richard Bandler</a:t>
            </a:r>
            <a:r>
              <a:rPr lang="tr-TR" sz="2400" dirty="0"/>
              <a:t> </a:t>
            </a:r>
          </a:p>
          <a:p>
            <a:r>
              <a:rPr lang="tr-TR" sz="2400" b="1" dirty="0"/>
              <a:t>John Grinder</a:t>
            </a:r>
          </a:p>
        </p:txBody>
      </p:sp>
      <p:pic>
        <p:nvPicPr>
          <p:cNvPr id="38919" name="Picture 7" descr="Richard%20Bandler"/>
          <p:cNvPicPr>
            <a:picLocks noGrp="1" noChangeAspect="1" noChangeArrowheads="1"/>
          </p:cNvPicPr>
          <p:nvPr>
            <p:ph sz="half" idx="1"/>
          </p:nvPr>
        </p:nvPicPr>
        <p:blipFill>
          <a:blip r:embed="rId4" cstate="print">
            <a:extLst>
              <a:ext uri="{28A0092B-C50C-407E-A947-70E740481C1C}">
                <a14:useLocalDpi xmlns:a14="http://schemas.microsoft.com/office/drawing/2010/main" val="0"/>
              </a:ext>
            </a:extLst>
          </a:blip>
          <a:srcRect/>
          <a:stretch>
            <a:fillRect/>
          </a:stretch>
        </p:blipFill>
        <p:spPr>
          <a:xfrm>
            <a:off x="78448" y="1295400"/>
            <a:ext cx="3466220" cy="403859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8921" name="Picture 9" descr="John%20Grinder3"/>
          <p:cNvPicPr>
            <a:picLocks noGrp="1" noChangeAspect="1" noChangeArrowheads="1"/>
          </p:cNvPicPr>
          <p:nvPr>
            <p:ph sz="quarter" idx="3"/>
          </p:nvPr>
        </p:nvPicPr>
        <p:blipFill>
          <a:blip r:embed="rId5" cstate="print">
            <a:extLst>
              <a:ext uri="{28A0092B-C50C-407E-A947-70E740481C1C}">
                <a14:useLocalDpi xmlns:a14="http://schemas.microsoft.com/office/drawing/2010/main" val="0"/>
              </a:ext>
            </a:extLst>
          </a:blip>
          <a:srcRect/>
          <a:stretch>
            <a:fillRect/>
          </a:stretch>
        </p:blipFill>
        <p:spPr>
          <a:xfrm>
            <a:off x="6336323" y="1066799"/>
            <a:ext cx="2807677" cy="400215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35967823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7" name="Rectangle 9"/>
          <p:cNvSpPr>
            <a:spLocks noGrp="1" noChangeArrowheads="1"/>
          </p:cNvSpPr>
          <p:nvPr>
            <p:ph type="title"/>
          </p:nvPr>
        </p:nvSpPr>
        <p:spPr>
          <a:xfrm>
            <a:off x="152400" y="381000"/>
            <a:ext cx="8991600" cy="5927725"/>
          </a:xfrm>
        </p:spPr>
        <p:txBody>
          <a:bodyPr>
            <a:normAutofit/>
          </a:bodyPr>
          <a:lstStyle/>
          <a:p>
            <a:pPr eaLnBrk="1" hangingPunct="1">
              <a:defRPr/>
            </a:pPr>
            <a:r>
              <a:rPr lang="tr-TR" sz="6000" b="1" cap="all" dirty="0">
                <a:solidFill>
                  <a:srgbClr val="FF0000"/>
                </a:solidFill>
              </a:rPr>
              <a:t>Hİpnozla İlgİlİ </a:t>
            </a:r>
            <a:br>
              <a:rPr lang="tr-TR" sz="6000" b="1" cap="all" dirty="0">
                <a:solidFill>
                  <a:srgbClr val="FF0000"/>
                </a:solidFill>
              </a:rPr>
            </a:br>
            <a:br>
              <a:rPr lang="tr-TR" sz="6000" cap="all" dirty="0">
                <a:solidFill>
                  <a:srgbClr val="FF0000"/>
                </a:solidFill>
              </a:rPr>
            </a:br>
            <a:r>
              <a:rPr lang="tr-TR" sz="6000" b="1" cap="all" dirty="0">
                <a:solidFill>
                  <a:srgbClr val="FF0000"/>
                </a:solidFill>
              </a:rPr>
              <a:t>yanlIş </a:t>
            </a:r>
            <a:r>
              <a:rPr lang="tr-TR" sz="6000" cap="all" dirty="0">
                <a:solidFill>
                  <a:srgbClr val="FF0000"/>
                </a:solidFill>
              </a:rPr>
              <a:t>İ</a:t>
            </a:r>
            <a:r>
              <a:rPr lang="tr-TR" sz="6000" b="1" cap="all" dirty="0">
                <a:solidFill>
                  <a:srgbClr val="FF0000"/>
                </a:solidFill>
              </a:rPr>
              <a:t>nançlar</a:t>
            </a:r>
            <a:br>
              <a:rPr lang="tr-TR" sz="6000" b="1" cap="all" dirty="0">
                <a:solidFill>
                  <a:srgbClr val="FF0000"/>
                </a:solidFill>
              </a:rPr>
            </a:br>
            <a:endParaRPr lang="tr-TR" sz="6000" b="1" cap="all" dirty="0">
              <a:solidFill>
                <a:srgbClr val="FF0000"/>
              </a:solidFill>
            </a:endParaRPr>
          </a:p>
        </p:txBody>
      </p:sp>
    </p:spTree>
    <p:extLst>
      <p:ext uri="{BB962C8B-B14F-4D97-AF65-F5344CB8AC3E}">
        <p14:creationId xmlns:p14="http://schemas.microsoft.com/office/powerpoint/2010/main" val="19644259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idx="1"/>
          </p:nvPr>
        </p:nvSpPr>
        <p:spPr>
          <a:xfrm>
            <a:off x="0" y="1481328"/>
            <a:ext cx="9144000" cy="4919472"/>
          </a:xfrm>
        </p:spPr>
        <p:txBody>
          <a:bodyPr/>
          <a:lstStyle/>
          <a:p>
            <a:pPr eaLnBrk="1" hangingPunct="1">
              <a:lnSpc>
                <a:spcPct val="90000"/>
              </a:lnSpc>
              <a:defRPr/>
            </a:pPr>
            <a:endParaRPr lang="tr-TR" sz="2800" dirty="0"/>
          </a:p>
          <a:p>
            <a:pPr eaLnBrk="1" hangingPunct="1">
              <a:lnSpc>
                <a:spcPct val="90000"/>
              </a:lnSpc>
              <a:defRPr/>
            </a:pPr>
            <a:r>
              <a:rPr lang="tr-TR" sz="2800" dirty="0"/>
              <a:t>Kontrol her zaman sujededir. </a:t>
            </a:r>
          </a:p>
          <a:p>
            <a:pPr eaLnBrk="1" hangingPunct="1">
              <a:lnSpc>
                <a:spcPct val="90000"/>
              </a:lnSpc>
              <a:defRPr/>
            </a:pPr>
            <a:r>
              <a:rPr lang="tr-TR" sz="2800" dirty="0"/>
              <a:t>Verilen telkinlere uyup uymamak onun kontrolündedir. </a:t>
            </a:r>
          </a:p>
          <a:p>
            <a:pPr eaLnBrk="1" hangingPunct="1">
              <a:lnSpc>
                <a:spcPct val="90000"/>
              </a:lnSpc>
              <a:defRPr/>
            </a:pPr>
            <a:r>
              <a:rPr lang="tr-TR" sz="2800" dirty="0"/>
              <a:t>Hipnoz halindeki bir suje isterse telkinleri izlemeyebilir ama o zaman da hipnoz hali sona ermiş olur.</a:t>
            </a:r>
          </a:p>
          <a:p>
            <a:pPr eaLnBrk="1" hangingPunct="1">
              <a:lnSpc>
                <a:spcPct val="90000"/>
              </a:lnSpc>
              <a:defRPr/>
            </a:pPr>
            <a:r>
              <a:rPr lang="tr-TR" sz="2800" dirty="0"/>
              <a:t>Yani sadece hipnotiste ait bir güç yoktur.</a:t>
            </a:r>
          </a:p>
          <a:p>
            <a:pPr eaLnBrk="1" hangingPunct="1">
              <a:lnSpc>
                <a:spcPct val="90000"/>
              </a:lnSpc>
              <a:defRPr/>
            </a:pPr>
            <a:r>
              <a:rPr lang="tr-TR" sz="2800" dirty="0"/>
              <a:t>Hipnotistin gücü ikna etmekle sınırlıdır. </a:t>
            </a:r>
          </a:p>
        </p:txBody>
      </p:sp>
      <p:sp>
        <p:nvSpPr>
          <p:cNvPr id="9218" name="Rectangle 2"/>
          <p:cNvSpPr>
            <a:spLocks noGrp="1" noChangeArrowheads="1"/>
          </p:cNvSpPr>
          <p:nvPr>
            <p:ph type="title"/>
          </p:nvPr>
        </p:nvSpPr>
        <p:spPr>
          <a:xfrm>
            <a:off x="152400" y="228600"/>
            <a:ext cx="8991600" cy="1189038"/>
          </a:xfrm>
        </p:spPr>
        <p:txBody>
          <a:bodyPr>
            <a:normAutofit fontScale="90000"/>
          </a:bodyPr>
          <a:lstStyle/>
          <a:p>
            <a:pPr eaLnBrk="1" hangingPunct="1">
              <a:defRPr/>
            </a:pPr>
            <a:r>
              <a:rPr lang="tr-TR" sz="4000" dirty="0">
                <a:solidFill>
                  <a:srgbClr val="FF0000"/>
                </a:solidFill>
              </a:rPr>
              <a:t>1. Yanlış inanç: </a:t>
            </a:r>
            <a:r>
              <a:rPr lang="tr-TR" sz="4000" b="1" dirty="0">
                <a:solidFill>
                  <a:srgbClr val="FF0000"/>
                </a:solidFill>
              </a:rPr>
              <a:t>Hipnoz oluşumunda hipnotistin gücü etkilidir.</a:t>
            </a:r>
          </a:p>
        </p:txBody>
      </p:sp>
    </p:spTree>
    <p:extLst>
      <p:ext uri="{BB962C8B-B14F-4D97-AF65-F5344CB8AC3E}">
        <p14:creationId xmlns:p14="http://schemas.microsoft.com/office/powerpoint/2010/main" val="20682078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179388" y="1412875"/>
            <a:ext cx="8856662" cy="5111750"/>
          </a:xfrm>
        </p:spPr>
        <p:txBody>
          <a:bodyPr/>
          <a:lstStyle/>
          <a:p>
            <a:pPr marL="0" indent="0" eaLnBrk="1" hangingPunct="1">
              <a:lnSpc>
                <a:spcPct val="90000"/>
              </a:lnSpc>
              <a:buFont typeface="Wingdings" pitchFamily="2" charset="2"/>
              <a:buNone/>
              <a:defRPr/>
            </a:pPr>
            <a:endParaRPr lang="tr-TR" sz="2800" dirty="0"/>
          </a:p>
          <a:p>
            <a:pPr marL="457200" indent="-457200">
              <a:lnSpc>
                <a:spcPct val="90000"/>
              </a:lnSpc>
              <a:defRPr/>
            </a:pPr>
            <a:r>
              <a:rPr lang="tr-TR" sz="2800" dirty="0"/>
              <a:t>Bazı insanların diğerlerinden çok daha güç </a:t>
            </a:r>
          </a:p>
          <a:p>
            <a:pPr marL="0" indent="0" eaLnBrk="1" hangingPunct="1">
              <a:lnSpc>
                <a:spcPct val="90000"/>
              </a:lnSpc>
              <a:buFont typeface="Wingdings" pitchFamily="2" charset="2"/>
              <a:buNone/>
              <a:defRPr/>
            </a:pPr>
            <a:endParaRPr lang="tr-TR" sz="2800" dirty="0"/>
          </a:p>
          <a:p>
            <a:pPr marL="0" indent="0" eaLnBrk="1" hangingPunct="1">
              <a:lnSpc>
                <a:spcPct val="90000"/>
              </a:lnSpc>
              <a:buFont typeface="Wingdings" pitchFamily="2" charset="2"/>
              <a:buNone/>
              <a:defRPr/>
            </a:pPr>
            <a:r>
              <a:rPr lang="tr-TR" sz="2800" dirty="0"/>
              <a:t>hipnoz olduğu gerçektir. </a:t>
            </a:r>
          </a:p>
          <a:p>
            <a:pPr marL="0" indent="0" eaLnBrk="1" hangingPunct="1">
              <a:lnSpc>
                <a:spcPct val="90000"/>
              </a:lnSpc>
              <a:buFont typeface="Wingdings" pitchFamily="2" charset="2"/>
              <a:buNone/>
              <a:defRPr/>
            </a:pPr>
            <a:endParaRPr lang="tr-TR" sz="2800" dirty="0"/>
          </a:p>
          <a:p>
            <a:pPr marL="457200" indent="-457200">
              <a:lnSpc>
                <a:spcPct val="90000"/>
              </a:lnSpc>
              <a:defRPr/>
            </a:pPr>
            <a:r>
              <a:rPr lang="tr-TR" sz="2800" dirty="0"/>
              <a:t>Ama bunların hipnoz olma yeteneği </a:t>
            </a:r>
          </a:p>
          <a:p>
            <a:pPr marL="0" indent="0" eaLnBrk="1" hangingPunct="1">
              <a:lnSpc>
                <a:spcPct val="90000"/>
              </a:lnSpc>
              <a:buFont typeface="Wingdings" pitchFamily="2" charset="2"/>
              <a:buNone/>
              <a:defRPr/>
            </a:pPr>
            <a:endParaRPr lang="tr-TR" sz="2800" dirty="0"/>
          </a:p>
          <a:p>
            <a:pPr marL="0" indent="0" eaLnBrk="1" hangingPunct="1">
              <a:lnSpc>
                <a:spcPct val="90000"/>
              </a:lnSpc>
              <a:buFont typeface="Wingdings" pitchFamily="2" charset="2"/>
              <a:buNone/>
              <a:defRPr/>
            </a:pPr>
            <a:r>
              <a:rPr lang="tr-TR" sz="2800" dirty="0"/>
              <a:t>azdır anlamına gelmez. </a:t>
            </a:r>
          </a:p>
        </p:txBody>
      </p:sp>
      <p:sp>
        <p:nvSpPr>
          <p:cNvPr id="10242" name="Rectangle 2"/>
          <p:cNvSpPr>
            <a:spLocks noGrp="1" noChangeArrowheads="1"/>
          </p:cNvSpPr>
          <p:nvPr>
            <p:ph type="title"/>
          </p:nvPr>
        </p:nvSpPr>
        <p:spPr>
          <a:xfrm>
            <a:off x="152400" y="274638"/>
            <a:ext cx="8534400" cy="1143000"/>
          </a:xfrm>
        </p:spPr>
        <p:txBody>
          <a:bodyPr>
            <a:normAutofit fontScale="90000"/>
          </a:bodyPr>
          <a:lstStyle/>
          <a:p>
            <a:pPr eaLnBrk="1" hangingPunct="1">
              <a:defRPr/>
            </a:pPr>
            <a:br>
              <a:rPr lang="tr-TR" sz="4000" dirty="0">
                <a:solidFill>
                  <a:srgbClr val="FF0000"/>
                </a:solidFill>
              </a:rPr>
            </a:br>
            <a:r>
              <a:rPr lang="tr-TR" sz="4000" dirty="0">
                <a:solidFill>
                  <a:srgbClr val="FF0000"/>
                </a:solidFill>
              </a:rPr>
              <a:t>2. Yanlış inanç: </a:t>
            </a:r>
            <a:r>
              <a:rPr lang="tr-TR" sz="4000" b="1" dirty="0">
                <a:solidFill>
                  <a:srgbClr val="FF0000"/>
                </a:solidFill>
              </a:rPr>
              <a:t>Sadece belli insanlar hipnoz olur.</a:t>
            </a:r>
            <a:r>
              <a:rPr lang="tr-TR" sz="4000" dirty="0">
                <a:solidFill>
                  <a:srgbClr val="FF0000"/>
                </a:solidFill>
              </a:rPr>
              <a:t> </a:t>
            </a:r>
            <a:br>
              <a:rPr lang="tr-TR" sz="4000" dirty="0"/>
            </a:br>
            <a:endParaRPr lang="tr-TR" sz="4000" dirty="0"/>
          </a:p>
        </p:txBody>
      </p:sp>
    </p:spTree>
    <p:extLst>
      <p:ext uri="{BB962C8B-B14F-4D97-AF65-F5344CB8AC3E}">
        <p14:creationId xmlns:p14="http://schemas.microsoft.com/office/powerpoint/2010/main" val="205180805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838200"/>
            <a:ext cx="9144000" cy="5562600"/>
          </a:xfrm>
        </p:spPr>
        <p:txBody>
          <a:bodyPr>
            <a:normAutofit/>
          </a:bodyPr>
          <a:lstStyle/>
          <a:p>
            <a:pPr>
              <a:lnSpc>
                <a:spcPct val="90000"/>
              </a:lnSpc>
              <a:defRPr/>
            </a:pPr>
            <a:endParaRPr lang="tr-TR" sz="2400" dirty="0"/>
          </a:p>
          <a:p>
            <a:pPr>
              <a:lnSpc>
                <a:spcPct val="90000"/>
              </a:lnSpc>
              <a:defRPr/>
            </a:pPr>
            <a:r>
              <a:rPr lang="tr-TR" sz="2400" dirty="0"/>
              <a:t>Korkuyorlardır. </a:t>
            </a:r>
          </a:p>
          <a:p>
            <a:pPr>
              <a:lnSpc>
                <a:spcPct val="90000"/>
              </a:lnSpc>
              <a:defRPr/>
            </a:pPr>
            <a:endParaRPr lang="tr-TR" sz="2400" dirty="0"/>
          </a:p>
          <a:p>
            <a:pPr>
              <a:lnSpc>
                <a:spcPct val="90000"/>
              </a:lnSpc>
              <a:defRPr/>
            </a:pPr>
            <a:r>
              <a:rPr lang="tr-TR" sz="2400" dirty="0"/>
              <a:t>Anlamı muğlak telkinleri uygulamakta zorlanabilirler. </a:t>
            </a:r>
          </a:p>
          <a:p>
            <a:pPr>
              <a:lnSpc>
                <a:spcPct val="90000"/>
              </a:lnSpc>
              <a:defRPr/>
            </a:pPr>
            <a:endParaRPr lang="tr-TR" sz="2400" dirty="0"/>
          </a:p>
          <a:p>
            <a:pPr>
              <a:lnSpc>
                <a:spcPct val="90000"/>
              </a:lnSpc>
              <a:defRPr/>
            </a:pPr>
            <a:r>
              <a:rPr lang="tr-TR" sz="2400" dirty="0"/>
              <a:t>Her şeyi analiz etme alışkanlığı vardır. </a:t>
            </a:r>
          </a:p>
          <a:p>
            <a:pPr>
              <a:lnSpc>
                <a:spcPct val="90000"/>
              </a:lnSpc>
              <a:defRPr/>
            </a:pPr>
            <a:endParaRPr lang="tr-TR" sz="2400" dirty="0"/>
          </a:p>
          <a:p>
            <a:pPr>
              <a:lnSpc>
                <a:spcPct val="90000"/>
              </a:lnSpc>
              <a:defRPr/>
            </a:pPr>
            <a:r>
              <a:rPr lang="tr-TR" sz="2400" dirty="0"/>
              <a:t>Değişime hazır değildir. </a:t>
            </a:r>
          </a:p>
          <a:p>
            <a:pPr>
              <a:lnSpc>
                <a:spcPct val="90000"/>
              </a:lnSpc>
              <a:defRPr/>
            </a:pPr>
            <a:endParaRPr lang="tr-TR" sz="2400" dirty="0"/>
          </a:p>
          <a:p>
            <a:pPr>
              <a:lnSpc>
                <a:spcPct val="90000"/>
              </a:lnSpc>
              <a:defRPr/>
            </a:pPr>
            <a:r>
              <a:rPr lang="tr-TR" sz="2400" dirty="0"/>
              <a:t>Aslında değişmekten korkuyordur. </a:t>
            </a:r>
          </a:p>
          <a:p>
            <a:pPr>
              <a:lnSpc>
                <a:spcPct val="90000"/>
              </a:lnSpc>
              <a:defRPr/>
            </a:pPr>
            <a:endParaRPr lang="tr-TR" sz="2400" dirty="0"/>
          </a:p>
          <a:p>
            <a:pPr>
              <a:lnSpc>
                <a:spcPct val="90000"/>
              </a:lnSpc>
              <a:defRPr/>
            </a:pPr>
            <a:r>
              <a:rPr lang="tr-TR" sz="2400" dirty="0"/>
              <a:t>Bu etkenler anlaşılıp çözüldüğünde kötü müşteri             iyi müşteri haline gelir.</a:t>
            </a:r>
          </a:p>
          <a:p>
            <a:endParaRPr lang="tr-TR" dirty="0"/>
          </a:p>
        </p:txBody>
      </p:sp>
      <p:sp>
        <p:nvSpPr>
          <p:cNvPr id="3" name="Title 2"/>
          <p:cNvSpPr>
            <a:spLocks noGrp="1"/>
          </p:cNvSpPr>
          <p:nvPr>
            <p:ph type="title"/>
          </p:nvPr>
        </p:nvSpPr>
        <p:spPr/>
        <p:txBody>
          <a:bodyPr/>
          <a:lstStyle/>
          <a:p>
            <a:endParaRPr lang="tr-TR"/>
          </a:p>
        </p:txBody>
      </p:sp>
    </p:spTree>
    <p:extLst>
      <p:ext uri="{BB962C8B-B14F-4D97-AF65-F5344CB8AC3E}">
        <p14:creationId xmlns:p14="http://schemas.microsoft.com/office/powerpoint/2010/main" val="13433956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0" y="1481328"/>
            <a:ext cx="9144000" cy="5224272"/>
          </a:xfrm>
        </p:spPr>
        <p:txBody>
          <a:bodyPr/>
          <a:lstStyle/>
          <a:p>
            <a:pPr eaLnBrk="1" hangingPunct="1">
              <a:defRPr/>
            </a:pPr>
            <a:endParaRPr lang="tr-TR" dirty="0"/>
          </a:p>
          <a:p>
            <a:pPr eaLnBrk="1" hangingPunct="1">
              <a:defRPr/>
            </a:pPr>
            <a:r>
              <a:rPr lang="tr-TR" dirty="0"/>
              <a:t>Her insan bir çok durumda farkında olmadan hipnotik durumlara girer. </a:t>
            </a:r>
          </a:p>
          <a:p>
            <a:pPr eaLnBrk="1" hangingPunct="1">
              <a:defRPr/>
            </a:pPr>
            <a:endParaRPr lang="tr-TR" dirty="0"/>
          </a:p>
          <a:p>
            <a:pPr eaLnBrk="1" hangingPunct="1">
              <a:defRPr/>
            </a:pPr>
            <a:r>
              <a:rPr lang="tr-TR" dirty="0"/>
              <a:t>Hipnoz doğal bir durumdur. </a:t>
            </a:r>
          </a:p>
          <a:p>
            <a:pPr eaLnBrk="1" hangingPunct="1">
              <a:defRPr/>
            </a:pPr>
            <a:endParaRPr lang="tr-TR" dirty="0"/>
          </a:p>
          <a:p>
            <a:pPr eaLnBrk="1" hangingPunct="1">
              <a:defRPr/>
            </a:pPr>
            <a:r>
              <a:rPr lang="tr-TR" dirty="0"/>
              <a:t>Hipnoz olabilen bir kişi aksine zihnini kontrol etme gücüne sahiptir. </a:t>
            </a:r>
          </a:p>
          <a:p>
            <a:pPr eaLnBrk="1" hangingPunct="1">
              <a:defRPr/>
            </a:pPr>
            <a:endParaRPr lang="tr-TR" dirty="0"/>
          </a:p>
          <a:p>
            <a:pPr eaLnBrk="1" hangingPunct="1">
              <a:defRPr/>
            </a:pPr>
            <a:r>
              <a:rPr lang="tr-TR" dirty="0"/>
              <a:t>İstediğini yerine getirme gücüne sahiptir. </a:t>
            </a:r>
          </a:p>
        </p:txBody>
      </p:sp>
      <p:sp>
        <p:nvSpPr>
          <p:cNvPr id="11266" name="Rectangle 2"/>
          <p:cNvSpPr>
            <a:spLocks noGrp="1" noChangeArrowheads="1"/>
          </p:cNvSpPr>
          <p:nvPr>
            <p:ph type="title"/>
          </p:nvPr>
        </p:nvSpPr>
        <p:spPr/>
        <p:txBody>
          <a:bodyPr>
            <a:normAutofit fontScale="90000"/>
          </a:bodyPr>
          <a:lstStyle/>
          <a:p>
            <a:pPr eaLnBrk="1" hangingPunct="1">
              <a:defRPr/>
            </a:pPr>
            <a:r>
              <a:rPr lang="tr-TR" sz="4000" dirty="0">
                <a:solidFill>
                  <a:srgbClr val="FF0000"/>
                </a:solidFill>
              </a:rPr>
              <a:t>3. Yanlış inanç: </a:t>
            </a:r>
            <a:r>
              <a:rPr lang="tr-TR" sz="4000" b="1" dirty="0">
                <a:solidFill>
                  <a:srgbClr val="FF0000"/>
                </a:solidFill>
              </a:rPr>
              <a:t>Hipnoz olanların zihni zayıftır.</a:t>
            </a:r>
          </a:p>
        </p:txBody>
      </p:sp>
    </p:spTree>
    <p:extLst>
      <p:ext uri="{BB962C8B-B14F-4D97-AF65-F5344CB8AC3E}">
        <p14:creationId xmlns:p14="http://schemas.microsoft.com/office/powerpoint/2010/main" val="373913885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idx="1"/>
          </p:nvPr>
        </p:nvSpPr>
        <p:spPr>
          <a:xfrm>
            <a:off x="0" y="1524000"/>
            <a:ext cx="8686800" cy="5257800"/>
          </a:xfrm>
        </p:spPr>
        <p:txBody>
          <a:bodyPr/>
          <a:lstStyle/>
          <a:p>
            <a:pPr eaLnBrk="1" hangingPunct="1">
              <a:defRPr/>
            </a:pPr>
            <a:endParaRPr lang="tr-TR" dirty="0"/>
          </a:p>
          <a:p>
            <a:pPr eaLnBrk="1" hangingPunct="1">
              <a:defRPr/>
            </a:pPr>
            <a:r>
              <a:rPr lang="tr-TR" dirty="0"/>
              <a:t>Hipnoz karşılıklı bir güç paylaşımıdır.</a:t>
            </a:r>
          </a:p>
          <a:p>
            <a:pPr eaLnBrk="1" hangingPunct="1">
              <a:defRPr/>
            </a:pPr>
            <a:endParaRPr lang="tr-TR" dirty="0"/>
          </a:p>
          <a:p>
            <a:pPr eaLnBrk="1" hangingPunct="1">
              <a:defRPr/>
            </a:pPr>
            <a:r>
              <a:rPr lang="tr-TR" dirty="0"/>
              <a:t>Suje hipnoza girmek istemezse, girmez.</a:t>
            </a:r>
          </a:p>
          <a:p>
            <a:pPr eaLnBrk="1" hangingPunct="1">
              <a:defRPr/>
            </a:pPr>
            <a:endParaRPr lang="tr-TR" dirty="0"/>
          </a:p>
          <a:p>
            <a:pPr eaLnBrk="1" hangingPunct="1">
              <a:defRPr/>
            </a:pPr>
            <a:r>
              <a:rPr lang="tr-TR" dirty="0"/>
              <a:t>İçinde bulunulan koşullar önemlidir. </a:t>
            </a:r>
          </a:p>
          <a:p>
            <a:pPr eaLnBrk="1" hangingPunct="1">
              <a:defRPr/>
            </a:pPr>
            <a:endParaRPr lang="tr-TR" dirty="0"/>
          </a:p>
          <a:p>
            <a:pPr eaLnBrk="1" hangingPunct="1">
              <a:defRPr/>
            </a:pPr>
            <a:r>
              <a:rPr lang="tr-TR" dirty="0"/>
              <a:t>En eğilimli suje bile olumsuz koşullarda hipnoza girmeyebilir.</a:t>
            </a:r>
          </a:p>
        </p:txBody>
      </p:sp>
      <p:sp>
        <p:nvSpPr>
          <p:cNvPr id="12290" name="Rectangle 2"/>
          <p:cNvSpPr>
            <a:spLocks noGrp="1" noChangeArrowheads="1"/>
          </p:cNvSpPr>
          <p:nvPr>
            <p:ph type="title"/>
          </p:nvPr>
        </p:nvSpPr>
        <p:spPr/>
        <p:txBody>
          <a:bodyPr>
            <a:normAutofit fontScale="90000"/>
          </a:bodyPr>
          <a:lstStyle/>
          <a:p>
            <a:pPr eaLnBrk="1" hangingPunct="1">
              <a:defRPr/>
            </a:pPr>
            <a:r>
              <a:rPr lang="tr-TR" sz="3200" dirty="0">
                <a:solidFill>
                  <a:srgbClr val="FF0000"/>
                </a:solidFill>
              </a:rPr>
              <a:t>4. Yanlış inanç: </a:t>
            </a:r>
            <a:r>
              <a:rPr lang="tr-TR" sz="3200" b="1" dirty="0">
                <a:solidFill>
                  <a:srgbClr val="FF0000"/>
                </a:solidFill>
              </a:rPr>
              <a:t>Hipnoz başladıktan sonra artık kişi durumunu kontrol edemez.</a:t>
            </a:r>
          </a:p>
        </p:txBody>
      </p:sp>
    </p:spTree>
    <p:extLst>
      <p:ext uri="{BB962C8B-B14F-4D97-AF65-F5344CB8AC3E}">
        <p14:creationId xmlns:p14="http://schemas.microsoft.com/office/powerpoint/2010/main" val="19549530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idx="1"/>
          </p:nvPr>
        </p:nvSpPr>
        <p:spPr>
          <a:xfrm>
            <a:off x="0" y="1481328"/>
            <a:ext cx="8991600" cy="5300472"/>
          </a:xfrm>
        </p:spPr>
        <p:txBody>
          <a:bodyPr/>
          <a:lstStyle/>
          <a:p>
            <a:pPr eaLnBrk="1" hangingPunct="1">
              <a:defRPr/>
            </a:pPr>
            <a:endParaRPr lang="tr-TR" dirty="0"/>
          </a:p>
          <a:p>
            <a:pPr eaLnBrk="1" hangingPunct="1">
              <a:defRPr/>
            </a:pPr>
            <a:r>
              <a:rPr lang="tr-TR" dirty="0"/>
              <a:t>Bir insanın inançları ve normal davranışları dışında davranması bilinen bir durumdur.</a:t>
            </a:r>
          </a:p>
          <a:p>
            <a:pPr eaLnBrk="1" hangingPunct="1">
              <a:defRPr/>
            </a:pPr>
            <a:endParaRPr lang="tr-TR" dirty="0"/>
          </a:p>
          <a:p>
            <a:pPr eaLnBrk="1" hangingPunct="1">
              <a:defRPr/>
            </a:pPr>
            <a:r>
              <a:rPr lang="tr-TR" dirty="0"/>
              <a:t>Yani beyin yıkama diye bir şey vardır. </a:t>
            </a:r>
          </a:p>
          <a:p>
            <a:pPr eaLnBrk="1" hangingPunct="1">
              <a:defRPr/>
            </a:pPr>
            <a:endParaRPr lang="tr-TR" dirty="0"/>
          </a:p>
          <a:p>
            <a:pPr eaLnBrk="1" hangingPunct="1">
              <a:defRPr/>
            </a:pPr>
            <a:r>
              <a:rPr lang="tr-TR" dirty="0"/>
              <a:t>Ama tedavi ortamında bu tip koşullar oluşmaz. </a:t>
            </a:r>
          </a:p>
          <a:p>
            <a:pPr eaLnBrk="1" hangingPunct="1">
              <a:defRPr/>
            </a:pPr>
            <a:endParaRPr lang="tr-TR" dirty="0"/>
          </a:p>
          <a:p>
            <a:pPr eaLnBrk="1" hangingPunct="1">
              <a:defRPr/>
            </a:pPr>
            <a:r>
              <a:rPr lang="tr-TR" dirty="0"/>
              <a:t>Yani bir insanı kontrol etmek mümkündür ama   bu durumu yaratan koşullar hipnoz değildir. </a:t>
            </a:r>
          </a:p>
        </p:txBody>
      </p:sp>
      <p:sp>
        <p:nvSpPr>
          <p:cNvPr id="13314" name="Rectangle 2"/>
          <p:cNvSpPr>
            <a:spLocks noGrp="1" noChangeArrowheads="1"/>
          </p:cNvSpPr>
          <p:nvPr>
            <p:ph type="title"/>
          </p:nvPr>
        </p:nvSpPr>
        <p:spPr>
          <a:xfrm>
            <a:off x="457200" y="274638"/>
            <a:ext cx="8458200" cy="1143000"/>
          </a:xfrm>
        </p:spPr>
        <p:txBody>
          <a:bodyPr>
            <a:normAutofit fontScale="90000"/>
          </a:bodyPr>
          <a:lstStyle/>
          <a:p>
            <a:pPr eaLnBrk="1" hangingPunct="1">
              <a:defRPr/>
            </a:pPr>
            <a:r>
              <a:rPr lang="tr-TR" sz="3600" dirty="0">
                <a:solidFill>
                  <a:srgbClr val="FF0000"/>
                </a:solidFill>
              </a:rPr>
              <a:t>5. Yanlış inanç: </a:t>
            </a:r>
            <a:r>
              <a:rPr lang="tr-TR" sz="3600" b="1" dirty="0">
                <a:solidFill>
                  <a:srgbClr val="FF0000"/>
                </a:solidFill>
              </a:rPr>
              <a:t>Hipnozdaki kişi iradesi dışında bir şeyler söyler ya da yapar. </a:t>
            </a:r>
            <a:endParaRPr lang="tr-TR" sz="4000" dirty="0"/>
          </a:p>
        </p:txBody>
      </p:sp>
    </p:spTree>
    <p:extLst>
      <p:ext uri="{BB962C8B-B14F-4D97-AF65-F5344CB8AC3E}">
        <p14:creationId xmlns:p14="http://schemas.microsoft.com/office/powerpoint/2010/main" val="111049611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idx="1"/>
          </p:nvPr>
        </p:nvSpPr>
        <p:spPr>
          <a:xfrm>
            <a:off x="323850" y="1981200"/>
            <a:ext cx="8362950" cy="4876800"/>
          </a:xfrm>
        </p:spPr>
        <p:txBody>
          <a:bodyPr/>
          <a:lstStyle/>
          <a:p>
            <a:pPr eaLnBrk="1" hangingPunct="1">
              <a:lnSpc>
                <a:spcPct val="90000"/>
              </a:lnSpc>
              <a:defRPr/>
            </a:pPr>
            <a:r>
              <a:rPr lang="tr-TR" sz="2800" dirty="0"/>
              <a:t>Yetersiz bir şahıs, bir kişinin zihinsel bütünlüğüne kötü niyetle ya da cehaleti nedeniyle zarar verebilir. </a:t>
            </a:r>
          </a:p>
          <a:p>
            <a:pPr eaLnBrk="1" hangingPunct="1">
              <a:lnSpc>
                <a:spcPct val="90000"/>
              </a:lnSpc>
              <a:defRPr/>
            </a:pPr>
            <a:r>
              <a:rPr lang="tr-TR" sz="2800" dirty="0"/>
              <a:t>Ama zararı veren hipnozun kendisi değildir.</a:t>
            </a:r>
          </a:p>
          <a:p>
            <a:pPr eaLnBrk="1" hangingPunct="1">
              <a:lnSpc>
                <a:spcPct val="90000"/>
              </a:lnSpc>
              <a:defRPr/>
            </a:pPr>
            <a:r>
              <a:rPr lang="tr-TR" sz="2800" dirty="0"/>
              <a:t>Hipnotistin sujeyi iyi yönetememesi sorun arz edebilir. </a:t>
            </a:r>
          </a:p>
          <a:p>
            <a:pPr eaLnBrk="1" hangingPunct="1">
              <a:lnSpc>
                <a:spcPct val="90000"/>
              </a:lnSpc>
              <a:defRPr/>
            </a:pPr>
            <a:r>
              <a:rPr lang="tr-TR" sz="2800" dirty="0"/>
              <a:t>Ama aynı tehlike üzüntülü, stres altında olan her şahıs için her durumda söz konusudur. </a:t>
            </a:r>
          </a:p>
          <a:p>
            <a:pPr eaLnBrk="1" hangingPunct="1">
              <a:lnSpc>
                <a:spcPct val="90000"/>
              </a:lnSpc>
              <a:defRPr/>
            </a:pPr>
            <a:r>
              <a:rPr lang="tr-TR" sz="2800" dirty="0"/>
              <a:t>Yetersiz bir hipnotist her durumda yanlış bilgiler verebilir, yanlış tedavi uygulayabilir. </a:t>
            </a:r>
          </a:p>
        </p:txBody>
      </p:sp>
      <p:sp>
        <p:nvSpPr>
          <p:cNvPr id="14338" name="Rectangle 2"/>
          <p:cNvSpPr>
            <a:spLocks noGrp="1" noChangeArrowheads="1"/>
          </p:cNvSpPr>
          <p:nvPr>
            <p:ph type="title"/>
          </p:nvPr>
        </p:nvSpPr>
        <p:spPr/>
        <p:txBody>
          <a:bodyPr>
            <a:normAutofit fontScale="90000"/>
          </a:bodyPr>
          <a:lstStyle/>
          <a:p>
            <a:pPr eaLnBrk="1" hangingPunct="1">
              <a:defRPr/>
            </a:pPr>
            <a:r>
              <a:rPr lang="tr-TR" sz="4000" dirty="0">
                <a:solidFill>
                  <a:srgbClr val="FF0000"/>
                </a:solidFill>
              </a:rPr>
              <a:t>6.Yanlış inanç: </a:t>
            </a:r>
            <a:r>
              <a:rPr lang="tr-TR" sz="4000" b="1" dirty="0">
                <a:solidFill>
                  <a:srgbClr val="FF0000"/>
                </a:solidFill>
              </a:rPr>
              <a:t>Hipnoz olmak sağlığınıza tehlike yaratabilir</a:t>
            </a:r>
            <a:r>
              <a:rPr lang="tr-TR" sz="4000" dirty="0">
                <a:solidFill>
                  <a:srgbClr val="FF0000"/>
                </a:solidFill>
              </a:rPr>
              <a:t>. </a:t>
            </a:r>
            <a:endParaRPr lang="tr-TR" sz="4000" dirty="0"/>
          </a:p>
        </p:txBody>
      </p:sp>
    </p:spTree>
    <p:extLst>
      <p:ext uri="{BB962C8B-B14F-4D97-AF65-F5344CB8AC3E}">
        <p14:creationId xmlns:p14="http://schemas.microsoft.com/office/powerpoint/2010/main" val="279834142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a:xfrm>
            <a:off x="0" y="1481328"/>
            <a:ext cx="9220200" cy="4767072"/>
          </a:xfrm>
        </p:spPr>
        <p:txBody>
          <a:bodyPr>
            <a:normAutofit fontScale="92500"/>
          </a:bodyPr>
          <a:lstStyle/>
          <a:p>
            <a:pPr eaLnBrk="1" hangingPunct="1">
              <a:defRPr/>
            </a:pPr>
            <a:r>
              <a:rPr lang="tr-TR" sz="2800" dirty="0"/>
              <a:t>Bağımlılık bir ihtiyaçtır. </a:t>
            </a:r>
          </a:p>
          <a:p>
            <a:pPr eaLnBrk="1" hangingPunct="1">
              <a:defRPr/>
            </a:pPr>
            <a:endParaRPr lang="tr-TR" sz="2800" dirty="0"/>
          </a:p>
          <a:p>
            <a:pPr eaLnBrk="1" hangingPunct="1">
              <a:defRPr/>
            </a:pPr>
            <a:r>
              <a:rPr lang="tr-TR" sz="2800" dirty="0"/>
              <a:t>Hipnoz uygun kullanıldığında acı çeken bir kişiye son derece güçlü bir yardım aracı olarak kullanılabilir. </a:t>
            </a:r>
          </a:p>
          <a:p>
            <a:pPr eaLnBrk="1" hangingPunct="1">
              <a:defRPr/>
            </a:pPr>
            <a:endParaRPr lang="tr-TR" sz="2800" dirty="0"/>
          </a:p>
          <a:p>
            <a:pPr eaLnBrk="1" hangingPunct="1">
              <a:defRPr/>
            </a:pPr>
            <a:r>
              <a:rPr lang="tr-TR" sz="2800" dirty="0"/>
              <a:t>Bu ihtiyaç devam ettiği sürece bir kişinin yararını gördüğü bir yönteme bağlanması doğaldır. </a:t>
            </a:r>
          </a:p>
          <a:p>
            <a:pPr eaLnBrk="1" hangingPunct="1">
              <a:defRPr/>
            </a:pPr>
            <a:endParaRPr lang="tr-TR" sz="2800" dirty="0"/>
          </a:p>
          <a:p>
            <a:pPr eaLnBrk="1" hangingPunct="1">
              <a:defRPr/>
            </a:pPr>
            <a:r>
              <a:rPr lang="tr-TR" sz="2800" dirty="0"/>
              <a:t>Self-hipnozu öğrenerek sürekli kullanması onu günlük streslerinden kurtulmakta büyük bir kolaylık sağlar.</a:t>
            </a:r>
          </a:p>
        </p:txBody>
      </p:sp>
      <p:sp>
        <p:nvSpPr>
          <p:cNvPr id="15362" name="Rectangle 2"/>
          <p:cNvSpPr>
            <a:spLocks noGrp="1" noChangeArrowheads="1"/>
          </p:cNvSpPr>
          <p:nvPr>
            <p:ph type="title"/>
          </p:nvPr>
        </p:nvSpPr>
        <p:spPr>
          <a:xfrm>
            <a:off x="0" y="274638"/>
            <a:ext cx="8991600" cy="1143000"/>
          </a:xfrm>
        </p:spPr>
        <p:txBody>
          <a:bodyPr>
            <a:normAutofit fontScale="90000"/>
          </a:bodyPr>
          <a:lstStyle/>
          <a:p>
            <a:pPr eaLnBrk="1" hangingPunct="1">
              <a:defRPr/>
            </a:pPr>
            <a:r>
              <a:rPr lang="tr-TR" sz="4000" dirty="0">
                <a:solidFill>
                  <a:srgbClr val="FF0000"/>
                </a:solidFill>
              </a:rPr>
              <a:t>7. Yanlış inanç: </a:t>
            </a:r>
            <a:r>
              <a:rPr lang="tr-TR" sz="4000" b="1" dirty="0">
                <a:solidFill>
                  <a:srgbClr val="FF0000"/>
                </a:solidFill>
              </a:rPr>
              <a:t>Hipnoz bağımlılık yapar</a:t>
            </a:r>
            <a:endParaRPr lang="tr-TR" sz="4000" dirty="0"/>
          </a:p>
        </p:txBody>
      </p:sp>
    </p:spTree>
    <p:extLst>
      <p:ext uri="{BB962C8B-B14F-4D97-AF65-F5344CB8AC3E}">
        <p14:creationId xmlns:p14="http://schemas.microsoft.com/office/powerpoint/2010/main" val="350056961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a:xfrm>
            <a:off x="0" y="1481328"/>
            <a:ext cx="9144000" cy="4525963"/>
          </a:xfrm>
        </p:spPr>
        <p:txBody>
          <a:bodyPr/>
          <a:lstStyle/>
          <a:p>
            <a:pPr eaLnBrk="1" hangingPunct="1">
              <a:lnSpc>
                <a:spcPct val="90000"/>
              </a:lnSpc>
              <a:defRPr/>
            </a:pPr>
            <a:endParaRPr lang="tr-TR" dirty="0"/>
          </a:p>
          <a:p>
            <a:pPr eaLnBrk="1" hangingPunct="1">
              <a:lnSpc>
                <a:spcPct val="90000"/>
              </a:lnSpc>
              <a:defRPr/>
            </a:pPr>
            <a:endParaRPr lang="tr-TR" dirty="0"/>
          </a:p>
          <a:p>
            <a:pPr eaLnBrk="1" hangingPunct="1">
              <a:lnSpc>
                <a:spcPct val="90000"/>
              </a:lnSpc>
              <a:defRPr/>
            </a:pPr>
            <a:r>
              <a:rPr lang="tr-TR" dirty="0"/>
              <a:t>Böyle bir şey olmamıştır. </a:t>
            </a:r>
          </a:p>
          <a:p>
            <a:pPr eaLnBrk="1" hangingPunct="1">
              <a:lnSpc>
                <a:spcPct val="90000"/>
              </a:lnSpc>
              <a:defRPr/>
            </a:pPr>
            <a:endParaRPr lang="tr-TR" dirty="0"/>
          </a:p>
          <a:p>
            <a:pPr eaLnBrk="1" hangingPunct="1">
              <a:lnSpc>
                <a:spcPct val="90000"/>
              </a:lnSpc>
              <a:defRPr/>
            </a:pPr>
            <a:r>
              <a:rPr lang="tr-TR" dirty="0"/>
              <a:t>Hipnotistin ilgisi kaybolduğunu anlayan her suje hipnozdan çıkar. </a:t>
            </a:r>
          </a:p>
        </p:txBody>
      </p:sp>
      <p:sp>
        <p:nvSpPr>
          <p:cNvPr id="16386" name="Rectangle 2"/>
          <p:cNvSpPr>
            <a:spLocks noGrp="1" noChangeArrowheads="1"/>
          </p:cNvSpPr>
          <p:nvPr>
            <p:ph type="title"/>
          </p:nvPr>
        </p:nvSpPr>
        <p:spPr>
          <a:xfrm>
            <a:off x="0" y="274638"/>
            <a:ext cx="8991600" cy="1143000"/>
          </a:xfrm>
        </p:spPr>
        <p:txBody>
          <a:bodyPr>
            <a:normAutofit fontScale="90000"/>
          </a:bodyPr>
          <a:lstStyle/>
          <a:p>
            <a:pPr eaLnBrk="1" hangingPunct="1">
              <a:defRPr/>
            </a:pPr>
            <a:r>
              <a:rPr lang="tr-TR" sz="4000" dirty="0">
                <a:solidFill>
                  <a:srgbClr val="FF0000"/>
                </a:solidFill>
              </a:rPr>
              <a:t>8. Yanlış inanç: </a:t>
            </a:r>
            <a:r>
              <a:rPr lang="tr-TR" sz="4000" b="1" dirty="0">
                <a:solidFill>
                  <a:srgbClr val="FF0000"/>
                </a:solidFill>
              </a:rPr>
              <a:t>Bir kişi sürekli hipnozda kalabilir.</a:t>
            </a:r>
            <a:r>
              <a:rPr lang="tr-TR" sz="4000" dirty="0">
                <a:solidFill>
                  <a:srgbClr val="FF0000"/>
                </a:solidFill>
              </a:rPr>
              <a:t> </a:t>
            </a:r>
            <a:endParaRPr lang="tr-TR" sz="4000" dirty="0"/>
          </a:p>
        </p:txBody>
      </p:sp>
    </p:spTree>
    <p:extLst>
      <p:ext uri="{BB962C8B-B14F-4D97-AF65-F5344CB8AC3E}">
        <p14:creationId xmlns:p14="http://schemas.microsoft.com/office/powerpoint/2010/main" val="191213769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idx="1"/>
          </p:nvPr>
        </p:nvSpPr>
        <p:spPr>
          <a:xfrm>
            <a:off x="0" y="1219200"/>
            <a:ext cx="9144000" cy="5638800"/>
          </a:xfrm>
        </p:spPr>
        <p:txBody>
          <a:bodyPr/>
          <a:lstStyle/>
          <a:p>
            <a:pPr eaLnBrk="1" hangingPunct="1">
              <a:lnSpc>
                <a:spcPct val="90000"/>
              </a:lnSpc>
              <a:defRPr/>
            </a:pPr>
            <a:r>
              <a:rPr lang="tr-TR" sz="2400" dirty="0"/>
              <a:t>Hipnoz uyku değildir. </a:t>
            </a:r>
          </a:p>
          <a:p>
            <a:pPr eaLnBrk="1" hangingPunct="1">
              <a:lnSpc>
                <a:spcPct val="90000"/>
              </a:lnSpc>
              <a:defRPr/>
            </a:pPr>
            <a:endParaRPr lang="tr-TR" sz="2400" dirty="0"/>
          </a:p>
          <a:p>
            <a:pPr eaLnBrk="1" hangingPunct="1">
              <a:lnSpc>
                <a:spcPct val="90000"/>
              </a:lnSpc>
              <a:defRPr/>
            </a:pPr>
            <a:r>
              <a:rPr lang="tr-TR" sz="2400" dirty="0"/>
              <a:t>Fiziksel yönden uykuyu andırır. Ama zihinsel yönden uyanıktır. </a:t>
            </a:r>
          </a:p>
          <a:p>
            <a:pPr eaLnBrk="1" hangingPunct="1">
              <a:lnSpc>
                <a:spcPct val="90000"/>
              </a:lnSpc>
              <a:defRPr/>
            </a:pPr>
            <a:endParaRPr lang="tr-TR" sz="2400" dirty="0"/>
          </a:p>
          <a:p>
            <a:pPr eaLnBrk="1" hangingPunct="1">
              <a:lnSpc>
                <a:spcPct val="90000"/>
              </a:lnSpc>
              <a:defRPr/>
            </a:pPr>
            <a:r>
              <a:rPr lang="tr-TR" sz="2400" dirty="0"/>
              <a:t>En derin hipnozda bile dış gerçekliğe belli bir düzeyde uyum vardır. </a:t>
            </a:r>
          </a:p>
          <a:p>
            <a:pPr eaLnBrk="1" hangingPunct="1">
              <a:lnSpc>
                <a:spcPct val="90000"/>
              </a:lnSpc>
              <a:defRPr/>
            </a:pPr>
            <a:endParaRPr lang="tr-TR" sz="2400" dirty="0"/>
          </a:p>
          <a:p>
            <a:pPr eaLnBrk="1" hangingPunct="1">
              <a:lnSpc>
                <a:spcPct val="90000"/>
              </a:lnSpc>
              <a:defRPr/>
            </a:pPr>
            <a:r>
              <a:rPr lang="tr-TR" sz="2400" dirty="0"/>
              <a:t>Bazı kimseler hipnozda uyuduğunu zannedebilirler. Aslında burada olan, doğal ya da telkine bağlı olarak hipnoz seansının unutulmasından ibarettir. </a:t>
            </a:r>
          </a:p>
          <a:p>
            <a:pPr eaLnBrk="1" hangingPunct="1">
              <a:lnSpc>
                <a:spcPct val="90000"/>
              </a:lnSpc>
              <a:defRPr/>
            </a:pPr>
            <a:endParaRPr lang="tr-TR" sz="2400" dirty="0"/>
          </a:p>
          <a:p>
            <a:pPr eaLnBrk="1" hangingPunct="1">
              <a:lnSpc>
                <a:spcPct val="90000"/>
              </a:lnSpc>
              <a:defRPr/>
            </a:pPr>
            <a:r>
              <a:rPr lang="tr-TR" sz="2400" dirty="0"/>
              <a:t>Bilinçaltı unutturma telkinlerini kabul eder. </a:t>
            </a:r>
          </a:p>
        </p:txBody>
      </p:sp>
      <p:sp>
        <p:nvSpPr>
          <p:cNvPr id="17410" name="Rectangle 2"/>
          <p:cNvSpPr>
            <a:spLocks noGrp="1" noChangeArrowheads="1"/>
          </p:cNvSpPr>
          <p:nvPr>
            <p:ph type="title"/>
          </p:nvPr>
        </p:nvSpPr>
        <p:spPr>
          <a:xfrm>
            <a:off x="0" y="27709"/>
            <a:ext cx="8991600" cy="1143000"/>
          </a:xfrm>
        </p:spPr>
        <p:txBody>
          <a:bodyPr>
            <a:normAutofit fontScale="90000"/>
          </a:bodyPr>
          <a:lstStyle/>
          <a:p>
            <a:pPr eaLnBrk="1" hangingPunct="1">
              <a:defRPr/>
            </a:pPr>
            <a:r>
              <a:rPr lang="tr-TR" sz="4000" dirty="0">
                <a:solidFill>
                  <a:srgbClr val="FF0000"/>
                </a:solidFill>
              </a:rPr>
              <a:t>9. Yanlış inanç: </a:t>
            </a:r>
            <a:r>
              <a:rPr lang="tr-TR" sz="4000" b="1" dirty="0">
                <a:solidFill>
                  <a:srgbClr val="FF0000"/>
                </a:solidFill>
              </a:rPr>
              <a:t>Bir kişi hipnozda bilinçdışı ya da uyku halindedir.</a:t>
            </a:r>
            <a:endParaRPr lang="tr-TR" sz="4000" dirty="0"/>
          </a:p>
        </p:txBody>
      </p:sp>
    </p:spTree>
    <p:extLst>
      <p:ext uri="{BB962C8B-B14F-4D97-AF65-F5344CB8AC3E}">
        <p14:creationId xmlns:p14="http://schemas.microsoft.com/office/powerpoint/2010/main" val="8977494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152400" y="1481328"/>
            <a:ext cx="8991600" cy="5300472"/>
          </a:xfrm>
        </p:spPr>
        <p:txBody>
          <a:bodyPr>
            <a:normAutofit/>
          </a:bodyPr>
          <a:lstStyle/>
          <a:p>
            <a:pPr eaLnBrk="1" hangingPunct="1">
              <a:lnSpc>
                <a:spcPct val="90000"/>
              </a:lnSpc>
              <a:defRPr/>
            </a:pPr>
            <a:endParaRPr lang="tr-TR" sz="3200" dirty="0"/>
          </a:p>
          <a:p>
            <a:pPr eaLnBrk="1" hangingPunct="1">
              <a:lnSpc>
                <a:spcPct val="90000"/>
              </a:lnSpc>
              <a:defRPr/>
            </a:pPr>
            <a:r>
              <a:rPr lang="tr-TR" sz="3200" dirty="0"/>
              <a:t>Hipnoz oluşması için kalıplara bağlı bir törene gerek yoktur. </a:t>
            </a:r>
          </a:p>
          <a:p>
            <a:pPr eaLnBrk="1" hangingPunct="1">
              <a:lnSpc>
                <a:spcPct val="90000"/>
              </a:lnSpc>
              <a:defRPr/>
            </a:pPr>
            <a:endParaRPr lang="tr-TR" sz="3200" dirty="0"/>
          </a:p>
          <a:p>
            <a:pPr eaLnBrk="1" hangingPunct="1">
              <a:lnSpc>
                <a:spcPct val="90000"/>
              </a:lnSpc>
              <a:defRPr/>
            </a:pPr>
            <a:r>
              <a:rPr lang="tr-TR" sz="3200" dirty="0"/>
              <a:t>Bir çok klasik hipnotik olay bu törenselliğin dışında oluşur. </a:t>
            </a:r>
          </a:p>
          <a:p>
            <a:pPr eaLnBrk="1" hangingPunct="1">
              <a:lnSpc>
                <a:spcPct val="90000"/>
              </a:lnSpc>
              <a:defRPr/>
            </a:pPr>
            <a:endParaRPr lang="tr-TR" sz="3200" dirty="0"/>
          </a:p>
          <a:p>
            <a:pPr eaLnBrk="1" hangingPunct="1">
              <a:lnSpc>
                <a:spcPct val="90000"/>
              </a:lnSpc>
              <a:defRPr/>
            </a:pPr>
            <a:r>
              <a:rPr lang="tr-TR" sz="3200" dirty="0"/>
              <a:t>Monoton ve törensel bir özelliği olan her türlü konuşma bir süre sonra dinleyende farklı etkiler oluşturmaya başlar. </a:t>
            </a:r>
          </a:p>
        </p:txBody>
      </p:sp>
      <p:sp>
        <p:nvSpPr>
          <p:cNvPr id="18434" name="Rectangle 2"/>
          <p:cNvSpPr>
            <a:spLocks noGrp="1" noChangeArrowheads="1"/>
          </p:cNvSpPr>
          <p:nvPr>
            <p:ph type="title"/>
          </p:nvPr>
        </p:nvSpPr>
        <p:spPr/>
        <p:txBody>
          <a:bodyPr>
            <a:normAutofit fontScale="90000"/>
          </a:bodyPr>
          <a:lstStyle/>
          <a:p>
            <a:pPr eaLnBrk="1" hangingPunct="1">
              <a:defRPr/>
            </a:pPr>
            <a:r>
              <a:rPr lang="tr-TR" sz="3600" dirty="0">
                <a:solidFill>
                  <a:srgbClr val="FF0000"/>
                </a:solidFill>
              </a:rPr>
              <a:t>10.Yanlış inanç: </a:t>
            </a:r>
            <a:r>
              <a:rPr lang="tr-TR" sz="3600" b="1" dirty="0">
                <a:solidFill>
                  <a:srgbClr val="FF0000"/>
                </a:solidFill>
              </a:rPr>
              <a:t>Hipnoz olmak için sıkıcı bir takım işlemlerden geçmek gerekir.</a:t>
            </a:r>
            <a:endParaRPr lang="tr-TR" sz="4000" dirty="0"/>
          </a:p>
        </p:txBody>
      </p:sp>
    </p:spTree>
    <p:extLst>
      <p:ext uri="{BB962C8B-B14F-4D97-AF65-F5344CB8AC3E}">
        <p14:creationId xmlns:p14="http://schemas.microsoft.com/office/powerpoint/2010/main" val="254786265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481328"/>
            <a:ext cx="8991600" cy="4525963"/>
          </a:xfrm>
        </p:spPr>
        <p:txBody>
          <a:bodyPr/>
          <a:lstStyle/>
          <a:p>
            <a:pPr>
              <a:lnSpc>
                <a:spcPct val="90000"/>
              </a:lnSpc>
              <a:defRPr/>
            </a:pPr>
            <a:endParaRPr lang="tr-TR" sz="2800" dirty="0"/>
          </a:p>
          <a:p>
            <a:pPr>
              <a:lnSpc>
                <a:spcPct val="90000"/>
              </a:lnSpc>
              <a:defRPr/>
            </a:pPr>
            <a:r>
              <a:rPr lang="tr-TR" sz="3200" dirty="0"/>
              <a:t>Dini ayinler, dansetmek gibi olaylarda birer hipnotik törendir. İnsan ritmi sever.</a:t>
            </a:r>
          </a:p>
          <a:p>
            <a:pPr>
              <a:lnSpc>
                <a:spcPct val="90000"/>
              </a:lnSpc>
              <a:defRPr/>
            </a:pPr>
            <a:endParaRPr lang="tr-TR" sz="3200" dirty="0"/>
          </a:p>
          <a:p>
            <a:pPr>
              <a:lnSpc>
                <a:spcPct val="90000"/>
              </a:lnSpc>
              <a:defRPr/>
            </a:pPr>
            <a:r>
              <a:rPr lang="tr-TR" sz="3200" dirty="0"/>
              <a:t>Bilinçaltı için en tanıdık ses anne kalbinin ritmidir. </a:t>
            </a:r>
          </a:p>
          <a:p>
            <a:pPr>
              <a:lnSpc>
                <a:spcPct val="90000"/>
              </a:lnSpc>
              <a:defRPr/>
            </a:pPr>
            <a:endParaRPr lang="tr-TR" sz="3200" dirty="0"/>
          </a:p>
          <a:p>
            <a:pPr>
              <a:lnSpc>
                <a:spcPct val="90000"/>
              </a:lnSpc>
              <a:defRPr/>
            </a:pPr>
            <a:r>
              <a:rPr lang="tr-TR" sz="3200" dirty="0"/>
              <a:t>Bu nedenle her türlü ritmik olay ya da ses karşısında hipnoz olma eğilimi artar</a:t>
            </a:r>
          </a:p>
        </p:txBody>
      </p:sp>
      <p:sp>
        <p:nvSpPr>
          <p:cNvPr id="3" name="Title 2"/>
          <p:cNvSpPr>
            <a:spLocks noGrp="1"/>
          </p:cNvSpPr>
          <p:nvPr>
            <p:ph type="title"/>
          </p:nvPr>
        </p:nvSpPr>
        <p:spPr/>
        <p:txBody>
          <a:bodyPr/>
          <a:lstStyle/>
          <a:p>
            <a:endParaRPr lang="tr-TR"/>
          </a:p>
        </p:txBody>
      </p:sp>
    </p:spTree>
    <p:extLst>
      <p:ext uri="{BB962C8B-B14F-4D97-AF65-F5344CB8AC3E}">
        <p14:creationId xmlns:p14="http://schemas.microsoft.com/office/powerpoint/2010/main" val="398832711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a:xfrm>
            <a:off x="0" y="1481328"/>
            <a:ext cx="8991600" cy="5224272"/>
          </a:xfrm>
        </p:spPr>
        <p:txBody>
          <a:bodyPr/>
          <a:lstStyle/>
          <a:p>
            <a:pPr eaLnBrk="1" hangingPunct="1">
              <a:defRPr/>
            </a:pPr>
            <a:r>
              <a:rPr lang="tr-TR" dirty="0"/>
              <a:t>Odaklanmak yeterlidir. </a:t>
            </a:r>
          </a:p>
          <a:p>
            <a:pPr eaLnBrk="1" hangingPunct="1">
              <a:defRPr/>
            </a:pPr>
            <a:endParaRPr lang="tr-TR" dirty="0"/>
          </a:p>
          <a:p>
            <a:pPr eaLnBrk="1" hangingPunct="1">
              <a:defRPr/>
            </a:pPr>
            <a:r>
              <a:rPr lang="tr-TR" dirty="0"/>
              <a:t>Hipnoz okurken, konuşurken ve bir çok farklı durumda oluşabilir. </a:t>
            </a:r>
          </a:p>
          <a:p>
            <a:pPr eaLnBrk="1" hangingPunct="1">
              <a:defRPr/>
            </a:pPr>
            <a:endParaRPr lang="tr-TR" dirty="0"/>
          </a:p>
          <a:p>
            <a:pPr eaLnBrk="1" hangingPunct="1">
              <a:defRPr/>
            </a:pPr>
            <a:r>
              <a:rPr lang="tr-TR" dirty="0"/>
              <a:t>Gevşeme şart değildir. </a:t>
            </a:r>
          </a:p>
          <a:p>
            <a:pPr eaLnBrk="1" hangingPunct="1">
              <a:defRPr/>
            </a:pPr>
            <a:endParaRPr lang="tr-TR" dirty="0"/>
          </a:p>
          <a:p>
            <a:pPr eaLnBrk="1" hangingPunct="1">
              <a:defRPr/>
            </a:pPr>
            <a:r>
              <a:rPr lang="tr-TR" dirty="0"/>
              <a:t>Her gevşeme hipnoz değildir. </a:t>
            </a:r>
          </a:p>
          <a:p>
            <a:pPr eaLnBrk="1" hangingPunct="1">
              <a:defRPr/>
            </a:pPr>
            <a:endParaRPr lang="tr-TR" dirty="0"/>
          </a:p>
          <a:p>
            <a:pPr eaLnBrk="1" hangingPunct="1">
              <a:defRPr/>
            </a:pPr>
            <a:r>
              <a:rPr lang="tr-TR" dirty="0"/>
              <a:t>Her hipnozda gevşeme yoktur. </a:t>
            </a:r>
          </a:p>
        </p:txBody>
      </p:sp>
      <p:sp>
        <p:nvSpPr>
          <p:cNvPr id="19458" name="Rectangle 2"/>
          <p:cNvSpPr>
            <a:spLocks noGrp="1" noChangeArrowheads="1"/>
          </p:cNvSpPr>
          <p:nvPr>
            <p:ph type="title"/>
          </p:nvPr>
        </p:nvSpPr>
        <p:spPr>
          <a:xfrm>
            <a:off x="0" y="0"/>
            <a:ext cx="9144000" cy="1143000"/>
          </a:xfrm>
        </p:spPr>
        <p:txBody>
          <a:bodyPr>
            <a:normAutofit fontScale="90000"/>
          </a:bodyPr>
          <a:lstStyle/>
          <a:p>
            <a:pPr eaLnBrk="1" hangingPunct="1">
              <a:defRPr/>
            </a:pPr>
            <a:r>
              <a:rPr lang="tr-TR" sz="4000" dirty="0">
                <a:solidFill>
                  <a:srgbClr val="FF0000"/>
                </a:solidFill>
              </a:rPr>
              <a:t>11. Yanlış inanç: </a:t>
            </a:r>
            <a:r>
              <a:rPr lang="tr-TR" sz="4000" b="1" dirty="0">
                <a:solidFill>
                  <a:srgbClr val="FF0000"/>
                </a:solidFill>
              </a:rPr>
              <a:t>Hipnoz olmak için gevşemek gerekir.</a:t>
            </a:r>
            <a:endParaRPr lang="tr-TR" sz="4000" dirty="0"/>
          </a:p>
        </p:txBody>
      </p:sp>
    </p:spTree>
    <p:extLst>
      <p:ext uri="{BB962C8B-B14F-4D97-AF65-F5344CB8AC3E}">
        <p14:creationId xmlns:p14="http://schemas.microsoft.com/office/powerpoint/2010/main" val="42038742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p:txBody>
          <a:bodyPr/>
          <a:lstStyle/>
          <a:p>
            <a:pPr eaLnBrk="1" hangingPunct="1">
              <a:defRPr/>
            </a:pPr>
            <a:endParaRPr lang="tr-TR" dirty="0"/>
          </a:p>
          <a:p>
            <a:pPr eaLnBrk="1" hangingPunct="1">
              <a:defRPr/>
            </a:pPr>
            <a:endParaRPr lang="tr-TR" dirty="0"/>
          </a:p>
          <a:p>
            <a:pPr eaLnBrk="1" hangingPunct="1">
              <a:defRPr/>
            </a:pPr>
            <a:r>
              <a:rPr lang="tr-TR" dirty="0"/>
              <a:t>Hipnoz </a:t>
            </a:r>
            <a:r>
              <a:rPr lang="tr-TR" u="sng" dirty="0"/>
              <a:t>sadece</a:t>
            </a:r>
            <a:r>
              <a:rPr lang="tr-TR" dirty="0"/>
              <a:t> tedavi aracı değildir. </a:t>
            </a:r>
          </a:p>
          <a:p>
            <a:pPr eaLnBrk="1" hangingPunct="1">
              <a:defRPr/>
            </a:pPr>
            <a:endParaRPr lang="tr-TR" dirty="0"/>
          </a:p>
          <a:p>
            <a:pPr eaLnBrk="1" hangingPunct="1">
              <a:defRPr/>
            </a:pPr>
            <a:r>
              <a:rPr lang="tr-TR" dirty="0"/>
              <a:t>Bir çok değişik şekilde kullanılabilir. </a:t>
            </a:r>
          </a:p>
          <a:p>
            <a:pPr eaLnBrk="1" hangingPunct="1">
              <a:defRPr/>
            </a:pPr>
            <a:endParaRPr lang="tr-TR" dirty="0"/>
          </a:p>
          <a:p>
            <a:pPr eaLnBrk="1" hangingPunct="1">
              <a:defRPr/>
            </a:pPr>
            <a:r>
              <a:rPr lang="tr-TR" dirty="0"/>
              <a:t>Değişik amaçlara hizmet amacıyla kullanılır.</a:t>
            </a:r>
          </a:p>
        </p:txBody>
      </p:sp>
      <p:sp>
        <p:nvSpPr>
          <p:cNvPr id="20482" name="Rectangle 2"/>
          <p:cNvSpPr>
            <a:spLocks noGrp="1" noChangeArrowheads="1"/>
          </p:cNvSpPr>
          <p:nvPr>
            <p:ph type="title"/>
          </p:nvPr>
        </p:nvSpPr>
        <p:spPr>
          <a:xfrm>
            <a:off x="0" y="274638"/>
            <a:ext cx="9067800" cy="1143000"/>
          </a:xfrm>
        </p:spPr>
        <p:txBody>
          <a:bodyPr>
            <a:normAutofit fontScale="90000"/>
          </a:bodyPr>
          <a:lstStyle/>
          <a:p>
            <a:pPr eaLnBrk="1" hangingPunct="1">
              <a:defRPr/>
            </a:pPr>
            <a:r>
              <a:rPr lang="tr-TR" sz="4000" dirty="0">
                <a:solidFill>
                  <a:srgbClr val="FF0000"/>
                </a:solidFill>
              </a:rPr>
              <a:t>12. Yanlış inanç: </a:t>
            </a:r>
            <a:r>
              <a:rPr lang="tr-TR" sz="4000" b="1" dirty="0">
                <a:solidFill>
                  <a:srgbClr val="FF0000"/>
                </a:solidFill>
              </a:rPr>
              <a:t>Hipnoz tedavi edicidir.</a:t>
            </a:r>
          </a:p>
        </p:txBody>
      </p:sp>
    </p:spTree>
    <p:extLst>
      <p:ext uri="{BB962C8B-B14F-4D97-AF65-F5344CB8AC3E}">
        <p14:creationId xmlns:p14="http://schemas.microsoft.com/office/powerpoint/2010/main" val="293949920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0" y="1341438"/>
            <a:ext cx="9143999" cy="5516562"/>
          </a:xfrm>
        </p:spPr>
        <p:txBody>
          <a:bodyPr>
            <a:normAutofit/>
          </a:bodyPr>
          <a:lstStyle/>
          <a:p>
            <a:pPr eaLnBrk="1" hangingPunct="1">
              <a:defRPr/>
            </a:pPr>
            <a:endParaRPr lang="tr-TR" sz="3200" dirty="0"/>
          </a:p>
          <a:p>
            <a:pPr eaLnBrk="1" hangingPunct="1">
              <a:defRPr/>
            </a:pPr>
            <a:r>
              <a:rPr lang="tr-TR" sz="3200" dirty="0"/>
              <a:t>Hafızayı bilgisayarla karşılaştırma işi yanlıştır. </a:t>
            </a:r>
          </a:p>
          <a:p>
            <a:pPr eaLnBrk="1" hangingPunct="1">
              <a:defRPr/>
            </a:pPr>
            <a:endParaRPr lang="tr-TR" sz="3200" dirty="0"/>
          </a:p>
          <a:p>
            <a:pPr eaLnBrk="1" hangingPunct="1">
              <a:defRPr/>
            </a:pPr>
            <a:r>
              <a:rPr lang="tr-TR" sz="3200" dirty="0"/>
              <a:t>Hafıza her hatırayı olduğu gibi alıp kodlamaz. Olaylar algılarla birlikte saklanır.</a:t>
            </a:r>
          </a:p>
          <a:p>
            <a:pPr eaLnBrk="1" hangingPunct="1">
              <a:defRPr/>
            </a:pPr>
            <a:endParaRPr lang="tr-TR" sz="3200" dirty="0"/>
          </a:p>
          <a:p>
            <a:pPr eaLnBrk="1" hangingPunct="1">
              <a:defRPr/>
            </a:pPr>
            <a:r>
              <a:rPr lang="tr-TR" sz="3200" dirty="0"/>
              <a:t>Bu nedenle bozulmaya maruzdurlar.</a:t>
            </a:r>
          </a:p>
        </p:txBody>
      </p:sp>
      <p:sp>
        <p:nvSpPr>
          <p:cNvPr id="21506" name="Rectangle 2"/>
          <p:cNvSpPr>
            <a:spLocks noGrp="1" noChangeArrowheads="1"/>
          </p:cNvSpPr>
          <p:nvPr>
            <p:ph type="title"/>
          </p:nvPr>
        </p:nvSpPr>
        <p:spPr>
          <a:xfrm>
            <a:off x="0" y="274638"/>
            <a:ext cx="9144000" cy="1143000"/>
          </a:xfrm>
        </p:spPr>
        <p:txBody>
          <a:bodyPr>
            <a:normAutofit fontScale="90000"/>
          </a:bodyPr>
          <a:lstStyle/>
          <a:p>
            <a:pPr eaLnBrk="1" hangingPunct="1">
              <a:defRPr/>
            </a:pPr>
            <a:r>
              <a:rPr lang="tr-TR" sz="3200" dirty="0">
                <a:solidFill>
                  <a:srgbClr val="FF0000"/>
                </a:solidFill>
              </a:rPr>
              <a:t>13. Yanlış inanç: </a:t>
            </a:r>
            <a:r>
              <a:rPr lang="tr-TR" sz="3200" b="1" dirty="0">
                <a:solidFill>
                  <a:srgbClr val="FF0000"/>
                </a:solidFill>
              </a:rPr>
              <a:t>Hipnozla geçmişte yaşanmış her şey hatırlanabilir.</a:t>
            </a:r>
            <a:r>
              <a:rPr lang="tr-TR" sz="3200" dirty="0">
                <a:solidFill>
                  <a:srgbClr val="FF0000"/>
                </a:solidFill>
              </a:rPr>
              <a:t> </a:t>
            </a:r>
            <a:br>
              <a:rPr lang="tr-TR" sz="4000" dirty="0"/>
            </a:br>
            <a:endParaRPr lang="tr-TR" sz="4000" dirty="0"/>
          </a:p>
        </p:txBody>
      </p:sp>
    </p:spTree>
    <p:extLst>
      <p:ext uri="{BB962C8B-B14F-4D97-AF65-F5344CB8AC3E}">
        <p14:creationId xmlns:p14="http://schemas.microsoft.com/office/powerpoint/2010/main" val="358123734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defRPr/>
            </a:pPr>
            <a:r>
              <a:rPr lang="tr-TR" sz="3200" dirty="0">
                <a:latin typeface="Arial" pitchFamily="34" charset="0"/>
                <a:cs typeface="Arial" pitchFamily="34" charset="0"/>
              </a:rPr>
              <a:t>İnsanlar gerçekte olmamış şeyleri hatırlayabilirler. </a:t>
            </a:r>
          </a:p>
          <a:p>
            <a:pPr>
              <a:defRPr/>
            </a:pPr>
            <a:endParaRPr lang="tr-TR" sz="3200" dirty="0">
              <a:latin typeface="Arial" pitchFamily="34" charset="0"/>
              <a:cs typeface="Arial" pitchFamily="34" charset="0"/>
            </a:endParaRPr>
          </a:p>
          <a:p>
            <a:pPr>
              <a:defRPr/>
            </a:pPr>
            <a:r>
              <a:rPr lang="tr-TR" sz="3200" dirty="0">
                <a:latin typeface="Arial" pitchFamily="34" charset="0"/>
                <a:cs typeface="Arial" pitchFamily="34" charset="0"/>
              </a:rPr>
              <a:t>Belli bir parçasını hatırlayabilirler. </a:t>
            </a:r>
          </a:p>
          <a:p>
            <a:pPr>
              <a:defRPr/>
            </a:pPr>
            <a:endParaRPr lang="tr-TR" sz="3200" dirty="0">
              <a:latin typeface="Arial" pitchFamily="34" charset="0"/>
              <a:cs typeface="Arial" pitchFamily="34" charset="0"/>
            </a:endParaRPr>
          </a:p>
          <a:p>
            <a:pPr>
              <a:defRPr/>
            </a:pPr>
            <a:r>
              <a:rPr lang="tr-TR" sz="3200" dirty="0">
                <a:latin typeface="Arial" pitchFamily="34" charset="0"/>
                <a:cs typeface="Arial" pitchFamily="34" charset="0"/>
              </a:rPr>
              <a:t>Bir çok olaydan parçalar alıp yeni bir olay yaratabilirler.</a:t>
            </a:r>
          </a:p>
          <a:p>
            <a:endParaRPr lang="tr-TR" sz="3200" dirty="0">
              <a:latin typeface="Arial" pitchFamily="34" charset="0"/>
              <a:cs typeface="Arial" pitchFamily="34" charset="0"/>
            </a:endParaRPr>
          </a:p>
        </p:txBody>
      </p:sp>
      <p:sp>
        <p:nvSpPr>
          <p:cNvPr id="3" name="Title 2"/>
          <p:cNvSpPr>
            <a:spLocks noGrp="1"/>
          </p:cNvSpPr>
          <p:nvPr>
            <p:ph type="title"/>
          </p:nvPr>
        </p:nvSpPr>
        <p:spPr/>
        <p:txBody>
          <a:bodyPr/>
          <a:lstStyle/>
          <a:p>
            <a:endParaRPr lang="tr-TR"/>
          </a:p>
        </p:txBody>
      </p:sp>
    </p:spTree>
    <p:extLst>
      <p:ext uri="{BB962C8B-B14F-4D97-AF65-F5344CB8AC3E}">
        <p14:creationId xmlns:p14="http://schemas.microsoft.com/office/powerpoint/2010/main" val="155249681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35EF7355-1144-6E02-F98B-F9DC7D628003}"/>
              </a:ext>
            </a:extLst>
          </p:cNvPr>
          <p:cNvSpPr>
            <a:spLocks noGrp="1"/>
          </p:cNvSpPr>
          <p:nvPr>
            <p:ph idx="1"/>
          </p:nvPr>
        </p:nvSpPr>
        <p:spPr/>
        <p:txBody>
          <a:bodyPr/>
          <a:lstStyle/>
          <a:p>
            <a:r>
              <a:rPr lang="tr-TR" dirty="0"/>
              <a:t>1.	Korkular; Kaygı, tedirginlik, endişe, panik hissi, evham</a:t>
            </a:r>
          </a:p>
          <a:p>
            <a:r>
              <a:rPr lang="tr-TR" dirty="0"/>
              <a:t>2.	Öfke, nefret, kızgınlık, kırgınlık, gücenme</a:t>
            </a:r>
          </a:p>
          <a:p>
            <a:r>
              <a:rPr lang="tr-TR" dirty="0"/>
              <a:t>3.	Üzüntü, hayal kırıklığı</a:t>
            </a:r>
          </a:p>
          <a:p>
            <a:r>
              <a:rPr lang="tr-TR" dirty="0"/>
              <a:t>4.	Utanç</a:t>
            </a:r>
          </a:p>
          <a:p>
            <a:r>
              <a:rPr lang="tr-TR" dirty="0"/>
              <a:t>5.	Suçluluk</a:t>
            </a:r>
          </a:p>
          <a:p>
            <a:r>
              <a:rPr lang="tr-TR" dirty="0"/>
              <a:t>6.	Sıkıntı</a:t>
            </a:r>
          </a:p>
          <a:p>
            <a:r>
              <a:rPr lang="tr-TR" dirty="0"/>
              <a:t>7.	Çaresizlik</a:t>
            </a:r>
          </a:p>
          <a:p>
            <a:endParaRPr lang="tr-TR" dirty="0"/>
          </a:p>
        </p:txBody>
      </p:sp>
      <p:sp>
        <p:nvSpPr>
          <p:cNvPr id="3" name="Başlık 2">
            <a:extLst>
              <a:ext uri="{FF2B5EF4-FFF2-40B4-BE49-F238E27FC236}">
                <a16:creationId xmlns:a16="http://schemas.microsoft.com/office/drawing/2014/main" id="{325C974A-73AD-40D3-6C6B-C7BD02907883}"/>
              </a:ext>
            </a:extLst>
          </p:cNvPr>
          <p:cNvSpPr>
            <a:spLocks noGrp="1"/>
          </p:cNvSpPr>
          <p:nvPr>
            <p:ph type="title"/>
          </p:nvPr>
        </p:nvSpPr>
        <p:spPr/>
        <p:txBody>
          <a:bodyPr>
            <a:normAutofit/>
          </a:bodyPr>
          <a:lstStyle/>
          <a:p>
            <a:r>
              <a:rPr lang="tr-TR" dirty="0"/>
              <a:t>Duyguları şöyle sınıflayabiliriz</a:t>
            </a:r>
          </a:p>
        </p:txBody>
      </p:sp>
    </p:spTree>
    <p:extLst>
      <p:ext uri="{BB962C8B-B14F-4D97-AF65-F5344CB8AC3E}">
        <p14:creationId xmlns:p14="http://schemas.microsoft.com/office/powerpoint/2010/main" val="43108066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2667000" y="-1143000"/>
            <a:ext cx="6400800" cy="6248400"/>
          </a:xfrm>
        </p:spPr>
        <p:txBody>
          <a:bodyPr>
            <a:normAutofit/>
          </a:bodyPr>
          <a:lstStyle/>
          <a:p>
            <a:pPr eaLnBrk="1" hangingPunct="1">
              <a:defRPr/>
            </a:pPr>
            <a:r>
              <a:rPr lang="tr-TR" sz="8000" cap="all" dirty="0">
                <a:solidFill>
                  <a:srgbClr val="FF0000"/>
                </a:solidFill>
              </a:rPr>
              <a:t>Zİhnİn KurallarI </a:t>
            </a:r>
          </a:p>
        </p:txBody>
      </p:sp>
      <p:sp>
        <p:nvSpPr>
          <p:cNvPr id="2051" name="Rectangle 3"/>
          <p:cNvSpPr>
            <a:spLocks noGrp="1" noChangeArrowheads="1"/>
          </p:cNvSpPr>
          <p:nvPr>
            <p:ph type="subTitle" idx="1"/>
          </p:nvPr>
        </p:nvSpPr>
        <p:spPr>
          <a:xfrm>
            <a:off x="762000" y="1219200"/>
            <a:ext cx="7772400" cy="5105400"/>
          </a:xfrm>
        </p:spPr>
        <p:txBody>
          <a:bodyPr/>
          <a:lstStyle/>
          <a:p>
            <a:pPr eaLnBrk="1" hangingPunct="1">
              <a:defRPr/>
            </a:pPr>
            <a:endParaRPr lang="tr-TR" dirty="0"/>
          </a:p>
          <a:p>
            <a:pPr eaLnBrk="1" hangingPunct="1">
              <a:defRPr/>
            </a:pPr>
            <a:endParaRPr lang="tr-TR" dirty="0"/>
          </a:p>
          <a:p>
            <a:pPr eaLnBrk="1" hangingPunct="1">
              <a:defRPr/>
            </a:pPr>
            <a:endParaRPr lang="tr-TR" dirty="0"/>
          </a:p>
        </p:txBody>
      </p:sp>
    </p:spTree>
    <p:extLst>
      <p:ext uri="{BB962C8B-B14F-4D97-AF65-F5344CB8AC3E}">
        <p14:creationId xmlns:p14="http://schemas.microsoft.com/office/powerpoint/2010/main" val="220366728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0" y="320040"/>
            <a:ext cx="8153400" cy="1143000"/>
          </a:xfrm>
        </p:spPr>
        <p:txBody>
          <a:bodyPr>
            <a:normAutofit/>
          </a:bodyPr>
          <a:lstStyle/>
          <a:p>
            <a:pPr algn="ctr" eaLnBrk="1" hangingPunct="1">
              <a:defRPr/>
            </a:pPr>
            <a:r>
              <a:rPr lang="tr-TR" sz="3600" b="1" cap="none" dirty="0"/>
              <a:t>Bütün duygular ve fikirler </a:t>
            </a:r>
            <a:br>
              <a:rPr lang="tr-TR" sz="3600" b="1" cap="none" dirty="0"/>
            </a:br>
            <a:r>
              <a:rPr lang="tr-TR" sz="3600" b="1" cap="none" dirty="0"/>
              <a:t>bir fiziksel reaksiyona neden olur.</a:t>
            </a:r>
            <a:r>
              <a:rPr lang="tr-TR" sz="3600" cap="none" dirty="0"/>
              <a:t> </a:t>
            </a:r>
          </a:p>
        </p:txBody>
      </p:sp>
      <p:sp>
        <p:nvSpPr>
          <p:cNvPr id="7171" name="Rectangle 3"/>
          <p:cNvSpPr>
            <a:spLocks noGrp="1" noChangeArrowheads="1"/>
          </p:cNvSpPr>
          <p:nvPr>
            <p:ph idx="1"/>
          </p:nvPr>
        </p:nvSpPr>
        <p:spPr>
          <a:xfrm>
            <a:off x="0" y="1828800"/>
            <a:ext cx="8991599" cy="4840288"/>
          </a:xfrm>
        </p:spPr>
        <p:txBody>
          <a:bodyPr>
            <a:normAutofit/>
          </a:bodyPr>
          <a:lstStyle/>
          <a:p>
            <a:pPr eaLnBrk="1" hangingPunct="1">
              <a:defRPr/>
            </a:pPr>
            <a:endParaRPr lang="tr-TR" sz="2800" dirty="0"/>
          </a:p>
          <a:p>
            <a:pPr eaLnBrk="1" hangingPunct="1">
              <a:defRPr/>
            </a:pPr>
            <a:r>
              <a:rPr lang="tr-TR" sz="2800" dirty="0"/>
              <a:t>Güçlü duygusal içeriği olan fikirler </a:t>
            </a:r>
          </a:p>
          <a:p>
            <a:pPr marL="0" indent="0" eaLnBrk="1" hangingPunct="1">
              <a:buNone/>
              <a:defRPr/>
            </a:pPr>
            <a:r>
              <a:rPr lang="tr-TR" sz="2800" dirty="0"/>
              <a:t>   genellikle her zaman bilinçaltı düzeye ulaşırlar. </a:t>
            </a:r>
          </a:p>
          <a:p>
            <a:pPr eaLnBrk="1" hangingPunct="1">
              <a:defRPr/>
            </a:pPr>
            <a:endParaRPr lang="tr-TR" sz="2800" dirty="0"/>
          </a:p>
          <a:p>
            <a:pPr eaLnBrk="1" hangingPunct="1">
              <a:defRPr/>
            </a:pPr>
            <a:r>
              <a:rPr lang="tr-TR" sz="2800" dirty="0"/>
              <a:t>Çünkü zihin duygusaldır. </a:t>
            </a:r>
          </a:p>
          <a:p>
            <a:pPr eaLnBrk="1" hangingPunct="1">
              <a:defRPr/>
            </a:pPr>
            <a:endParaRPr lang="tr-TR" sz="2800" dirty="0"/>
          </a:p>
          <a:p>
            <a:pPr eaLnBrk="1" hangingPunct="1">
              <a:defRPr/>
            </a:pPr>
            <a:r>
              <a:rPr lang="tr-TR" sz="2800" dirty="0"/>
              <a:t>Bir kez kabul edildiğinde bu fikirler  aynı beden reaksiyonlarına neden olur. </a:t>
            </a:r>
          </a:p>
        </p:txBody>
      </p:sp>
    </p:spTree>
    <p:extLst>
      <p:ext uri="{BB962C8B-B14F-4D97-AF65-F5344CB8AC3E}">
        <p14:creationId xmlns:p14="http://schemas.microsoft.com/office/powerpoint/2010/main" val="89667339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20040"/>
            <a:ext cx="7010400" cy="441960"/>
          </a:xfrm>
        </p:spPr>
        <p:txBody>
          <a:bodyPr>
            <a:normAutofit fontScale="90000"/>
          </a:bodyPr>
          <a:lstStyle/>
          <a:p>
            <a:endParaRPr lang="tr-TR" dirty="0"/>
          </a:p>
        </p:txBody>
      </p:sp>
      <p:sp>
        <p:nvSpPr>
          <p:cNvPr id="3" name="Content Placeholder 2"/>
          <p:cNvSpPr>
            <a:spLocks noGrp="1"/>
          </p:cNvSpPr>
          <p:nvPr>
            <p:ph idx="1"/>
          </p:nvPr>
        </p:nvSpPr>
        <p:spPr>
          <a:xfrm>
            <a:off x="304800" y="775855"/>
            <a:ext cx="8153400" cy="6096000"/>
          </a:xfrm>
        </p:spPr>
        <p:txBody>
          <a:bodyPr/>
          <a:lstStyle/>
          <a:p>
            <a:pPr>
              <a:defRPr/>
            </a:pPr>
            <a:endParaRPr lang="tr-TR" sz="2400" dirty="0"/>
          </a:p>
          <a:p>
            <a:pPr>
              <a:defRPr/>
            </a:pPr>
            <a:endParaRPr lang="tr-TR" sz="3600" dirty="0"/>
          </a:p>
          <a:p>
            <a:pPr>
              <a:defRPr/>
            </a:pPr>
            <a:r>
              <a:rPr lang="tr-TR" sz="3600" dirty="0"/>
              <a:t>Bunları ortadan kaldırmak veya değiştirmek için bilinçaltına ulaşmak ve bu reaksiyonlara neden olan düşünceyi değiştirmek gerekir </a:t>
            </a:r>
          </a:p>
          <a:p>
            <a:pPr>
              <a:defRPr/>
            </a:pPr>
            <a:endParaRPr lang="tr-TR" sz="3600" dirty="0"/>
          </a:p>
          <a:p>
            <a:pPr>
              <a:defRPr/>
            </a:pPr>
            <a:r>
              <a:rPr lang="tr-TR" sz="3600" dirty="0"/>
              <a:t>Bu, kendi kendine hipnoz ve oto telkinle gerçekleştirilebilir.</a:t>
            </a:r>
          </a:p>
          <a:p>
            <a:endParaRPr lang="tr-TR" dirty="0"/>
          </a:p>
        </p:txBody>
      </p:sp>
    </p:spTree>
    <p:extLst>
      <p:ext uri="{BB962C8B-B14F-4D97-AF65-F5344CB8AC3E}">
        <p14:creationId xmlns:p14="http://schemas.microsoft.com/office/powerpoint/2010/main" val="29191378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76200" y="320040"/>
            <a:ext cx="8077200" cy="1143000"/>
          </a:xfrm>
        </p:spPr>
        <p:txBody>
          <a:bodyPr>
            <a:normAutofit fontScale="90000"/>
          </a:bodyPr>
          <a:lstStyle/>
          <a:p>
            <a:pPr algn="ctr" eaLnBrk="1" hangingPunct="1">
              <a:defRPr/>
            </a:pPr>
            <a:r>
              <a:rPr lang="tr-TR" sz="4000" b="1" cap="none" dirty="0"/>
              <a:t>Zihinde beklenen, </a:t>
            </a:r>
            <a:br>
              <a:rPr lang="tr-TR" sz="4000" b="1" cap="none" dirty="0"/>
            </a:br>
            <a:r>
              <a:rPr lang="tr-TR" sz="4000" b="1" cap="none" dirty="0"/>
              <a:t>gerçekleşmeye meyillidir.</a:t>
            </a:r>
            <a:r>
              <a:rPr lang="tr-TR" sz="4000" cap="none" dirty="0"/>
              <a:t> </a:t>
            </a:r>
          </a:p>
        </p:txBody>
      </p:sp>
      <p:sp>
        <p:nvSpPr>
          <p:cNvPr id="8195" name="Rectangle 3"/>
          <p:cNvSpPr>
            <a:spLocks noGrp="1" noChangeArrowheads="1"/>
          </p:cNvSpPr>
          <p:nvPr>
            <p:ph idx="1"/>
          </p:nvPr>
        </p:nvSpPr>
        <p:spPr>
          <a:xfrm>
            <a:off x="0" y="1828800"/>
            <a:ext cx="8362950" cy="4619625"/>
          </a:xfrm>
        </p:spPr>
        <p:txBody>
          <a:bodyPr>
            <a:normAutofit/>
          </a:bodyPr>
          <a:lstStyle/>
          <a:p>
            <a:pPr eaLnBrk="1" hangingPunct="1">
              <a:lnSpc>
                <a:spcPct val="90000"/>
              </a:lnSpc>
              <a:defRPr/>
            </a:pPr>
            <a:endParaRPr lang="tr-TR" sz="2800" dirty="0"/>
          </a:p>
          <a:p>
            <a:pPr eaLnBrk="1" hangingPunct="1">
              <a:lnSpc>
                <a:spcPct val="90000"/>
              </a:lnSpc>
              <a:defRPr/>
            </a:pPr>
            <a:endParaRPr lang="tr-TR" sz="2800" dirty="0"/>
          </a:p>
          <a:p>
            <a:pPr eaLnBrk="1" hangingPunct="1">
              <a:lnSpc>
                <a:spcPct val="90000"/>
              </a:lnSpc>
              <a:defRPr/>
            </a:pPr>
            <a:r>
              <a:rPr lang="tr-TR" sz="2800" dirty="0"/>
              <a:t>Beyin ve sinir sistemi sadece </a:t>
            </a:r>
            <a:r>
              <a:rPr lang="tr-TR" sz="2800" u="sng" dirty="0"/>
              <a:t>zihinsel hayallere </a:t>
            </a:r>
            <a:r>
              <a:rPr lang="tr-TR" sz="2800" dirty="0"/>
              <a:t>tepki gösterir. </a:t>
            </a:r>
          </a:p>
          <a:p>
            <a:pPr eaLnBrk="1" hangingPunct="1">
              <a:lnSpc>
                <a:spcPct val="90000"/>
              </a:lnSpc>
              <a:defRPr/>
            </a:pPr>
            <a:endParaRPr lang="tr-TR" sz="2800" dirty="0"/>
          </a:p>
          <a:p>
            <a:pPr eaLnBrk="1" hangingPunct="1">
              <a:lnSpc>
                <a:spcPct val="90000"/>
              </a:lnSpc>
              <a:defRPr/>
            </a:pPr>
            <a:r>
              <a:rPr lang="tr-TR" sz="2800" dirty="0"/>
              <a:t>Onun için bu hayalin dışardan alınmış veya </a:t>
            </a:r>
          </a:p>
          <a:p>
            <a:pPr marL="0" indent="0" eaLnBrk="1" hangingPunct="1">
              <a:lnSpc>
                <a:spcPct val="90000"/>
              </a:lnSpc>
              <a:buNone/>
              <a:defRPr/>
            </a:pPr>
            <a:r>
              <a:rPr lang="tr-TR" sz="2800" dirty="0"/>
              <a:t>   kendi kendine oluşturulmuş olması </a:t>
            </a:r>
          </a:p>
          <a:p>
            <a:pPr marL="0" indent="0" eaLnBrk="1" hangingPunct="1">
              <a:lnSpc>
                <a:spcPct val="90000"/>
              </a:lnSpc>
              <a:buNone/>
              <a:defRPr/>
            </a:pPr>
            <a:r>
              <a:rPr lang="tr-TR" sz="2800" dirty="0"/>
              <a:t>   önemli değildir.</a:t>
            </a:r>
          </a:p>
        </p:txBody>
      </p:sp>
    </p:spTree>
    <p:extLst>
      <p:ext uri="{BB962C8B-B14F-4D97-AF65-F5344CB8AC3E}">
        <p14:creationId xmlns:p14="http://schemas.microsoft.com/office/powerpoint/2010/main" val="354159105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p:txBody>
          <a:bodyPr/>
          <a:lstStyle/>
          <a:p>
            <a:pPr>
              <a:lnSpc>
                <a:spcPct val="90000"/>
              </a:lnSpc>
              <a:defRPr/>
            </a:pPr>
            <a:r>
              <a:rPr lang="tr-TR" sz="3600" dirty="0"/>
              <a:t>Endişe, istemediğimiz bir şeyin resminin bir yansımasıdır. </a:t>
            </a:r>
          </a:p>
          <a:p>
            <a:pPr>
              <a:lnSpc>
                <a:spcPct val="90000"/>
              </a:lnSpc>
              <a:defRPr/>
            </a:pPr>
            <a:endParaRPr lang="tr-TR" sz="3600" dirty="0"/>
          </a:p>
          <a:p>
            <a:pPr>
              <a:lnSpc>
                <a:spcPct val="90000"/>
              </a:lnSpc>
              <a:defRPr/>
            </a:pPr>
            <a:r>
              <a:rPr lang="tr-TR" sz="3600" dirty="0"/>
              <a:t>Ama bilinçaltı bu resmin gerçekleşmesi için çabalar. </a:t>
            </a:r>
          </a:p>
          <a:p>
            <a:pPr>
              <a:lnSpc>
                <a:spcPct val="90000"/>
              </a:lnSpc>
              <a:defRPr/>
            </a:pPr>
            <a:endParaRPr lang="tr-TR" sz="3600" dirty="0"/>
          </a:p>
          <a:p>
            <a:pPr>
              <a:lnSpc>
                <a:spcPct val="90000"/>
              </a:lnSpc>
              <a:defRPr/>
            </a:pPr>
            <a:r>
              <a:rPr lang="tr-TR" sz="3600" dirty="0"/>
              <a:t>Bilinçaltı zihinde hangi hayali görürse, onu gerçekleştirme eğilimine girer. </a:t>
            </a:r>
          </a:p>
          <a:p>
            <a:endParaRPr lang="tr-TR" dirty="0"/>
          </a:p>
        </p:txBody>
      </p:sp>
    </p:spTree>
    <p:extLst>
      <p:ext uri="{BB962C8B-B14F-4D97-AF65-F5344CB8AC3E}">
        <p14:creationId xmlns:p14="http://schemas.microsoft.com/office/powerpoint/2010/main" val="269207076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52400" y="320040"/>
            <a:ext cx="8610600" cy="1143000"/>
          </a:xfrm>
        </p:spPr>
        <p:txBody>
          <a:bodyPr>
            <a:normAutofit/>
          </a:bodyPr>
          <a:lstStyle/>
          <a:p>
            <a:pPr eaLnBrk="1" hangingPunct="1">
              <a:defRPr/>
            </a:pPr>
            <a:r>
              <a:rPr lang="tr-TR" sz="4000" b="1" cap="none" dirty="0"/>
              <a:t>Hayal bilgiden daha güçlüdür.</a:t>
            </a:r>
          </a:p>
        </p:txBody>
      </p:sp>
      <p:sp>
        <p:nvSpPr>
          <p:cNvPr id="9219" name="Rectangle 3"/>
          <p:cNvSpPr>
            <a:spLocks noGrp="1" noChangeArrowheads="1"/>
          </p:cNvSpPr>
          <p:nvPr>
            <p:ph idx="1"/>
          </p:nvPr>
        </p:nvSpPr>
        <p:spPr>
          <a:xfrm>
            <a:off x="0" y="1609416"/>
            <a:ext cx="8229600" cy="5096184"/>
          </a:xfrm>
        </p:spPr>
        <p:txBody>
          <a:bodyPr>
            <a:noAutofit/>
          </a:bodyPr>
          <a:lstStyle/>
          <a:p>
            <a:pPr eaLnBrk="1" hangingPunct="1">
              <a:defRPr/>
            </a:pPr>
            <a:r>
              <a:rPr lang="tr-TR" sz="3600" dirty="0"/>
              <a:t>Hipnozu kullanırken çok önemli bir kural vardır.</a:t>
            </a:r>
          </a:p>
          <a:p>
            <a:pPr eaLnBrk="1" hangingPunct="1">
              <a:defRPr/>
            </a:pPr>
            <a:r>
              <a:rPr lang="tr-TR" sz="3600" dirty="0"/>
              <a:t>« Sebep, hayal yolu ile kolaylıkla etkisiz hale getirilir.» </a:t>
            </a:r>
          </a:p>
          <a:p>
            <a:pPr eaLnBrk="1" hangingPunct="1">
              <a:defRPr/>
            </a:pPr>
            <a:r>
              <a:rPr lang="tr-TR" sz="3600" dirty="0"/>
              <a:t>Bu yüzden bazı insanlar mantıksızca davranabiliyorlar. </a:t>
            </a:r>
          </a:p>
          <a:p>
            <a:pPr eaLnBrk="1" hangingPunct="1">
              <a:defRPr/>
            </a:pPr>
            <a:r>
              <a:rPr lang="tr-TR" sz="3600" dirty="0"/>
              <a:t>Kıskançlık cinayetleri çoğu zaman </a:t>
            </a:r>
            <a:r>
              <a:rPr lang="tr-TR" sz="3600" u="sng" dirty="0"/>
              <a:t>aşırı hayal nedeni ile </a:t>
            </a:r>
            <a:r>
              <a:rPr lang="tr-TR" sz="3600" dirty="0"/>
              <a:t>gerçekleşir.</a:t>
            </a:r>
          </a:p>
        </p:txBody>
      </p:sp>
    </p:spTree>
    <p:extLst>
      <p:ext uri="{BB962C8B-B14F-4D97-AF65-F5344CB8AC3E}">
        <p14:creationId xmlns:p14="http://schemas.microsoft.com/office/powerpoint/2010/main" val="87433432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0" y="0"/>
            <a:ext cx="9144000" cy="1143000"/>
          </a:xfrm>
        </p:spPr>
        <p:txBody>
          <a:bodyPr>
            <a:normAutofit fontScale="90000"/>
          </a:bodyPr>
          <a:lstStyle/>
          <a:p>
            <a:pPr eaLnBrk="1" hangingPunct="1">
              <a:defRPr/>
            </a:pPr>
            <a:r>
              <a:rPr lang="tr-TR" sz="4000" b="1" cap="none" dirty="0"/>
              <a:t>Çelişkili fikirler bir arada tutulamazlar</a:t>
            </a:r>
          </a:p>
        </p:txBody>
      </p:sp>
      <p:sp>
        <p:nvSpPr>
          <p:cNvPr id="10243" name="Rectangle 3"/>
          <p:cNvSpPr>
            <a:spLocks noGrp="1" noChangeArrowheads="1"/>
          </p:cNvSpPr>
          <p:nvPr>
            <p:ph idx="1"/>
          </p:nvPr>
        </p:nvSpPr>
        <p:spPr>
          <a:xfrm>
            <a:off x="152400" y="1524000"/>
            <a:ext cx="8991600" cy="5334000"/>
          </a:xfrm>
        </p:spPr>
        <p:txBody>
          <a:bodyPr>
            <a:normAutofit/>
          </a:bodyPr>
          <a:lstStyle/>
          <a:p>
            <a:pPr eaLnBrk="1" hangingPunct="1">
              <a:lnSpc>
                <a:spcPct val="80000"/>
              </a:lnSpc>
              <a:defRPr/>
            </a:pPr>
            <a:endParaRPr lang="tr-TR" sz="3600" dirty="0"/>
          </a:p>
          <a:p>
            <a:pPr eaLnBrk="1" hangingPunct="1">
              <a:lnSpc>
                <a:spcPct val="80000"/>
              </a:lnSpc>
              <a:defRPr/>
            </a:pPr>
            <a:r>
              <a:rPr lang="tr-TR" sz="3600" dirty="0"/>
              <a:t>Bu birden fazla fikrin bir arada bulunmayacağı anlamına gelmez. </a:t>
            </a:r>
          </a:p>
          <a:p>
            <a:pPr eaLnBrk="1" hangingPunct="1">
              <a:lnSpc>
                <a:spcPct val="80000"/>
              </a:lnSpc>
              <a:defRPr/>
            </a:pPr>
            <a:endParaRPr lang="tr-TR" sz="3600" dirty="0"/>
          </a:p>
          <a:p>
            <a:pPr eaLnBrk="1" hangingPunct="1">
              <a:lnSpc>
                <a:spcPct val="80000"/>
              </a:lnSpc>
              <a:defRPr/>
            </a:pPr>
            <a:r>
              <a:rPr lang="tr-TR" sz="3600" dirty="0"/>
              <a:t>Birçok kişi zıt fikirleri aynı anda            birarada tutar.</a:t>
            </a:r>
          </a:p>
          <a:p>
            <a:pPr eaLnBrk="1" hangingPunct="1">
              <a:lnSpc>
                <a:spcPct val="80000"/>
              </a:lnSpc>
              <a:defRPr/>
            </a:pPr>
            <a:endParaRPr lang="tr-TR" sz="3600" dirty="0"/>
          </a:p>
          <a:p>
            <a:pPr eaLnBrk="1" hangingPunct="1">
              <a:lnSpc>
                <a:spcPct val="80000"/>
              </a:lnSpc>
              <a:defRPr/>
            </a:pPr>
            <a:r>
              <a:rPr lang="tr-TR" sz="3600" dirty="0"/>
              <a:t>Bir kişi dürüstlüğe inanır ama </a:t>
            </a:r>
          </a:p>
          <a:p>
            <a:pPr marL="0" indent="0" eaLnBrk="1" hangingPunct="1">
              <a:lnSpc>
                <a:spcPct val="80000"/>
              </a:lnSpc>
              <a:buNone/>
              <a:defRPr/>
            </a:pPr>
            <a:r>
              <a:rPr lang="tr-TR" sz="3600" dirty="0"/>
              <a:t>  çocuklarına dürüst olamaz.  </a:t>
            </a:r>
          </a:p>
          <a:p>
            <a:pPr eaLnBrk="1" hangingPunct="1">
              <a:lnSpc>
                <a:spcPct val="80000"/>
              </a:lnSpc>
              <a:defRPr/>
            </a:pPr>
            <a:endParaRPr lang="tr-TR" sz="3600" dirty="0"/>
          </a:p>
        </p:txBody>
      </p:sp>
    </p:spTree>
    <p:extLst>
      <p:ext uri="{BB962C8B-B14F-4D97-AF65-F5344CB8AC3E}">
        <p14:creationId xmlns:p14="http://schemas.microsoft.com/office/powerpoint/2010/main" val="260686659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381000" y="0"/>
            <a:ext cx="7315200" cy="320040"/>
          </a:xfrm>
        </p:spPr>
        <p:txBody>
          <a:bodyPr>
            <a:normAutofit fontScale="90000"/>
          </a:bodyPr>
          <a:lstStyle/>
          <a:p>
            <a:pPr eaLnBrk="1" hangingPunct="1">
              <a:defRPr/>
            </a:pPr>
            <a:endParaRPr lang="tr-TR" dirty="0"/>
          </a:p>
        </p:txBody>
      </p:sp>
      <p:sp>
        <p:nvSpPr>
          <p:cNvPr id="3" name="Content Placeholder 2"/>
          <p:cNvSpPr>
            <a:spLocks noGrp="1"/>
          </p:cNvSpPr>
          <p:nvPr>
            <p:ph idx="1"/>
          </p:nvPr>
        </p:nvSpPr>
        <p:spPr>
          <a:xfrm>
            <a:off x="0" y="838200"/>
            <a:ext cx="8153400" cy="5943600"/>
          </a:xfrm>
        </p:spPr>
        <p:txBody>
          <a:bodyPr/>
          <a:lstStyle/>
          <a:p>
            <a:pPr>
              <a:lnSpc>
                <a:spcPct val="80000"/>
              </a:lnSpc>
              <a:defRPr/>
            </a:pPr>
            <a:r>
              <a:rPr lang="tr-TR" sz="3200" dirty="0"/>
              <a:t>Aynı zamanda işinde birtakım dürüst olmayan işlerin içine girebilir. </a:t>
            </a:r>
          </a:p>
          <a:p>
            <a:pPr eaLnBrk="1" hangingPunct="1">
              <a:lnSpc>
                <a:spcPct val="80000"/>
              </a:lnSpc>
              <a:defRPr/>
            </a:pPr>
            <a:endParaRPr lang="tr-TR" sz="3200" dirty="0"/>
          </a:p>
          <a:p>
            <a:pPr eaLnBrk="1" hangingPunct="1">
              <a:lnSpc>
                <a:spcPct val="80000"/>
              </a:lnSpc>
              <a:defRPr/>
            </a:pPr>
            <a:r>
              <a:rPr lang="tr-TR" sz="3200" dirty="0"/>
              <a:t>Kendini “</a:t>
            </a:r>
            <a:r>
              <a:rPr lang="tr-TR" sz="3200" b="1" i="1" dirty="0"/>
              <a:t>tüm rakiplerim bu şekilde davranıyor, bu kabul edilebilir bir davranış”</a:t>
            </a:r>
            <a:r>
              <a:rPr lang="tr-TR" sz="3200" dirty="0"/>
              <a:t> şekilde avutmaya çalışır. </a:t>
            </a:r>
          </a:p>
          <a:p>
            <a:pPr eaLnBrk="1" hangingPunct="1">
              <a:lnSpc>
                <a:spcPct val="80000"/>
              </a:lnSpc>
              <a:defRPr/>
            </a:pPr>
            <a:endParaRPr lang="tr-TR" sz="3200" dirty="0"/>
          </a:p>
          <a:p>
            <a:pPr eaLnBrk="1" hangingPunct="1">
              <a:lnSpc>
                <a:spcPct val="80000"/>
              </a:lnSpc>
              <a:defRPr/>
            </a:pPr>
            <a:r>
              <a:rPr lang="tr-TR" sz="3200" dirty="0"/>
              <a:t>Ama yine de çatışmadan kaçamaz ve bu sinir sistemine etki eder. </a:t>
            </a:r>
          </a:p>
          <a:p>
            <a:pPr eaLnBrk="1" hangingPunct="1">
              <a:lnSpc>
                <a:spcPct val="80000"/>
              </a:lnSpc>
              <a:defRPr/>
            </a:pPr>
            <a:endParaRPr lang="tr-TR" sz="3200" dirty="0"/>
          </a:p>
          <a:p>
            <a:pPr eaLnBrk="1" hangingPunct="1">
              <a:lnSpc>
                <a:spcPct val="80000"/>
              </a:lnSpc>
              <a:defRPr/>
            </a:pPr>
            <a:r>
              <a:rPr lang="tr-TR" sz="3200" dirty="0"/>
              <a:t>Çelişkili fikirlerinin bir arada bulunması fiziksel olarak rahatsızlık yaratır.</a:t>
            </a:r>
          </a:p>
          <a:p>
            <a:pPr eaLnBrk="1" hangingPunct="1">
              <a:defRPr/>
            </a:pPr>
            <a:endParaRPr lang="tr-TR" dirty="0"/>
          </a:p>
        </p:txBody>
      </p:sp>
    </p:spTree>
    <p:extLst>
      <p:ext uri="{BB962C8B-B14F-4D97-AF65-F5344CB8AC3E}">
        <p14:creationId xmlns:p14="http://schemas.microsoft.com/office/powerpoint/2010/main" val="235965305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tr-TR" dirty="0">
                <a:solidFill>
                  <a:srgbClr val="FF0000"/>
                </a:solidFill>
              </a:rPr>
              <a:t>Başarılı Hipnoz Seansı </a:t>
            </a:r>
            <a:br>
              <a:rPr lang="tr-TR" dirty="0">
                <a:solidFill>
                  <a:srgbClr val="FF0000"/>
                </a:solidFill>
              </a:rPr>
            </a:br>
            <a:r>
              <a:rPr lang="tr-TR" dirty="0">
                <a:solidFill>
                  <a:srgbClr val="FF0000"/>
                </a:solidFill>
              </a:rPr>
              <a:t>Nasıl oluşturulur</a:t>
            </a:r>
          </a:p>
        </p:txBody>
      </p:sp>
      <p:sp>
        <p:nvSpPr>
          <p:cNvPr id="3" name="Subtitle 2"/>
          <p:cNvSpPr>
            <a:spLocks noGrp="1"/>
          </p:cNvSpPr>
          <p:nvPr>
            <p:ph type="subTitle" idx="1"/>
          </p:nvPr>
        </p:nvSpPr>
        <p:spPr/>
        <p:txBody>
          <a:bodyPr/>
          <a:lstStyle/>
          <a:p>
            <a:endParaRPr lang="tr-TR"/>
          </a:p>
        </p:txBody>
      </p:sp>
    </p:spTree>
    <p:extLst>
      <p:ext uri="{BB962C8B-B14F-4D97-AF65-F5344CB8AC3E}">
        <p14:creationId xmlns:p14="http://schemas.microsoft.com/office/powerpoint/2010/main" val="267534907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Rectangle 4"/>
          <p:cNvSpPr>
            <a:spLocks noGrp="1" noChangeArrowheads="1"/>
          </p:cNvSpPr>
          <p:nvPr>
            <p:ph type="title"/>
          </p:nvPr>
        </p:nvSpPr>
        <p:spPr>
          <a:xfrm>
            <a:off x="0" y="533400"/>
            <a:ext cx="8686800" cy="1431925"/>
          </a:xfrm>
        </p:spPr>
        <p:txBody>
          <a:bodyPr>
            <a:normAutofit/>
          </a:bodyPr>
          <a:lstStyle/>
          <a:p>
            <a:pPr algn="ctr"/>
            <a:r>
              <a:rPr lang="tr-TR" dirty="0"/>
              <a:t>Başarılı Hipnoz Seansı </a:t>
            </a:r>
            <a:br>
              <a:rPr lang="tr-TR" dirty="0"/>
            </a:br>
            <a:r>
              <a:rPr lang="tr-TR" dirty="0"/>
              <a:t>Nasıl Oluşturulur</a:t>
            </a:r>
          </a:p>
        </p:txBody>
      </p:sp>
      <p:pic>
        <p:nvPicPr>
          <p:cNvPr id="2055" name="Picture 7" descr="watercrystals_message_vol3_6"/>
          <p:cNvPicPr>
            <a:picLocks noGrp="1" noChangeAspect="1" noChangeArrowheads="1"/>
          </p:cNvPicPr>
          <p:nvPr>
            <p:ph type="clipArt" sz="half" idx="1"/>
          </p:nvPr>
        </p:nvPicPr>
        <p:blipFill>
          <a:blip r:embed="rId2" cstate="print">
            <a:extLst>
              <a:ext uri="{28A0092B-C50C-407E-A947-70E740481C1C}">
                <a14:useLocalDpi xmlns:a14="http://schemas.microsoft.com/office/drawing/2010/main" val="0"/>
              </a:ext>
            </a:extLst>
          </a:blip>
          <a:srcRect/>
          <a:stretch>
            <a:fillRect/>
          </a:stretch>
        </p:blipFill>
        <p:spPr>
          <a:xfrm>
            <a:off x="971550" y="2420938"/>
            <a:ext cx="3384550" cy="33670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54" name="Rectangle 6"/>
          <p:cNvSpPr>
            <a:spLocks noGrp="1" noChangeArrowheads="1"/>
          </p:cNvSpPr>
          <p:nvPr>
            <p:ph type="body" sz="half" idx="2"/>
          </p:nvPr>
        </p:nvSpPr>
        <p:spPr/>
        <p:txBody>
          <a:bodyPr>
            <a:normAutofit lnSpcReduction="10000"/>
          </a:bodyPr>
          <a:lstStyle/>
          <a:p>
            <a:r>
              <a:rPr lang="tr-TR" sz="2800" dirty="0"/>
              <a:t>Hayal gücünü arttır</a:t>
            </a:r>
          </a:p>
          <a:p>
            <a:r>
              <a:rPr lang="tr-TR" sz="2800" dirty="0"/>
              <a:t>Zihinsel Beklenti yarat</a:t>
            </a:r>
          </a:p>
          <a:p>
            <a:r>
              <a:rPr lang="tr-TR" sz="2800" dirty="0"/>
              <a:t>Kendin inan</a:t>
            </a:r>
          </a:p>
          <a:p>
            <a:r>
              <a:rPr lang="tr-TR" sz="2800" dirty="0"/>
              <a:t>Zihin neye odaklanırsa başına o gelir </a:t>
            </a:r>
          </a:p>
          <a:p>
            <a:pPr marL="68580" indent="0">
              <a:buNone/>
            </a:pPr>
            <a:r>
              <a:rPr lang="tr-TR" sz="2800" dirty="0"/>
              <a:t>  ( law of attraction)</a:t>
            </a:r>
          </a:p>
        </p:txBody>
      </p:sp>
    </p:spTree>
    <p:extLst>
      <p:ext uri="{BB962C8B-B14F-4D97-AF65-F5344CB8AC3E}">
        <p14:creationId xmlns:p14="http://schemas.microsoft.com/office/powerpoint/2010/main" val="72248272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tr-TR"/>
              <a:t>Zihinsel beklenti</a:t>
            </a:r>
          </a:p>
        </p:txBody>
      </p:sp>
      <p:pic>
        <p:nvPicPr>
          <p:cNvPr id="8198" name="Picture 6" descr="zion_0177"/>
          <p:cNvPicPr>
            <a:picLocks noGrp="1" noChangeAspect="1" noChangeArrowheads="1"/>
          </p:cNvPicPr>
          <p:nvPr>
            <p:ph type="clipArt" sz="half" idx="1"/>
          </p:nvPr>
        </p:nvPicPr>
        <p:blipFill>
          <a:blip r:embed="rId2" cstate="print">
            <a:extLst>
              <a:ext uri="{28A0092B-C50C-407E-A947-70E740481C1C}">
                <a14:useLocalDpi xmlns:a14="http://schemas.microsoft.com/office/drawing/2010/main" val="0"/>
              </a:ext>
            </a:extLst>
          </a:blip>
          <a:stretch>
            <a:fillRect/>
          </a:stretch>
        </p:blipFill>
        <p:spPr>
          <a:xfrm>
            <a:off x="1371600" y="1981200"/>
            <a:ext cx="30861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195" name="Rectangle 3"/>
          <p:cNvSpPr>
            <a:spLocks noGrp="1" noChangeArrowheads="1"/>
          </p:cNvSpPr>
          <p:nvPr>
            <p:ph type="body" sz="half" idx="2"/>
          </p:nvPr>
        </p:nvSpPr>
        <p:spPr/>
        <p:txBody>
          <a:bodyPr/>
          <a:lstStyle/>
          <a:p>
            <a:r>
              <a:rPr lang="tr-TR" sz="2800" dirty="0"/>
              <a:t>Kolay</a:t>
            </a:r>
          </a:p>
          <a:p>
            <a:r>
              <a:rPr lang="tr-TR" sz="2800" u="sng" dirty="0"/>
              <a:t>Biz her zaman bu işlerle uğraşırız</a:t>
            </a:r>
          </a:p>
          <a:p>
            <a:r>
              <a:rPr lang="tr-TR" sz="2800" dirty="0"/>
              <a:t>Doktor mentalitesini unutun.</a:t>
            </a:r>
          </a:p>
        </p:txBody>
      </p:sp>
    </p:spTree>
    <p:extLst>
      <p:ext uri="{BB962C8B-B14F-4D97-AF65-F5344CB8AC3E}">
        <p14:creationId xmlns:p14="http://schemas.microsoft.com/office/powerpoint/2010/main" val="185159535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tr-TR"/>
              <a:t>Başarının 3 koşulu</a:t>
            </a:r>
          </a:p>
        </p:txBody>
      </p:sp>
      <p:pic>
        <p:nvPicPr>
          <p:cNvPr id="9224" name="Picture 8" descr="CrystalCove11_0031"/>
          <p:cNvPicPr>
            <a:picLocks noGrp="1" noChangeAspect="1" noChangeArrowheads="1"/>
          </p:cNvPicPr>
          <p:nvPr>
            <p:ph type="clipArt" sz="half" idx="1"/>
          </p:nvPr>
        </p:nvPicPr>
        <p:blipFill>
          <a:blip r:embed="rId2" cstate="print">
            <a:extLst>
              <a:ext uri="{28A0092B-C50C-407E-A947-70E740481C1C}">
                <a14:useLocalDpi xmlns:a14="http://schemas.microsoft.com/office/drawing/2010/main" val="0"/>
              </a:ext>
            </a:extLst>
          </a:blip>
          <a:srcRect/>
          <a:stretch>
            <a:fillRect/>
          </a:stretch>
        </p:blipFill>
        <p:spPr>
          <a:xfrm>
            <a:off x="609600" y="1981200"/>
            <a:ext cx="4044829" cy="26971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219" name="Rectangle 3"/>
          <p:cNvSpPr>
            <a:spLocks noGrp="1" noChangeArrowheads="1"/>
          </p:cNvSpPr>
          <p:nvPr>
            <p:ph type="body" sz="half" idx="2"/>
          </p:nvPr>
        </p:nvSpPr>
        <p:spPr/>
        <p:txBody>
          <a:bodyPr/>
          <a:lstStyle/>
          <a:p>
            <a:pPr>
              <a:buFont typeface="Wingdings" pitchFamily="2" charset="2"/>
              <a:buNone/>
            </a:pPr>
            <a:endParaRPr lang="tr-TR" sz="2800" dirty="0"/>
          </a:p>
          <a:p>
            <a:pPr>
              <a:buFont typeface="Wingdings" pitchFamily="2" charset="2"/>
              <a:buNone/>
            </a:pPr>
            <a:r>
              <a:rPr lang="tr-TR" sz="2800" dirty="0"/>
              <a:t>1. Adım Pre-talk </a:t>
            </a:r>
          </a:p>
          <a:p>
            <a:pPr>
              <a:buFont typeface="Wingdings" pitchFamily="2" charset="2"/>
              <a:buNone/>
            </a:pPr>
            <a:endParaRPr lang="tr-TR" sz="2800" dirty="0"/>
          </a:p>
          <a:p>
            <a:pPr>
              <a:buFont typeface="Wingdings" pitchFamily="2" charset="2"/>
              <a:buNone/>
            </a:pPr>
            <a:r>
              <a:rPr lang="tr-TR" sz="2800" dirty="0"/>
              <a:t>2. Adım İndüksiyon</a:t>
            </a:r>
          </a:p>
          <a:p>
            <a:pPr>
              <a:buFont typeface="Wingdings" pitchFamily="2" charset="2"/>
              <a:buNone/>
            </a:pPr>
            <a:endParaRPr lang="tr-TR" sz="2800" dirty="0"/>
          </a:p>
          <a:p>
            <a:pPr>
              <a:buFont typeface="Wingdings" pitchFamily="2" charset="2"/>
              <a:buNone/>
            </a:pPr>
            <a:r>
              <a:rPr lang="tr-TR" sz="2800" dirty="0"/>
              <a:t>3. Posthipnotik telkin</a:t>
            </a:r>
          </a:p>
        </p:txBody>
      </p:sp>
    </p:spTree>
    <p:extLst>
      <p:ext uri="{BB962C8B-B14F-4D97-AF65-F5344CB8AC3E}">
        <p14:creationId xmlns:p14="http://schemas.microsoft.com/office/powerpoint/2010/main" val="70474293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tr-TR" b="1" dirty="0"/>
              <a:t>Pre-Talk</a:t>
            </a:r>
          </a:p>
        </p:txBody>
      </p:sp>
      <p:pic>
        <p:nvPicPr>
          <p:cNvPr id="12294" name="Picture 6" descr="images"/>
          <p:cNvPicPr>
            <a:picLocks noGrp="1" noChangeAspect="1" noChangeArrowheads="1"/>
          </p:cNvPicPr>
          <p:nvPr>
            <p:ph type="clipArt" sz="half" idx="1"/>
          </p:nvPr>
        </p:nvPicPr>
        <p:blipFill>
          <a:blip r:embed="rId2" cstate="print">
            <a:extLst>
              <a:ext uri="{28A0092B-C50C-407E-A947-70E740481C1C}">
                <a14:useLocalDpi xmlns:a14="http://schemas.microsoft.com/office/drawing/2010/main" val="0"/>
              </a:ext>
            </a:extLst>
          </a:blip>
          <a:srcRect/>
          <a:stretch>
            <a:fillRect/>
          </a:stretch>
        </p:blipFill>
        <p:spPr>
          <a:xfrm>
            <a:off x="414468" y="1916113"/>
            <a:ext cx="3652707" cy="35702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2291" name="Rectangle 3"/>
          <p:cNvSpPr>
            <a:spLocks noGrp="1" noChangeArrowheads="1"/>
          </p:cNvSpPr>
          <p:nvPr>
            <p:ph type="body" sz="half" idx="2"/>
          </p:nvPr>
        </p:nvSpPr>
        <p:spPr>
          <a:xfrm>
            <a:off x="4495800" y="1371600"/>
            <a:ext cx="4114800" cy="4724400"/>
          </a:xfrm>
        </p:spPr>
        <p:txBody>
          <a:bodyPr/>
          <a:lstStyle/>
          <a:p>
            <a:r>
              <a:rPr lang="tr-TR" sz="2800" b="1" dirty="0">
                <a:solidFill>
                  <a:srgbClr val="FFC000"/>
                </a:solidFill>
              </a:rPr>
              <a:t>1. adım</a:t>
            </a:r>
          </a:p>
          <a:p>
            <a:pPr>
              <a:buFont typeface="Wingdings" pitchFamily="2" charset="2"/>
              <a:buNone/>
            </a:pPr>
            <a:r>
              <a:rPr lang="tr-TR" sz="2800" dirty="0"/>
              <a:t>	Pre-talk ; en önemlisidir. </a:t>
            </a:r>
          </a:p>
          <a:p>
            <a:pPr>
              <a:buFont typeface="Wingdings" pitchFamily="2" charset="2"/>
              <a:buNone/>
            </a:pPr>
            <a:r>
              <a:rPr lang="tr-TR" sz="2800" dirty="0"/>
              <a:t>   </a:t>
            </a:r>
          </a:p>
          <a:p>
            <a:pPr>
              <a:buFont typeface="Wingdings" pitchFamily="2" charset="2"/>
              <a:buNone/>
            </a:pPr>
            <a:r>
              <a:rPr lang="tr-TR" sz="2800" dirty="0"/>
              <a:t>a. Dinle ama etkilenme</a:t>
            </a:r>
          </a:p>
          <a:p>
            <a:pPr>
              <a:buFont typeface="Wingdings" pitchFamily="2" charset="2"/>
              <a:buNone/>
            </a:pPr>
            <a:endParaRPr lang="tr-TR" sz="2800" dirty="0"/>
          </a:p>
          <a:p>
            <a:pPr>
              <a:buFont typeface="Wingdings" pitchFamily="2" charset="2"/>
              <a:buNone/>
            </a:pPr>
            <a:r>
              <a:rPr lang="tr-TR" sz="2800" dirty="0"/>
              <a:t>b. Korku ve yanlış algıyı kaldır.</a:t>
            </a:r>
          </a:p>
        </p:txBody>
      </p:sp>
    </p:spTree>
    <p:extLst>
      <p:ext uri="{BB962C8B-B14F-4D97-AF65-F5344CB8AC3E}">
        <p14:creationId xmlns:p14="http://schemas.microsoft.com/office/powerpoint/2010/main" val="126814886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algn="ctr"/>
            <a:r>
              <a:rPr lang="tr-TR" b="1" dirty="0"/>
              <a:t>Hipnozu engelleyen tek şey</a:t>
            </a:r>
          </a:p>
        </p:txBody>
      </p:sp>
      <p:pic>
        <p:nvPicPr>
          <p:cNvPr id="10246" name="Picture 6" descr="phobia"/>
          <p:cNvPicPr>
            <a:picLocks noGrp="1" noChangeAspect="1" noChangeArrowheads="1"/>
          </p:cNvPicPr>
          <p:nvPr>
            <p:ph type="clipArt" sz="half" idx="1"/>
          </p:nvPr>
        </p:nvPicPr>
        <p:blipFill>
          <a:blip r:embed="rId2" cstate="print">
            <a:extLst>
              <a:ext uri="{28A0092B-C50C-407E-A947-70E740481C1C}">
                <a14:useLocalDpi xmlns:a14="http://schemas.microsoft.com/office/drawing/2010/main" val="0"/>
              </a:ext>
            </a:extLst>
          </a:blip>
          <a:srcRect/>
          <a:stretch>
            <a:fillRect/>
          </a:stretch>
        </p:blipFill>
        <p:spPr>
          <a:xfrm>
            <a:off x="541806" y="2349500"/>
            <a:ext cx="3469807" cy="38989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43" name="Rectangle 3"/>
          <p:cNvSpPr>
            <a:spLocks noGrp="1" noChangeArrowheads="1"/>
          </p:cNvSpPr>
          <p:nvPr>
            <p:ph type="body" sz="half" idx="2"/>
          </p:nvPr>
        </p:nvSpPr>
        <p:spPr>
          <a:xfrm>
            <a:off x="4914900" y="1981200"/>
            <a:ext cx="4229100" cy="4114800"/>
          </a:xfrm>
        </p:spPr>
        <p:txBody>
          <a:bodyPr/>
          <a:lstStyle/>
          <a:p>
            <a:pPr>
              <a:buFont typeface="Wingdings" pitchFamily="2" charset="2"/>
              <a:buNone/>
            </a:pPr>
            <a:r>
              <a:rPr lang="tr-TR" sz="6000" b="1">
                <a:solidFill>
                  <a:srgbClr val="FF9933"/>
                </a:solidFill>
              </a:rPr>
              <a:t>Korkudur</a:t>
            </a:r>
          </a:p>
        </p:txBody>
      </p:sp>
    </p:spTree>
    <p:extLst>
      <p:ext uri="{BB962C8B-B14F-4D97-AF65-F5344CB8AC3E}">
        <p14:creationId xmlns:p14="http://schemas.microsoft.com/office/powerpoint/2010/main" val="223410021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algn="ctr"/>
            <a:r>
              <a:rPr lang="tr-TR" b="1" dirty="0"/>
              <a:t>Korku</a:t>
            </a:r>
          </a:p>
        </p:txBody>
      </p:sp>
      <p:pic>
        <p:nvPicPr>
          <p:cNvPr id="11270" name="Picture 6" descr="panik atak 3"/>
          <p:cNvPicPr>
            <a:picLocks noGrp="1" noChangeAspect="1" noChangeArrowheads="1"/>
          </p:cNvPicPr>
          <p:nvPr>
            <p:ph type="clipArt" sz="half" idx="1"/>
          </p:nvPr>
        </p:nvPicPr>
        <p:blipFill>
          <a:blip r:embed="rId2" cstate="print">
            <a:extLst>
              <a:ext uri="{28A0092B-C50C-407E-A947-70E740481C1C}">
                <a14:useLocalDpi xmlns:a14="http://schemas.microsoft.com/office/drawing/2010/main" val="0"/>
              </a:ext>
            </a:extLst>
          </a:blip>
          <a:srcRect/>
          <a:stretch>
            <a:fillRect/>
          </a:stretch>
        </p:blipFill>
        <p:spPr>
          <a:xfrm>
            <a:off x="533262" y="1844675"/>
            <a:ext cx="3228176" cy="40989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267" name="Rectangle 3"/>
          <p:cNvSpPr>
            <a:spLocks noGrp="1" noChangeArrowheads="1"/>
          </p:cNvSpPr>
          <p:nvPr>
            <p:ph type="body" sz="half" idx="2"/>
          </p:nvPr>
        </p:nvSpPr>
        <p:spPr>
          <a:xfrm>
            <a:off x="3671888" y="2362200"/>
            <a:ext cx="5472112" cy="3675062"/>
          </a:xfrm>
        </p:spPr>
        <p:txBody>
          <a:bodyPr/>
          <a:lstStyle/>
          <a:p>
            <a:pPr>
              <a:lnSpc>
                <a:spcPct val="90000"/>
              </a:lnSpc>
            </a:pPr>
            <a:r>
              <a:rPr lang="tr-TR" sz="3600" b="1" dirty="0">
                <a:solidFill>
                  <a:srgbClr val="FF9933"/>
                </a:solidFill>
              </a:rPr>
              <a:t>Kontrolü kaybetmek</a:t>
            </a:r>
          </a:p>
          <a:p>
            <a:pPr>
              <a:lnSpc>
                <a:spcPct val="90000"/>
              </a:lnSpc>
              <a:buFont typeface="Wingdings" pitchFamily="2" charset="2"/>
              <a:buNone/>
            </a:pPr>
            <a:endParaRPr lang="tr-TR" sz="3600" b="1" dirty="0">
              <a:solidFill>
                <a:srgbClr val="FF9933"/>
              </a:solidFill>
            </a:endParaRPr>
          </a:p>
          <a:p>
            <a:pPr>
              <a:lnSpc>
                <a:spcPct val="90000"/>
              </a:lnSpc>
            </a:pPr>
            <a:r>
              <a:rPr lang="tr-TR" sz="3600" b="1" dirty="0">
                <a:solidFill>
                  <a:srgbClr val="FF9933"/>
                </a:solidFill>
              </a:rPr>
              <a:t>Kirli çamaşır korkusu</a:t>
            </a:r>
          </a:p>
        </p:txBody>
      </p:sp>
    </p:spTree>
    <p:extLst>
      <p:ext uri="{BB962C8B-B14F-4D97-AF65-F5344CB8AC3E}">
        <p14:creationId xmlns:p14="http://schemas.microsoft.com/office/powerpoint/2010/main" val="295510750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algn="ctr"/>
            <a:r>
              <a:rPr lang="tr-TR" b="1" dirty="0"/>
              <a:t>Pre - talk</a:t>
            </a:r>
          </a:p>
        </p:txBody>
      </p:sp>
      <p:pic>
        <p:nvPicPr>
          <p:cNvPr id="13318" name="Picture 6" descr="hipnoz 1"/>
          <p:cNvPicPr>
            <a:picLocks noGrp="1" noChangeAspect="1" noChangeArrowheads="1"/>
          </p:cNvPicPr>
          <p:nvPr>
            <p:ph type="clipArt" sz="half" idx="1"/>
          </p:nvPr>
        </p:nvPicPr>
        <p:blipFill>
          <a:blip r:embed="rId2" cstate="print">
            <a:extLst>
              <a:ext uri="{28A0092B-C50C-407E-A947-70E740481C1C}">
                <a14:useLocalDpi xmlns:a14="http://schemas.microsoft.com/office/drawing/2010/main" val="0"/>
              </a:ext>
            </a:extLst>
          </a:blip>
          <a:srcRect/>
          <a:stretch>
            <a:fillRect/>
          </a:stretch>
        </p:blipFill>
        <p:spPr>
          <a:xfrm>
            <a:off x="533400" y="1965960"/>
            <a:ext cx="3657600" cy="390144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3315" name="Rectangle 3"/>
          <p:cNvSpPr>
            <a:spLocks noGrp="1" noChangeArrowheads="1"/>
          </p:cNvSpPr>
          <p:nvPr>
            <p:ph type="body" sz="half" idx="2"/>
          </p:nvPr>
        </p:nvSpPr>
        <p:spPr>
          <a:xfrm>
            <a:off x="4191000" y="2362200"/>
            <a:ext cx="5472112" cy="3675062"/>
          </a:xfrm>
        </p:spPr>
        <p:txBody>
          <a:bodyPr/>
          <a:lstStyle/>
          <a:p>
            <a:pPr>
              <a:lnSpc>
                <a:spcPct val="90000"/>
              </a:lnSpc>
              <a:buFont typeface="Wingdings" pitchFamily="2" charset="2"/>
              <a:buNone/>
            </a:pPr>
            <a:r>
              <a:rPr lang="tr-TR" sz="3600" b="1" dirty="0">
                <a:solidFill>
                  <a:srgbClr val="FF9933"/>
                </a:solidFill>
              </a:rPr>
              <a:t>Zihin Modelini anlat</a:t>
            </a:r>
          </a:p>
          <a:p>
            <a:pPr>
              <a:lnSpc>
                <a:spcPct val="90000"/>
              </a:lnSpc>
              <a:buFont typeface="Wingdings" pitchFamily="2" charset="2"/>
              <a:buNone/>
            </a:pPr>
            <a:endParaRPr lang="tr-TR" sz="3600" b="1" dirty="0">
              <a:solidFill>
                <a:srgbClr val="FF9933"/>
              </a:solidFill>
            </a:endParaRPr>
          </a:p>
          <a:p>
            <a:pPr>
              <a:lnSpc>
                <a:spcPct val="90000"/>
              </a:lnSpc>
              <a:buFont typeface="Wingdings" pitchFamily="2" charset="2"/>
              <a:buNone/>
            </a:pPr>
            <a:r>
              <a:rPr lang="tr-TR" sz="3600" b="1" dirty="0">
                <a:solidFill>
                  <a:srgbClr val="FF9933"/>
                </a:solidFill>
              </a:rPr>
              <a:t>          Bilinç</a:t>
            </a:r>
          </a:p>
          <a:p>
            <a:pPr>
              <a:lnSpc>
                <a:spcPct val="90000"/>
              </a:lnSpc>
              <a:buFont typeface="Wingdings" pitchFamily="2" charset="2"/>
              <a:buNone/>
            </a:pPr>
            <a:endParaRPr lang="tr-TR" sz="3600" b="1" dirty="0">
              <a:solidFill>
                <a:srgbClr val="FF9933"/>
              </a:solidFill>
            </a:endParaRPr>
          </a:p>
          <a:p>
            <a:pPr>
              <a:lnSpc>
                <a:spcPct val="90000"/>
              </a:lnSpc>
              <a:buFont typeface="Wingdings" pitchFamily="2" charset="2"/>
              <a:buNone/>
            </a:pPr>
            <a:r>
              <a:rPr lang="tr-TR" sz="3600" b="1" dirty="0">
                <a:solidFill>
                  <a:srgbClr val="FF9933"/>
                </a:solidFill>
              </a:rPr>
              <a:t>		    Bilinç Altı</a:t>
            </a:r>
          </a:p>
        </p:txBody>
      </p:sp>
    </p:spTree>
    <p:extLst>
      <p:ext uri="{BB962C8B-B14F-4D97-AF65-F5344CB8AC3E}">
        <p14:creationId xmlns:p14="http://schemas.microsoft.com/office/powerpoint/2010/main" val="357937893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algn="ctr"/>
            <a:r>
              <a:rPr lang="tr-TR" b="1" dirty="0"/>
              <a:t>Mental Attitudes</a:t>
            </a:r>
          </a:p>
        </p:txBody>
      </p:sp>
      <p:pic>
        <p:nvPicPr>
          <p:cNvPr id="14340" name="Picture 4" descr="hipnoz 1"/>
          <p:cNvPicPr>
            <a:picLocks noGrp="1" noChangeAspect="1" noChangeArrowheads="1"/>
          </p:cNvPicPr>
          <p:nvPr>
            <p:ph type="clipArt" sz="half" idx="1"/>
          </p:nvPr>
        </p:nvPicPr>
        <p:blipFill>
          <a:blip r:embed="rId2" cstate="print">
            <a:extLst>
              <a:ext uri="{28A0092B-C50C-407E-A947-70E740481C1C}">
                <a14:useLocalDpi xmlns:a14="http://schemas.microsoft.com/office/drawing/2010/main" val="0"/>
              </a:ext>
            </a:extLst>
          </a:blip>
          <a:srcRect/>
          <a:stretch>
            <a:fillRect/>
          </a:stretch>
        </p:blipFill>
        <p:spPr>
          <a:xfrm>
            <a:off x="292134" y="1844674"/>
            <a:ext cx="4203666" cy="444537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4339" name="Rectangle 3"/>
          <p:cNvSpPr>
            <a:spLocks noGrp="1" noChangeArrowheads="1"/>
          </p:cNvSpPr>
          <p:nvPr>
            <p:ph type="body" sz="half" idx="2"/>
          </p:nvPr>
        </p:nvSpPr>
        <p:spPr>
          <a:xfrm>
            <a:off x="4648200" y="2438400"/>
            <a:ext cx="5472112" cy="3675062"/>
          </a:xfrm>
        </p:spPr>
        <p:txBody>
          <a:bodyPr/>
          <a:lstStyle/>
          <a:p>
            <a:pPr lvl="6">
              <a:lnSpc>
                <a:spcPct val="90000"/>
              </a:lnSpc>
            </a:pPr>
            <a:endParaRPr lang="tr-TR" sz="2600" b="1" dirty="0">
              <a:solidFill>
                <a:srgbClr val="FF9933"/>
              </a:solidFill>
            </a:endParaRPr>
          </a:p>
          <a:p>
            <a:pPr>
              <a:lnSpc>
                <a:spcPct val="90000"/>
              </a:lnSpc>
            </a:pPr>
            <a:r>
              <a:rPr lang="tr-TR" sz="3600" b="1" dirty="0">
                <a:solidFill>
                  <a:srgbClr val="FF9933"/>
                </a:solidFill>
              </a:rPr>
              <a:t>Sevdim, Çalışır</a:t>
            </a:r>
          </a:p>
          <a:p>
            <a:pPr>
              <a:lnSpc>
                <a:spcPct val="90000"/>
              </a:lnSpc>
            </a:pPr>
            <a:endParaRPr lang="tr-TR" sz="3600" b="1" dirty="0">
              <a:solidFill>
                <a:srgbClr val="FF9933"/>
              </a:solidFill>
            </a:endParaRPr>
          </a:p>
          <a:p>
            <a:pPr>
              <a:lnSpc>
                <a:spcPct val="90000"/>
              </a:lnSpc>
            </a:pPr>
            <a:r>
              <a:rPr lang="tr-TR" sz="3600" b="1" dirty="0">
                <a:solidFill>
                  <a:srgbClr val="FF9933"/>
                </a:solidFill>
              </a:rPr>
              <a:t>Bir deneyelim</a:t>
            </a:r>
          </a:p>
          <a:p>
            <a:pPr>
              <a:lnSpc>
                <a:spcPct val="90000"/>
              </a:lnSpc>
              <a:buFont typeface="Wingdings" pitchFamily="2" charset="2"/>
              <a:buNone/>
            </a:pPr>
            <a:endParaRPr lang="tr-TR" sz="3600" b="1" dirty="0">
              <a:solidFill>
                <a:srgbClr val="FF9933"/>
              </a:solidFill>
            </a:endParaRPr>
          </a:p>
        </p:txBody>
      </p:sp>
    </p:spTree>
    <p:extLst>
      <p:ext uri="{BB962C8B-B14F-4D97-AF65-F5344CB8AC3E}">
        <p14:creationId xmlns:p14="http://schemas.microsoft.com/office/powerpoint/2010/main" val="148014081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7FAC3A2-C2E5-1707-868B-8DAE11891A74}"/>
              </a:ext>
            </a:extLst>
          </p:cNvPr>
          <p:cNvSpPr>
            <a:spLocks noGrp="1"/>
          </p:cNvSpPr>
          <p:nvPr>
            <p:ph type="title"/>
          </p:nvPr>
        </p:nvSpPr>
        <p:spPr>
          <a:xfrm>
            <a:off x="533400" y="533400"/>
            <a:ext cx="8229600" cy="1143000"/>
          </a:xfrm>
        </p:spPr>
        <p:txBody>
          <a:bodyPr>
            <a:normAutofit fontScale="90000"/>
          </a:bodyPr>
          <a:lstStyle/>
          <a:p>
            <a:pPr algn="ctr"/>
            <a:r>
              <a:rPr lang="tr-TR" b="1" dirty="0"/>
              <a:t>Hipnozun Genel Tıpta Kullanım Alanları</a:t>
            </a:r>
          </a:p>
        </p:txBody>
      </p:sp>
      <p:sp>
        <p:nvSpPr>
          <p:cNvPr id="3" name="İçerik Yer Tutucusu 2">
            <a:extLst>
              <a:ext uri="{FF2B5EF4-FFF2-40B4-BE49-F238E27FC236}">
                <a16:creationId xmlns:a16="http://schemas.microsoft.com/office/drawing/2014/main" id="{A1AA040D-0F87-9D21-2E3D-A6928AF18C2E}"/>
              </a:ext>
            </a:extLst>
          </p:cNvPr>
          <p:cNvSpPr>
            <a:spLocks noGrp="1"/>
          </p:cNvSpPr>
          <p:nvPr>
            <p:ph idx="1"/>
          </p:nvPr>
        </p:nvSpPr>
        <p:spPr>
          <a:xfrm>
            <a:off x="0" y="1676400"/>
            <a:ext cx="8991600" cy="5029200"/>
          </a:xfrm>
        </p:spPr>
        <p:txBody>
          <a:bodyPr>
            <a:normAutofit lnSpcReduction="10000"/>
          </a:bodyPr>
          <a:lstStyle/>
          <a:p>
            <a:r>
              <a:rPr lang="tr-TR" sz="2800" dirty="0"/>
              <a:t>•Ağrıyı ortadan kaldırmak için (migren ve gerilim tipi baş ağrıları, kronik fiziksel ağrılı hastalıklar, trigeminal nevralji, ağrısız doğum, fibromiyalji, kanser ağrılarında),</a:t>
            </a:r>
          </a:p>
          <a:p>
            <a:r>
              <a:rPr lang="tr-TR" sz="2800" dirty="0"/>
              <a:t>•</a:t>
            </a:r>
            <a:r>
              <a:rPr lang="tr-TR" sz="2800" dirty="0" err="1"/>
              <a:t>Hipnoanestezi</a:t>
            </a:r>
            <a:r>
              <a:rPr lang="tr-TR" sz="2800" dirty="0"/>
              <a:t> ile cerrahi girişimlerinde (ameliyatlar, diş çekimi ve diş eti problemlerinde),</a:t>
            </a:r>
          </a:p>
          <a:p>
            <a:r>
              <a:rPr lang="tr-TR" sz="2800" dirty="0"/>
              <a:t>•Psikosomatik hastalıklarda (astım, esansiyel hipertansiyon, ülser, ülseratif kolit, </a:t>
            </a:r>
            <a:r>
              <a:rPr lang="tr-TR" sz="2800" dirty="0" err="1"/>
              <a:t>irritabl</a:t>
            </a:r>
            <a:r>
              <a:rPr lang="tr-TR" sz="2800" dirty="0"/>
              <a:t> kolon, siğil gibi tedavilerde),</a:t>
            </a:r>
          </a:p>
          <a:p>
            <a:r>
              <a:rPr lang="tr-TR" sz="2800" dirty="0"/>
              <a:t>•Diş tedavilerinde, kanama kontrolü, …gibi alanlarda, hekimler tarafından kullanılır.</a:t>
            </a:r>
          </a:p>
          <a:p>
            <a:endParaRPr lang="tr-TR" dirty="0"/>
          </a:p>
        </p:txBody>
      </p:sp>
    </p:spTree>
    <p:extLst>
      <p:ext uri="{BB962C8B-B14F-4D97-AF65-F5344CB8AC3E}">
        <p14:creationId xmlns:p14="http://schemas.microsoft.com/office/powerpoint/2010/main" val="61147752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3537958-9F86-D758-8904-4D560DCA7BB3}"/>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07DD17EF-0CC6-0755-771C-692D32564DB7}"/>
              </a:ext>
            </a:extLst>
          </p:cNvPr>
          <p:cNvSpPr>
            <a:spLocks noGrp="1"/>
          </p:cNvSpPr>
          <p:nvPr>
            <p:ph idx="1"/>
          </p:nvPr>
        </p:nvSpPr>
        <p:spPr/>
        <p:txBody>
          <a:bodyPr/>
          <a:lstStyle/>
          <a:p>
            <a:r>
              <a:rPr lang="tr-TR" dirty="0"/>
              <a:t>Jinekoloji ve </a:t>
            </a:r>
            <a:r>
              <a:rPr lang="tr-TR" dirty="0" err="1"/>
              <a:t>Obstetride</a:t>
            </a:r>
            <a:endParaRPr lang="tr-TR" dirty="0"/>
          </a:p>
          <a:p>
            <a:r>
              <a:rPr lang="tr-TR" dirty="0"/>
              <a:t>Kadın ve erkek cinsel işlev bozukluğunda</a:t>
            </a:r>
          </a:p>
          <a:p>
            <a:r>
              <a:rPr lang="tr-TR" dirty="0"/>
              <a:t>Doğum ve lohusalık süreçlerinde</a:t>
            </a:r>
          </a:p>
          <a:p>
            <a:r>
              <a:rPr lang="tr-TR" dirty="0"/>
              <a:t>Gebelik bulantı ve kusmalarında</a:t>
            </a:r>
          </a:p>
        </p:txBody>
      </p:sp>
    </p:spTree>
    <p:extLst>
      <p:ext uri="{BB962C8B-B14F-4D97-AF65-F5344CB8AC3E}">
        <p14:creationId xmlns:p14="http://schemas.microsoft.com/office/powerpoint/2010/main" val="13133486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FD6B17D-99EF-0A17-3DDB-BB82AB3B23EB}"/>
              </a:ext>
            </a:extLst>
          </p:cNvPr>
          <p:cNvSpPr>
            <a:spLocks noGrp="1"/>
          </p:cNvSpPr>
          <p:nvPr>
            <p:ph type="title"/>
          </p:nvPr>
        </p:nvSpPr>
        <p:spPr>
          <a:xfrm>
            <a:off x="487166" y="457200"/>
            <a:ext cx="8229600" cy="1143000"/>
          </a:xfrm>
        </p:spPr>
        <p:txBody>
          <a:bodyPr>
            <a:normAutofit fontScale="90000"/>
          </a:bodyPr>
          <a:lstStyle/>
          <a:p>
            <a:pPr algn="ctr"/>
            <a:r>
              <a:rPr lang="tr-TR" b="1" dirty="0"/>
              <a:t>Hipnozun Psikiyatride Kullanım Alanları</a:t>
            </a:r>
          </a:p>
        </p:txBody>
      </p:sp>
      <p:sp>
        <p:nvSpPr>
          <p:cNvPr id="3" name="İçerik Yer Tutucusu 2">
            <a:extLst>
              <a:ext uri="{FF2B5EF4-FFF2-40B4-BE49-F238E27FC236}">
                <a16:creationId xmlns:a16="http://schemas.microsoft.com/office/drawing/2014/main" id="{7C76AFC2-29F8-571A-EEA0-4D82E487AB5D}"/>
              </a:ext>
            </a:extLst>
          </p:cNvPr>
          <p:cNvSpPr>
            <a:spLocks noGrp="1"/>
          </p:cNvSpPr>
          <p:nvPr>
            <p:ph idx="1"/>
          </p:nvPr>
        </p:nvSpPr>
        <p:spPr>
          <a:xfrm>
            <a:off x="0" y="1600200"/>
            <a:ext cx="8686800" cy="5257800"/>
          </a:xfrm>
        </p:spPr>
        <p:txBody>
          <a:bodyPr>
            <a:normAutofit/>
          </a:bodyPr>
          <a:lstStyle/>
          <a:p>
            <a:r>
              <a:rPr lang="tr-TR" dirty="0"/>
              <a:t>Kekemeliğin bazı türlerinde,</a:t>
            </a:r>
          </a:p>
          <a:p>
            <a:r>
              <a:rPr lang="tr-TR" dirty="0" err="1"/>
              <a:t>Enüresis</a:t>
            </a:r>
            <a:r>
              <a:rPr lang="tr-TR" dirty="0"/>
              <a:t> </a:t>
            </a:r>
            <a:r>
              <a:rPr lang="tr-TR" dirty="0" err="1"/>
              <a:t>noktürna</a:t>
            </a:r>
            <a:r>
              <a:rPr lang="tr-TR" dirty="0"/>
              <a:t> (gece işemeleri),</a:t>
            </a:r>
          </a:p>
          <a:p>
            <a:r>
              <a:rPr lang="tr-TR" dirty="0" err="1"/>
              <a:t>Trikotilomani</a:t>
            </a:r>
            <a:r>
              <a:rPr lang="tr-TR" dirty="0"/>
              <a:t>,</a:t>
            </a:r>
          </a:p>
          <a:p>
            <a:r>
              <a:rPr lang="tr-TR" dirty="0"/>
              <a:t>Yeme bozuklukları, (Anoreksiya, </a:t>
            </a:r>
            <a:r>
              <a:rPr lang="tr-TR" dirty="0" err="1"/>
              <a:t>Blumiya</a:t>
            </a:r>
            <a:r>
              <a:rPr lang="tr-TR" dirty="0"/>
              <a:t>, Obezite, </a:t>
            </a:r>
            <a:r>
              <a:rPr lang="tr-TR" dirty="0" err="1"/>
              <a:t>vb</a:t>
            </a:r>
            <a:r>
              <a:rPr lang="tr-TR" dirty="0"/>
              <a:t>)</a:t>
            </a:r>
          </a:p>
          <a:p>
            <a:r>
              <a:rPr lang="tr-TR" dirty="0"/>
              <a:t>Psikojenik ağrı bozukluğu,</a:t>
            </a:r>
          </a:p>
          <a:p>
            <a:r>
              <a:rPr lang="tr-TR" dirty="0"/>
              <a:t>Konversiyon bozukluğu,</a:t>
            </a:r>
          </a:p>
          <a:p>
            <a:r>
              <a:rPr lang="tr-TR" dirty="0"/>
              <a:t>Cinsel işlev bozuklukları,</a:t>
            </a:r>
          </a:p>
          <a:p>
            <a:r>
              <a:rPr lang="tr-TR" dirty="0"/>
              <a:t>Dissosiyatif bozukluklar,</a:t>
            </a:r>
          </a:p>
          <a:p>
            <a:r>
              <a:rPr lang="tr-TR" dirty="0"/>
              <a:t>Panik bozukluğu,</a:t>
            </a:r>
          </a:p>
          <a:p>
            <a:r>
              <a:rPr lang="tr-TR" dirty="0"/>
              <a:t>Travma sonrası stres bozuklukları</a:t>
            </a:r>
          </a:p>
        </p:txBody>
      </p:sp>
    </p:spTree>
    <p:extLst>
      <p:ext uri="{BB962C8B-B14F-4D97-AF65-F5344CB8AC3E}">
        <p14:creationId xmlns:p14="http://schemas.microsoft.com/office/powerpoint/2010/main" val="186972773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167E29C-CCBB-6E50-F6BF-C0847F94ACE2}"/>
              </a:ext>
            </a:extLst>
          </p:cNvPr>
          <p:cNvSpPr>
            <a:spLocks noGrp="1"/>
          </p:cNvSpPr>
          <p:nvPr>
            <p:ph type="title"/>
          </p:nvPr>
        </p:nvSpPr>
        <p:spPr/>
        <p:txBody>
          <a:bodyPr>
            <a:normAutofit fontScale="90000"/>
          </a:bodyPr>
          <a:lstStyle/>
          <a:p>
            <a:pPr algn="ctr"/>
            <a:r>
              <a:rPr lang="tr-TR" b="1" dirty="0"/>
              <a:t>Psikolojide Hipnozun Kullanım Alanları</a:t>
            </a:r>
          </a:p>
        </p:txBody>
      </p:sp>
      <p:sp>
        <p:nvSpPr>
          <p:cNvPr id="3" name="İçerik Yer Tutucusu 2">
            <a:extLst>
              <a:ext uri="{FF2B5EF4-FFF2-40B4-BE49-F238E27FC236}">
                <a16:creationId xmlns:a16="http://schemas.microsoft.com/office/drawing/2014/main" id="{93DF18DF-CD65-F900-09BA-8278EF9806E6}"/>
              </a:ext>
            </a:extLst>
          </p:cNvPr>
          <p:cNvSpPr>
            <a:spLocks noGrp="1"/>
          </p:cNvSpPr>
          <p:nvPr>
            <p:ph idx="1"/>
          </p:nvPr>
        </p:nvSpPr>
        <p:spPr/>
        <p:txBody>
          <a:bodyPr>
            <a:normAutofit/>
          </a:bodyPr>
          <a:lstStyle/>
          <a:p>
            <a:r>
              <a:rPr lang="tr-TR" dirty="0"/>
              <a:t>Ruhsal ve zihinsel sağlık,</a:t>
            </a:r>
          </a:p>
          <a:p>
            <a:r>
              <a:rPr lang="tr-TR" dirty="0"/>
              <a:t>Bilişsel davranışçı terapiye destek olarak hipnoterapi,</a:t>
            </a:r>
          </a:p>
          <a:p>
            <a:r>
              <a:rPr lang="tr-TR" dirty="0"/>
              <a:t>Duygusal iyilik halinin artırılması,</a:t>
            </a:r>
          </a:p>
          <a:p>
            <a:r>
              <a:rPr lang="tr-TR" dirty="0"/>
              <a:t>Fobiler, (uçak korkusu, kedi fobisi, </a:t>
            </a:r>
            <a:r>
              <a:rPr lang="tr-TR" dirty="0" err="1"/>
              <a:t>vb</a:t>
            </a:r>
            <a:r>
              <a:rPr lang="tr-TR" dirty="0"/>
              <a:t>)</a:t>
            </a:r>
          </a:p>
          <a:p>
            <a:r>
              <a:rPr lang="tr-TR" dirty="0"/>
              <a:t>Aşk acısı ve yas süreci,</a:t>
            </a:r>
          </a:p>
          <a:p>
            <a:r>
              <a:rPr lang="tr-TR" dirty="0"/>
              <a:t>Stresle başa çıkma becerilerinin geliştirilmesi,</a:t>
            </a:r>
          </a:p>
          <a:p>
            <a:r>
              <a:rPr lang="tr-TR" dirty="0"/>
              <a:t>Özgüvenin artırılması,</a:t>
            </a:r>
          </a:p>
          <a:p>
            <a:r>
              <a:rPr lang="tr-TR" dirty="0"/>
              <a:t>Sigara bırakma ve kilo verme gibi davranışsal değişikliklerin desteklenmesi,</a:t>
            </a:r>
          </a:p>
          <a:p>
            <a:endParaRPr lang="tr-TR" dirty="0"/>
          </a:p>
        </p:txBody>
      </p:sp>
    </p:spTree>
    <p:extLst>
      <p:ext uri="{BB962C8B-B14F-4D97-AF65-F5344CB8AC3E}">
        <p14:creationId xmlns:p14="http://schemas.microsoft.com/office/powerpoint/2010/main" val="140137175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08D42A9-448F-6E6A-FB47-5A5FAB1DD45A}"/>
              </a:ext>
            </a:extLst>
          </p:cNvPr>
          <p:cNvSpPr>
            <a:spLocks noGrp="1"/>
          </p:cNvSpPr>
          <p:nvPr>
            <p:ph type="title"/>
          </p:nvPr>
        </p:nvSpPr>
        <p:spPr/>
        <p:txBody>
          <a:bodyPr>
            <a:normAutofit fontScale="90000"/>
          </a:bodyPr>
          <a:lstStyle/>
          <a:p>
            <a:pPr algn="ctr"/>
            <a:r>
              <a:rPr lang="tr-TR" b="1" dirty="0"/>
              <a:t>Eğitimde Hipnozun Kullanım Alanları</a:t>
            </a:r>
          </a:p>
        </p:txBody>
      </p:sp>
      <p:sp>
        <p:nvSpPr>
          <p:cNvPr id="3" name="İçerik Yer Tutucusu 2">
            <a:extLst>
              <a:ext uri="{FF2B5EF4-FFF2-40B4-BE49-F238E27FC236}">
                <a16:creationId xmlns:a16="http://schemas.microsoft.com/office/drawing/2014/main" id="{8F683A2D-B232-5CEC-D189-CE72DF99E923}"/>
              </a:ext>
            </a:extLst>
          </p:cNvPr>
          <p:cNvSpPr>
            <a:spLocks noGrp="1"/>
          </p:cNvSpPr>
          <p:nvPr>
            <p:ph idx="1"/>
          </p:nvPr>
        </p:nvSpPr>
        <p:spPr>
          <a:xfrm>
            <a:off x="228600" y="1935480"/>
            <a:ext cx="8458200" cy="4770120"/>
          </a:xfrm>
        </p:spPr>
        <p:txBody>
          <a:bodyPr>
            <a:normAutofit/>
          </a:bodyPr>
          <a:lstStyle/>
          <a:p>
            <a:r>
              <a:rPr lang="tr-TR" dirty="0"/>
              <a:t>Sınav kaygısını azaltma</a:t>
            </a:r>
          </a:p>
          <a:p>
            <a:r>
              <a:rPr lang="tr-TR" dirty="0"/>
              <a:t>Dikkat ve odaklanmayı artırma</a:t>
            </a:r>
          </a:p>
          <a:p>
            <a:r>
              <a:rPr lang="tr-TR" dirty="0"/>
              <a:t>Bellek geliştirme</a:t>
            </a:r>
          </a:p>
          <a:p>
            <a:r>
              <a:rPr lang="tr-TR" dirty="0"/>
              <a:t>Performans artırma</a:t>
            </a:r>
          </a:p>
          <a:p>
            <a:r>
              <a:rPr lang="tr-TR" dirty="0"/>
              <a:t>Motivasyon artırma</a:t>
            </a:r>
          </a:p>
          <a:p>
            <a:r>
              <a:rPr lang="tr-TR" dirty="0"/>
              <a:t>Özgüveni artırma</a:t>
            </a:r>
          </a:p>
          <a:p>
            <a:r>
              <a:rPr lang="tr-TR" dirty="0"/>
              <a:t>Derse olan ilgiyi artırma</a:t>
            </a:r>
          </a:p>
          <a:p>
            <a:r>
              <a:rPr lang="tr-TR" dirty="0"/>
              <a:t>Öğrenme sürecini hızlandırma</a:t>
            </a:r>
          </a:p>
          <a:p>
            <a:r>
              <a:rPr lang="tr-TR" dirty="0"/>
              <a:t>Hedefler koyma ve ulaşma motivasyonunu arttırma</a:t>
            </a:r>
          </a:p>
          <a:p>
            <a:r>
              <a:rPr lang="tr-TR" dirty="0"/>
              <a:t>Öz disiplini artırma</a:t>
            </a:r>
          </a:p>
          <a:p>
            <a:endParaRPr lang="tr-TR" dirty="0"/>
          </a:p>
          <a:p>
            <a:endParaRPr lang="tr-TR" dirty="0"/>
          </a:p>
        </p:txBody>
      </p:sp>
    </p:spTree>
    <p:extLst>
      <p:ext uri="{BB962C8B-B14F-4D97-AF65-F5344CB8AC3E}">
        <p14:creationId xmlns:p14="http://schemas.microsoft.com/office/powerpoint/2010/main" val="264400736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350BD90-8FAB-4A5F-1DB6-1C2152BC651C}"/>
              </a:ext>
            </a:extLst>
          </p:cNvPr>
          <p:cNvSpPr>
            <a:spLocks noGrp="1"/>
          </p:cNvSpPr>
          <p:nvPr>
            <p:ph type="title"/>
          </p:nvPr>
        </p:nvSpPr>
        <p:spPr/>
        <p:txBody>
          <a:bodyPr>
            <a:normAutofit fontScale="90000"/>
          </a:bodyPr>
          <a:lstStyle/>
          <a:p>
            <a:pPr algn="ctr"/>
            <a:r>
              <a:rPr lang="tr-TR" b="1" dirty="0"/>
              <a:t>Hipnozun sporda kullanım alanlarından bazıları</a:t>
            </a:r>
          </a:p>
        </p:txBody>
      </p:sp>
      <p:sp>
        <p:nvSpPr>
          <p:cNvPr id="3" name="İçerik Yer Tutucusu 2">
            <a:extLst>
              <a:ext uri="{FF2B5EF4-FFF2-40B4-BE49-F238E27FC236}">
                <a16:creationId xmlns:a16="http://schemas.microsoft.com/office/drawing/2014/main" id="{C90C71CF-80E7-A06D-D8B1-2A2B5695A1A8}"/>
              </a:ext>
            </a:extLst>
          </p:cNvPr>
          <p:cNvSpPr>
            <a:spLocks noGrp="1"/>
          </p:cNvSpPr>
          <p:nvPr>
            <p:ph idx="1"/>
          </p:nvPr>
        </p:nvSpPr>
        <p:spPr/>
        <p:txBody>
          <a:bodyPr>
            <a:normAutofit/>
          </a:bodyPr>
          <a:lstStyle/>
          <a:p>
            <a:r>
              <a:rPr lang="tr-TR" sz="3200" dirty="0"/>
              <a:t>Performans artırma</a:t>
            </a:r>
          </a:p>
          <a:p>
            <a:r>
              <a:rPr lang="tr-TR" sz="3200" dirty="0"/>
              <a:t>Kaygı ve stres azaltma</a:t>
            </a:r>
          </a:p>
          <a:p>
            <a:r>
              <a:rPr lang="tr-TR" sz="3200" dirty="0"/>
              <a:t>Sakatlığın iyileşmesinde</a:t>
            </a:r>
          </a:p>
          <a:p>
            <a:r>
              <a:rPr lang="tr-TR" sz="3200" dirty="0"/>
              <a:t>Hedef belirleme</a:t>
            </a:r>
          </a:p>
          <a:p>
            <a:r>
              <a:rPr lang="tr-TR" sz="3200" dirty="0"/>
              <a:t>Motivasyon</a:t>
            </a:r>
          </a:p>
          <a:p>
            <a:r>
              <a:rPr lang="tr-TR" sz="3200" dirty="0"/>
              <a:t>Konsantrasyon ve odaklanma</a:t>
            </a:r>
          </a:p>
        </p:txBody>
      </p:sp>
    </p:spTree>
    <p:extLst>
      <p:ext uri="{BB962C8B-B14F-4D97-AF65-F5344CB8AC3E}">
        <p14:creationId xmlns:p14="http://schemas.microsoft.com/office/powerpoint/2010/main" val="249636575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p:txBody>
          <a:bodyPr>
            <a:normAutofit/>
          </a:bodyPr>
          <a:lstStyle/>
          <a:p>
            <a:endParaRPr lang="tr-TR" sz="8000" dirty="0">
              <a:solidFill>
                <a:srgbClr val="FF0000"/>
              </a:solidFill>
            </a:endParaRPr>
          </a:p>
          <a:p>
            <a:pPr marL="0" indent="0" algn="ctr">
              <a:buNone/>
            </a:pPr>
            <a:r>
              <a:rPr lang="tr-TR" sz="8000" dirty="0">
                <a:solidFill>
                  <a:srgbClr val="FF0000"/>
                </a:solidFill>
              </a:rPr>
              <a:t>TELKİNLER</a:t>
            </a:r>
          </a:p>
        </p:txBody>
      </p:sp>
    </p:spTree>
    <p:extLst>
      <p:ext uri="{BB962C8B-B14F-4D97-AF65-F5344CB8AC3E}">
        <p14:creationId xmlns:p14="http://schemas.microsoft.com/office/powerpoint/2010/main" val="71950465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p:cNvSpPr>
            <a:spLocks noGrp="1" noRot="1" noChangeArrowheads="1"/>
          </p:cNvSpPr>
          <p:nvPr>
            <p:ph type="title"/>
          </p:nvPr>
        </p:nvSpPr>
        <p:spPr>
          <a:xfrm>
            <a:off x="457200" y="6927"/>
            <a:ext cx="8385175" cy="1431925"/>
          </a:xfrm>
        </p:spPr>
        <p:txBody>
          <a:bodyPr/>
          <a:lstStyle/>
          <a:p>
            <a:pPr algn="ctr" eaLnBrk="1" hangingPunct="1">
              <a:defRPr/>
            </a:pPr>
            <a:r>
              <a:rPr lang="tr-TR" dirty="0"/>
              <a:t>Telkin nedir?</a:t>
            </a:r>
          </a:p>
        </p:txBody>
      </p:sp>
      <p:pic>
        <p:nvPicPr>
          <p:cNvPr id="3076" name="Picture 7" descr="abukluk"/>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25175" y="1905000"/>
            <a:ext cx="4978175" cy="4648200"/>
          </a:xfrm>
          <a:noFill/>
          <a:extLst>
            <a:ext uri="{909E8E84-426E-40DD-AFC4-6F175D3DCCD1}">
              <a14:hiddenFill xmlns:a14="http://schemas.microsoft.com/office/drawing/2010/main">
                <a:solidFill>
                  <a:srgbClr val="FFFFFF"/>
                </a:solidFill>
              </a14:hiddenFill>
            </a:ext>
          </a:extLst>
        </p:spPr>
      </p:pic>
      <p:sp>
        <p:nvSpPr>
          <p:cNvPr id="2054" name="Rectangle 6"/>
          <p:cNvSpPr>
            <a:spLocks noGrp="1" noRot="1" noChangeArrowheads="1"/>
          </p:cNvSpPr>
          <p:nvPr>
            <p:ph type="body" sz="half" idx="2"/>
          </p:nvPr>
        </p:nvSpPr>
        <p:spPr>
          <a:xfrm>
            <a:off x="4916488" y="1905000"/>
            <a:ext cx="4151312" cy="4800600"/>
          </a:xfrm>
        </p:spPr>
        <p:txBody>
          <a:bodyPr/>
          <a:lstStyle/>
          <a:p>
            <a:pPr eaLnBrk="1" hangingPunct="1">
              <a:defRPr/>
            </a:pPr>
            <a:endParaRPr lang="tr-TR" sz="2800" dirty="0"/>
          </a:p>
          <a:p>
            <a:pPr eaLnBrk="1" hangingPunct="1">
              <a:defRPr/>
            </a:pPr>
            <a:r>
              <a:rPr lang="tr-TR" sz="2800" dirty="0"/>
              <a:t>Bir kişide farklı bir durum oluşturmak amacıyla söylenen bir söz. </a:t>
            </a:r>
          </a:p>
          <a:p>
            <a:pPr eaLnBrk="1" hangingPunct="1">
              <a:defRPr/>
            </a:pPr>
            <a:endParaRPr lang="tr-TR" sz="2800" dirty="0"/>
          </a:p>
          <a:p>
            <a:pPr eaLnBrk="1" hangingPunct="1">
              <a:defRPr/>
            </a:pPr>
            <a:r>
              <a:rPr lang="tr-TR" sz="2800" dirty="0"/>
              <a:t>Ya da bu amacı taşımasa da bu etkiye sahip bir söz. </a:t>
            </a:r>
          </a:p>
        </p:txBody>
      </p:sp>
    </p:spTree>
    <p:extLst>
      <p:ext uri="{BB962C8B-B14F-4D97-AF65-F5344CB8AC3E}">
        <p14:creationId xmlns:p14="http://schemas.microsoft.com/office/powerpoint/2010/main" val="28104451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0" y="244475"/>
            <a:ext cx="9144000" cy="1431925"/>
          </a:xfrm>
        </p:spPr>
        <p:txBody>
          <a:bodyPr/>
          <a:lstStyle/>
          <a:p>
            <a:pPr algn="ctr" eaLnBrk="1" hangingPunct="1">
              <a:defRPr/>
            </a:pPr>
            <a:r>
              <a:rPr lang="tr-TR" dirty="0"/>
              <a:t>Telkinin etkisi ?</a:t>
            </a:r>
          </a:p>
        </p:txBody>
      </p:sp>
      <p:pic>
        <p:nvPicPr>
          <p:cNvPr id="4100" name="Picture 6" descr="influence"/>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0" y="1752600"/>
            <a:ext cx="4800600" cy="4945381"/>
          </a:xfrm>
          <a:noFill/>
          <a:extLst>
            <a:ext uri="{909E8E84-426E-40DD-AFC4-6F175D3DCCD1}">
              <a14:hiddenFill xmlns:a14="http://schemas.microsoft.com/office/drawing/2010/main">
                <a:solidFill>
                  <a:srgbClr val="FFFFFF"/>
                </a:solidFill>
              </a14:hiddenFill>
            </a:ext>
          </a:extLst>
        </p:spPr>
      </p:pic>
      <p:sp>
        <p:nvSpPr>
          <p:cNvPr id="8195" name="Rectangle 3"/>
          <p:cNvSpPr>
            <a:spLocks noGrp="1" noRot="1" noChangeArrowheads="1"/>
          </p:cNvSpPr>
          <p:nvPr>
            <p:ph type="body" sz="half" idx="2"/>
          </p:nvPr>
        </p:nvSpPr>
        <p:spPr>
          <a:xfrm>
            <a:off x="4953000" y="1752600"/>
            <a:ext cx="4038600" cy="4876800"/>
          </a:xfrm>
        </p:spPr>
        <p:txBody>
          <a:bodyPr/>
          <a:lstStyle/>
          <a:p>
            <a:pPr eaLnBrk="1" hangingPunct="1">
              <a:defRPr/>
            </a:pPr>
            <a:endParaRPr lang="tr-TR" sz="2800" dirty="0"/>
          </a:p>
          <a:p>
            <a:pPr eaLnBrk="1" hangingPunct="1">
              <a:defRPr/>
            </a:pPr>
            <a:r>
              <a:rPr lang="tr-TR" sz="2800" dirty="0"/>
              <a:t>Her telkin hipnotik ya da değil ya kabul edilir ya da ret edilir. </a:t>
            </a:r>
          </a:p>
          <a:p>
            <a:pPr eaLnBrk="1" hangingPunct="1">
              <a:defRPr/>
            </a:pPr>
            <a:endParaRPr lang="tr-TR" sz="2800" dirty="0"/>
          </a:p>
          <a:p>
            <a:pPr eaLnBrk="1" hangingPunct="1">
              <a:defRPr/>
            </a:pPr>
            <a:r>
              <a:rPr lang="tr-TR" sz="2800" dirty="0"/>
              <a:t>Eğer bir teklif içsel olarak cazipse büyük olasılıkla kabul görür.  </a:t>
            </a:r>
          </a:p>
        </p:txBody>
      </p:sp>
    </p:spTree>
    <p:extLst>
      <p:ext uri="{BB962C8B-B14F-4D97-AF65-F5344CB8AC3E}">
        <p14:creationId xmlns:p14="http://schemas.microsoft.com/office/powerpoint/2010/main" val="205263778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rrowheads="1"/>
          </p:cNvSpPr>
          <p:nvPr>
            <p:ph type="title"/>
          </p:nvPr>
        </p:nvSpPr>
        <p:spPr>
          <a:xfrm>
            <a:off x="533400" y="244475"/>
            <a:ext cx="8308975" cy="1127125"/>
          </a:xfrm>
        </p:spPr>
        <p:txBody>
          <a:bodyPr/>
          <a:lstStyle/>
          <a:p>
            <a:pPr algn="ctr" eaLnBrk="1" hangingPunct="1">
              <a:defRPr/>
            </a:pPr>
            <a:r>
              <a:rPr lang="tr-TR" dirty="0"/>
              <a:t>Hipnotistin gücü</a:t>
            </a:r>
          </a:p>
        </p:txBody>
      </p:sp>
      <p:pic>
        <p:nvPicPr>
          <p:cNvPr id="5124" name="Picture 6" descr="beyin yıkama2"/>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457200" y="1600200"/>
            <a:ext cx="3716064" cy="5131707"/>
          </a:xfrm>
          <a:noFill/>
          <a:extLst>
            <a:ext uri="{909E8E84-426E-40DD-AFC4-6F175D3DCCD1}">
              <a14:hiddenFill xmlns:a14="http://schemas.microsoft.com/office/drawing/2010/main">
                <a:solidFill>
                  <a:srgbClr val="FFFFFF"/>
                </a:solidFill>
              </a14:hiddenFill>
            </a:ext>
          </a:extLst>
        </p:spPr>
      </p:pic>
      <p:sp>
        <p:nvSpPr>
          <p:cNvPr id="9219" name="Rectangle 3"/>
          <p:cNvSpPr>
            <a:spLocks noGrp="1" noRot="1" noChangeArrowheads="1"/>
          </p:cNvSpPr>
          <p:nvPr>
            <p:ph type="body" sz="half" idx="2"/>
          </p:nvPr>
        </p:nvSpPr>
        <p:spPr>
          <a:xfrm>
            <a:off x="4572000" y="1676400"/>
            <a:ext cx="4464050" cy="4953000"/>
          </a:xfrm>
        </p:spPr>
        <p:txBody>
          <a:bodyPr/>
          <a:lstStyle/>
          <a:p>
            <a:pPr marL="0" indent="0" eaLnBrk="1" hangingPunct="1">
              <a:buNone/>
              <a:defRPr/>
            </a:pPr>
            <a:endParaRPr lang="tr-TR" sz="3600" dirty="0"/>
          </a:p>
          <a:p>
            <a:pPr marL="0" indent="0" eaLnBrk="1" hangingPunct="1">
              <a:buNone/>
              <a:defRPr/>
            </a:pPr>
            <a:r>
              <a:rPr lang="tr-TR" sz="3600" dirty="0"/>
              <a:t>Telkinleri etkin ve </a:t>
            </a:r>
          </a:p>
          <a:p>
            <a:pPr marL="0" indent="0" eaLnBrk="1" hangingPunct="1">
              <a:buFont typeface="Wingdings" pitchFamily="2" charset="2"/>
              <a:buNone/>
              <a:defRPr/>
            </a:pPr>
            <a:r>
              <a:rPr lang="tr-TR" sz="3600" dirty="0"/>
              <a:t>Kabul edilebilir </a:t>
            </a:r>
          </a:p>
          <a:p>
            <a:pPr marL="0" indent="0" eaLnBrk="1" hangingPunct="1">
              <a:buFont typeface="Wingdings" pitchFamily="2" charset="2"/>
              <a:buNone/>
              <a:defRPr/>
            </a:pPr>
            <a:r>
              <a:rPr lang="tr-TR" sz="3600" dirty="0"/>
              <a:t>bir şekilde oluşturmaya ve sunmaya bağlıdır.</a:t>
            </a:r>
            <a:r>
              <a:rPr lang="tr-TR" sz="2800" dirty="0"/>
              <a:t> </a:t>
            </a:r>
          </a:p>
        </p:txBody>
      </p:sp>
    </p:spTree>
    <p:extLst>
      <p:ext uri="{BB962C8B-B14F-4D97-AF65-F5344CB8AC3E}">
        <p14:creationId xmlns:p14="http://schemas.microsoft.com/office/powerpoint/2010/main" val="44248453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0" y="-152400"/>
            <a:ext cx="9144000" cy="1431925"/>
          </a:xfrm>
        </p:spPr>
        <p:txBody>
          <a:bodyPr/>
          <a:lstStyle/>
          <a:p>
            <a:pPr algn="ctr" eaLnBrk="1" hangingPunct="1">
              <a:defRPr/>
            </a:pPr>
            <a:r>
              <a:rPr lang="tr-TR" dirty="0"/>
              <a:t>Hipnotik bir telkin</a:t>
            </a:r>
          </a:p>
        </p:txBody>
      </p:sp>
      <p:pic>
        <p:nvPicPr>
          <p:cNvPr id="6148" name="Picture 6" descr="çöpe gidenler"/>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457200" y="1713628"/>
            <a:ext cx="4067175" cy="4901794"/>
          </a:xfrm>
          <a:noFill/>
          <a:extLst>
            <a:ext uri="{909E8E84-426E-40DD-AFC4-6F175D3DCCD1}">
              <a14:hiddenFill xmlns:a14="http://schemas.microsoft.com/office/drawing/2010/main">
                <a:solidFill>
                  <a:srgbClr val="FFFFFF"/>
                </a:solidFill>
              </a14:hiddenFill>
            </a:ext>
          </a:extLst>
        </p:spPr>
      </p:pic>
      <p:sp>
        <p:nvSpPr>
          <p:cNvPr id="10243" name="Rectangle 3"/>
          <p:cNvSpPr>
            <a:spLocks noGrp="1" noRot="1" noChangeArrowheads="1"/>
          </p:cNvSpPr>
          <p:nvPr>
            <p:ph type="body" sz="half" idx="2"/>
          </p:nvPr>
        </p:nvSpPr>
        <p:spPr>
          <a:xfrm>
            <a:off x="4876800" y="1676400"/>
            <a:ext cx="4038600" cy="5105400"/>
          </a:xfrm>
        </p:spPr>
        <p:txBody>
          <a:bodyPr/>
          <a:lstStyle/>
          <a:p>
            <a:pPr marL="533400" indent="-533400" eaLnBrk="1" hangingPunct="1">
              <a:buFont typeface="Wingdings" pitchFamily="2" charset="2"/>
              <a:buAutoNum type="arabicPeriod"/>
              <a:defRPr/>
            </a:pPr>
            <a:endParaRPr lang="tr-TR" sz="4400" dirty="0"/>
          </a:p>
          <a:p>
            <a:pPr marL="533400" indent="-533400" eaLnBrk="1" hangingPunct="1">
              <a:buFont typeface="Wingdings" pitchFamily="2" charset="2"/>
              <a:buAutoNum type="arabicPeriod"/>
              <a:defRPr/>
            </a:pPr>
            <a:r>
              <a:rPr lang="tr-TR" sz="4400" dirty="0"/>
              <a:t>kabul edilebilir, </a:t>
            </a:r>
          </a:p>
          <a:p>
            <a:pPr marL="533400" indent="-533400" eaLnBrk="1" hangingPunct="1">
              <a:buFont typeface="Wingdings" pitchFamily="2" charset="2"/>
              <a:buAutoNum type="arabicPeriod"/>
              <a:defRPr/>
            </a:pPr>
            <a:endParaRPr lang="tr-TR" sz="4400" dirty="0"/>
          </a:p>
          <a:p>
            <a:pPr marL="533400" indent="-533400" eaLnBrk="1" hangingPunct="1">
              <a:buFont typeface="Wingdings" pitchFamily="2" charset="2"/>
              <a:buAutoNum type="arabicPeriod"/>
              <a:defRPr/>
            </a:pPr>
            <a:r>
              <a:rPr lang="tr-TR" sz="4400" dirty="0"/>
              <a:t>kullanılabilir olmalıdır.</a:t>
            </a:r>
            <a:r>
              <a:rPr lang="tr-TR" sz="2800" dirty="0"/>
              <a:t>  </a:t>
            </a:r>
          </a:p>
        </p:txBody>
      </p:sp>
    </p:spTree>
    <p:extLst>
      <p:ext uri="{BB962C8B-B14F-4D97-AF65-F5344CB8AC3E}">
        <p14:creationId xmlns:p14="http://schemas.microsoft.com/office/powerpoint/2010/main" val="344655714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Rot="1" noChangeArrowheads="1"/>
          </p:cNvSpPr>
          <p:nvPr>
            <p:ph type="title"/>
          </p:nvPr>
        </p:nvSpPr>
        <p:spPr>
          <a:xfrm>
            <a:off x="0" y="-228600"/>
            <a:ext cx="9144000" cy="1431925"/>
          </a:xfrm>
        </p:spPr>
        <p:txBody>
          <a:bodyPr/>
          <a:lstStyle/>
          <a:p>
            <a:pPr algn="ctr" eaLnBrk="1" hangingPunct="1">
              <a:defRPr/>
            </a:pPr>
            <a:r>
              <a:rPr lang="tr-TR" dirty="0"/>
              <a:t>	Telkine etken olanlar</a:t>
            </a:r>
          </a:p>
        </p:txBody>
      </p:sp>
      <p:pic>
        <p:nvPicPr>
          <p:cNvPr id="7172" name="Picture 6" descr="posthipnoz2"/>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76200" y="1533099"/>
            <a:ext cx="4724400" cy="5020101"/>
          </a:xfrm>
          <a:noFill/>
          <a:extLst>
            <a:ext uri="{909E8E84-426E-40DD-AFC4-6F175D3DCCD1}">
              <a14:hiddenFill xmlns:a14="http://schemas.microsoft.com/office/drawing/2010/main">
                <a:solidFill>
                  <a:srgbClr val="FFFFFF"/>
                </a:solidFill>
              </a14:hiddenFill>
            </a:ext>
          </a:extLst>
        </p:spPr>
      </p:pic>
      <p:sp>
        <p:nvSpPr>
          <p:cNvPr id="11267" name="Rectangle 3"/>
          <p:cNvSpPr>
            <a:spLocks noGrp="1" noRot="1" noChangeArrowheads="1"/>
          </p:cNvSpPr>
          <p:nvPr>
            <p:ph type="body" sz="half" idx="2"/>
          </p:nvPr>
        </p:nvSpPr>
        <p:spPr>
          <a:xfrm>
            <a:off x="4916488" y="1752600"/>
            <a:ext cx="4075112" cy="4800600"/>
          </a:xfrm>
        </p:spPr>
        <p:txBody>
          <a:bodyPr/>
          <a:lstStyle/>
          <a:p>
            <a:pPr marL="533400" indent="-533400" eaLnBrk="1" hangingPunct="1">
              <a:defRPr/>
            </a:pPr>
            <a:r>
              <a:rPr lang="tr-TR" sz="2800" dirty="0"/>
              <a:t>vizüellik</a:t>
            </a:r>
          </a:p>
          <a:p>
            <a:pPr marL="533400" indent="-533400" eaLnBrk="1" hangingPunct="1">
              <a:defRPr/>
            </a:pPr>
            <a:r>
              <a:rPr lang="tr-TR" sz="2800" dirty="0"/>
              <a:t>geçmiş deneyimler</a:t>
            </a:r>
          </a:p>
          <a:p>
            <a:pPr marL="533400" indent="-533400" eaLnBrk="1" hangingPunct="1">
              <a:defRPr/>
            </a:pPr>
            <a:r>
              <a:rPr lang="tr-TR" sz="2800" dirty="0"/>
              <a:t>beklenti düzeyi</a:t>
            </a:r>
          </a:p>
          <a:p>
            <a:pPr marL="533400" indent="-533400" eaLnBrk="1" hangingPunct="1">
              <a:defRPr/>
            </a:pPr>
            <a:r>
              <a:rPr lang="tr-TR" sz="2800" dirty="0"/>
              <a:t>hayalleme gücü, fanteziye eğimlilik</a:t>
            </a:r>
          </a:p>
          <a:p>
            <a:pPr marL="533400" indent="-533400" eaLnBrk="1" hangingPunct="1">
              <a:defRPr/>
            </a:pPr>
            <a:r>
              <a:rPr lang="tr-TR" sz="2800" dirty="0"/>
              <a:t>cinsiyet farklılığı</a:t>
            </a:r>
          </a:p>
          <a:p>
            <a:pPr marL="533400" indent="-533400" eaLnBrk="1" hangingPunct="1">
              <a:defRPr/>
            </a:pPr>
            <a:r>
              <a:rPr lang="tr-TR" sz="2800" dirty="0"/>
              <a:t>dil farklılığı</a:t>
            </a:r>
          </a:p>
          <a:p>
            <a:pPr marL="533400" indent="-533400" eaLnBrk="1" hangingPunct="1">
              <a:defRPr/>
            </a:pPr>
            <a:r>
              <a:rPr lang="tr-TR" sz="2800" dirty="0"/>
              <a:t>yaş faktörü</a:t>
            </a:r>
          </a:p>
        </p:txBody>
      </p:sp>
    </p:spTree>
    <p:extLst>
      <p:ext uri="{BB962C8B-B14F-4D97-AF65-F5344CB8AC3E}">
        <p14:creationId xmlns:p14="http://schemas.microsoft.com/office/powerpoint/2010/main" val="57339139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rrowheads="1"/>
          </p:cNvSpPr>
          <p:nvPr>
            <p:ph type="title"/>
          </p:nvPr>
        </p:nvSpPr>
        <p:spPr>
          <a:xfrm>
            <a:off x="0" y="-304800"/>
            <a:ext cx="9296400" cy="1431925"/>
          </a:xfrm>
        </p:spPr>
        <p:txBody>
          <a:bodyPr>
            <a:normAutofit fontScale="90000"/>
          </a:bodyPr>
          <a:lstStyle/>
          <a:p>
            <a:pPr eaLnBrk="1" hangingPunct="1">
              <a:defRPr/>
            </a:pPr>
            <a:r>
              <a:rPr lang="tr-TR" u="sng" dirty="0"/>
              <a:t>Hipnozun her aşamasında telkin vardır</a:t>
            </a:r>
          </a:p>
        </p:txBody>
      </p:sp>
      <p:pic>
        <p:nvPicPr>
          <p:cNvPr id="8196" name="Picture 6" descr="posthipnotik"/>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304800" y="1381232"/>
            <a:ext cx="3962400" cy="5275255"/>
          </a:xfrm>
          <a:noFill/>
          <a:extLst>
            <a:ext uri="{909E8E84-426E-40DD-AFC4-6F175D3DCCD1}">
              <a14:hiddenFill xmlns:a14="http://schemas.microsoft.com/office/drawing/2010/main">
                <a:solidFill>
                  <a:srgbClr val="FFFFFF"/>
                </a:solidFill>
              </a14:hiddenFill>
            </a:ext>
          </a:extLst>
        </p:spPr>
      </p:pic>
      <p:sp>
        <p:nvSpPr>
          <p:cNvPr id="12291" name="Rectangle 3"/>
          <p:cNvSpPr>
            <a:spLocks noGrp="1" noRot="1" noChangeArrowheads="1"/>
          </p:cNvSpPr>
          <p:nvPr>
            <p:ph type="body" sz="half" idx="2"/>
          </p:nvPr>
        </p:nvSpPr>
        <p:spPr>
          <a:xfrm>
            <a:off x="4343400" y="1295400"/>
            <a:ext cx="4724400" cy="5410200"/>
          </a:xfrm>
        </p:spPr>
        <p:txBody>
          <a:bodyPr>
            <a:normAutofit/>
          </a:bodyPr>
          <a:lstStyle/>
          <a:p>
            <a:pPr>
              <a:defRPr/>
            </a:pPr>
            <a:endParaRPr lang="tr-TR" sz="3200" dirty="0"/>
          </a:p>
          <a:p>
            <a:pPr>
              <a:defRPr/>
            </a:pPr>
            <a:r>
              <a:rPr lang="tr-TR" sz="3200" dirty="0"/>
              <a:t>hipnoz öncesi</a:t>
            </a:r>
          </a:p>
          <a:p>
            <a:pPr>
              <a:defRPr/>
            </a:pPr>
            <a:r>
              <a:rPr lang="tr-TR" sz="3200" dirty="0"/>
              <a:t>indüksiyon sırasında</a:t>
            </a:r>
          </a:p>
          <a:p>
            <a:pPr>
              <a:defRPr/>
            </a:pPr>
            <a:r>
              <a:rPr lang="tr-TR" sz="3200" dirty="0"/>
              <a:t>derinleştirme sırasında</a:t>
            </a:r>
          </a:p>
          <a:p>
            <a:pPr>
              <a:defRPr/>
            </a:pPr>
            <a:r>
              <a:rPr lang="tr-TR" sz="3200" dirty="0"/>
              <a:t>değişim sırasında</a:t>
            </a:r>
          </a:p>
          <a:p>
            <a:pPr>
              <a:defRPr/>
            </a:pPr>
            <a:r>
              <a:rPr lang="tr-TR" sz="3200" dirty="0"/>
              <a:t>fenomen oluşturma aşamasında</a:t>
            </a:r>
          </a:p>
          <a:p>
            <a:pPr>
              <a:defRPr/>
            </a:pPr>
            <a:r>
              <a:rPr lang="tr-TR" sz="3200" dirty="0"/>
              <a:t>analitik işlemlerde</a:t>
            </a:r>
          </a:p>
        </p:txBody>
      </p:sp>
    </p:spTree>
    <p:extLst>
      <p:ext uri="{BB962C8B-B14F-4D97-AF65-F5344CB8AC3E}">
        <p14:creationId xmlns:p14="http://schemas.microsoft.com/office/powerpoint/2010/main" val="26278088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rrowheads="1"/>
          </p:cNvSpPr>
          <p:nvPr>
            <p:ph type="title"/>
          </p:nvPr>
        </p:nvSpPr>
        <p:spPr>
          <a:xfrm>
            <a:off x="533400" y="-20782"/>
            <a:ext cx="8385175" cy="1431925"/>
          </a:xfrm>
        </p:spPr>
        <p:txBody>
          <a:bodyPr/>
          <a:lstStyle/>
          <a:p>
            <a:pPr eaLnBrk="1" hangingPunct="1">
              <a:defRPr/>
            </a:pPr>
            <a:r>
              <a:rPr lang="tr-TR" dirty="0"/>
              <a:t>	</a:t>
            </a:r>
            <a:r>
              <a:rPr lang="tr-TR" u="sng" dirty="0"/>
              <a:t>Telkinler sınıflandırılır</a:t>
            </a:r>
            <a:r>
              <a:rPr lang="tr-TR" dirty="0"/>
              <a:t> </a:t>
            </a:r>
          </a:p>
        </p:txBody>
      </p:sp>
      <p:pic>
        <p:nvPicPr>
          <p:cNvPr id="9220" name="Picture 6" descr="ceza"/>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304800" y="1905000"/>
            <a:ext cx="3886200" cy="4810471"/>
          </a:xfrm>
          <a:noFill/>
          <a:extLst>
            <a:ext uri="{909E8E84-426E-40DD-AFC4-6F175D3DCCD1}">
              <a14:hiddenFill xmlns:a14="http://schemas.microsoft.com/office/drawing/2010/main">
                <a:solidFill>
                  <a:srgbClr val="FFFFFF"/>
                </a:solidFill>
              </a14:hiddenFill>
            </a:ext>
          </a:extLst>
        </p:spPr>
      </p:pic>
      <p:sp>
        <p:nvSpPr>
          <p:cNvPr id="13315" name="Rectangle 3"/>
          <p:cNvSpPr>
            <a:spLocks noGrp="1" noRot="1" noChangeArrowheads="1"/>
          </p:cNvSpPr>
          <p:nvPr>
            <p:ph type="body" sz="half" idx="2"/>
          </p:nvPr>
        </p:nvSpPr>
        <p:spPr>
          <a:xfrm>
            <a:off x="4572000" y="1600200"/>
            <a:ext cx="4419600" cy="5105400"/>
          </a:xfrm>
        </p:spPr>
        <p:txBody>
          <a:bodyPr/>
          <a:lstStyle/>
          <a:p>
            <a:pPr marL="533400" indent="-533400" eaLnBrk="1" hangingPunct="1">
              <a:defRPr/>
            </a:pPr>
            <a:r>
              <a:rPr lang="tr-TR" sz="2800" dirty="0"/>
              <a:t>Direkt-indirekt</a:t>
            </a:r>
          </a:p>
          <a:p>
            <a:pPr marL="533400" indent="-533400" eaLnBrk="1" hangingPunct="1">
              <a:defRPr/>
            </a:pPr>
            <a:endParaRPr lang="tr-TR" sz="2800" dirty="0"/>
          </a:p>
          <a:p>
            <a:pPr marL="533400" indent="-533400" eaLnBrk="1" hangingPunct="1">
              <a:defRPr/>
            </a:pPr>
            <a:r>
              <a:rPr lang="tr-TR" sz="2800" dirty="0"/>
              <a:t>Content (içerikli) - proçes ( içeriksiz, uyarıcı)</a:t>
            </a:r>
          </a:p>
          <a:p>
            <a:pPr marL="533400" indent="-533400" eaLnBrk="1" hangingPunct="1">
              <a:defRPr/>
            </a:pPr>
            <a:endParaRPr lang="tr-TR" sz="2800" dirty="0"/>
          </a:p>
          <a:p>
            <a:pPr marL="533400" indent="-533400" eaLnBrk="1" hangingPunct="1">
              <a:defRPr/>
            </a:pPr>
            <a:r>
              <a:rPr lang="tr-TR" sz="2800" dirty="0"/>
              <a:t>Otoriter- Permisiv</a:t>
            </a:r>
          </a:p>
          <a:p>
            <a:pPr marL="533400" indent="-533400" eaLnBrk="1" hangingPunct="1">
              <a:defRPr/>
            </a:pPr>
            <a:endParaRPr lang="tr-TR" sz="2800" dirty="0"/>
          </a:p>
          <a:p>
            <a:pPr marL="533400" indent="-533400" eaLnBrk="1" hangingPunct="1">
              <a:defRPr/>
            </a:pPr>
            <a:r>
              <a:rPr lang="tr-TR" sz="2800" dirty="0"/>
              <a:t>Pozitif-negatif</a:t>
            </a:r>
          </a:p>
        </p:txBody>
      </p:sp>
    </p:spTree>
    <p:extLst>
      <p:ext uri="{BB962C8B-B14F-4D97-AF65-F5344CB8AC3E}">
        <p14:creationId xmlns:p14="http://schemas.microsoft.com/office/powerpoint/2010/main" val="199369578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a:xfrm>
            <a:off x="381000" y="-228600"/>
            <a:ext cx="8385175" cy="1431925"/>
          </a:xfrm>
        </p:spPr>
        <p:txBody>
          <a:bodyPr/>
          <a:lstStyle/>
          <a:p>
            <a:pPr algn="ctr" eaLnBrk="1" hangingPunct="1">
              <a:defRPr/>
            </a:pPr>
            <a:r>
              <a:rPr lang="tr-TR" dirty="0"/>
              <a:t>	</a:t>
            </a:r>
            <a:r>
              <a:rPr lang="tr-TR" u="sng" dirty="0"/>
              <a:t>Direkt - doğrudan telkinler</a:t>
            </a:r>
          </a:p>
        </p:txBody>
      </p:sp>
      <p:pic>
        <p:nvPicPr>
          <p:cNvPr id="10244" name="Picture 6" descr="sigara"/>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295380" y="1303944"/>
            <a:ext cx="3898796" cy="5249256"/>
          </a:xfrm>
          <a:noFill/>
          <a:extLst>
            <a:ext uri="{909E8E84-426E-40DD-AFC4-6F175D3DCCD1}">
              <a14:hiddenFill xmlns:a14="http://schemas.microsoft.com/office/drawing/2010/main">
                <a:solidFill>
                  <a:srgbClr val="FFFFFF"/>
                </a:solidFill>
              </a14:hiddenFill>
            </a:ext>
          </a:extLst>
        </p:spPr>
      </p:pic>
      <p:sp>
        <p:nvSpPr>
          <p:cNvPr id="14339" name="Rectangle 3"/>
          <p:cNvSpPr>
            <a:spLocks noGrp="1" noRot="1" noChangeArrowheads="1"/>
          </p:cNvSpPr>
          <p:nvPr>
            <p:ph type="body" sz="half" idx="2"/>
          </p:nvPr>
        </p:nvSpPr>
        <p:spPr>
          <a:xfrm>
            <a:off x="4267200" y="1371600"/>
            <a:ext cx="4578350" cy="5334000"/>
          </a:xfrm>
        </p:spPr>
        <p:txBody>
          <a:bodyPr>
            <a:normAutofit/>
          </a:bodyPr>
          <a:lstStyle/>
          <a:p>
            <a:pPr marL="533400" indent="-533400" eaLnBrk="1" hangingPunct="1">
              <a:lnSpc>
                <a:spcPct val="80000"/>
              </a:lnSpc>
              <a:defRPr/>
            </a:pPr>
            <a:endParaRPr lang="tr-TR" sz="2800" dirty="0"/>
          </a:p>
          <a:p>
            <a:pPr marL="533400" indent="-533400" eaLnBrk="1" hangingPunct="1">
              <a:lnSpc>
                <a:spcPct val="80000"/>
              </a:lnSpc>
              <a:defRPr/>
            </a:pPr>
            <a:r>
              <a:rPr lang="tr-TR" sz="2800" dirty="0"/>
              <a:t>özel direktiflerdir.</a:t>
            </a:r>
          </a:p>
          <a:p>
            <a:pPr marL="533400" indent="-533400" eaLnBrk="1" hangingPunct="1">
              <a:lnSpc>
                <a:spcPct val="80000"/>
              </a:lnSpc>
              <a:defRPr/>
            </a:pPr>
            <a:r>
              <a:rPr lang="tr-TR" sz="2800" dirty="0"/>
              <a:t>ifade net ve açıktır.</a:t>
            </a:r>
          </a:p>
          <a:p>
            <a:pPr marL="533400" indent="-533400" eaLnBrk="1" hangingPunct="1">
              <a:lnSpc>
                <a:spcPct val="80000"/>
              </a:lnSpc>
              <a:defRPr/>
            </a:pPr>
            <a:r>
              <a:rPr lang="tr-TR" sz="2800" dirty="0"/>
              <a:t>doğrudan istenen sonuç belirtilir. </a:t>
            </a:r>
          </a:p>
          <a:p>
            <a:pPr marL="533400" indent="-533400" eaLnBrk="1" hangingPunct="1">
              <a:lnSpc>
                <a:spcPct val="80000"/>
              </a:lnSpc>
              <a:defRPr/>
            </a:pPr>
            <a:r>
              <a:rPr lang="tr-TR" sz="2800" dirty="0"/>
              <a:t>her bir telkinin amacı bir yanıt almaya yöneliktir. </a:t>
            </a:r>
          </a:p>
          <a:p>
            <a:pPr marL="533400" indent="-533400" eaLnBrk="1" hangingPunct="1">
              <a:lnSpc>
                <a:spcPct val="80000"/>
              </a:lnSpc>
              <a:defRPr/>
            </a:pPr>
            <a:r>
              <a:rPr lang="tr-TR" sz="2800" dirty="0"/>
              <a:t>strateji amaçlı olabilir. </a:t>
            </a:r>
          </a:p>
          <a:p>
            <a:pPr marL="533400" indent="-533400" eaLnBrk="1" hangingPunct="1">
              <a:lnSpc>
                <a:spcPct val="80000"/>
              </a:lnSpc>
              <a:defRPr/>
            </a:pPr>
            <a:r>
              <a:rPr lang="tr-TR" sz="2800" dirty="0"/>
              <a:t>standart scriptler genellikle direkttir. </a:t>
            </a:r>
          </a:p>
          <a:p>
            <a:pPr marL="533400" indent="-533400" eaLnBrk="1" hangingPunct="1">
              <a:lnSpc>
                <a:spcPct val="80000"/>
              </a:lnSpc>
              <a:defRPr/>
            </a:pPr>
            <a:r>
              <a:rPr lang="tr-TR" sz="2800" dirty="0"/>
              <a:t>örnek sigarayı bırakma, motivasyon, kilo verme </a:t>
            </a:r>
          </a:p>
        </p:txBody>
      </p:sp>
    </p:spTree>
    <p:extLst>
      <p:ext uri="{BB962C8B-B14F-4D97-AF65-F5344CB8AC3E}">
        <p14:creationId xmlns:p14="http://schemas.microsoft.com/office/powerpoint/2010/main" val="24525225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rrowheads="1"/>
          </p:cNvSpPr>
          <p:nvPr>
            <p:ph type="title"/>
          </p:nvPr>
        </p:nvSpPr>
        <p:spPr>
          <a:xfrm>
            <a:off x="457200" y="-304800"/>
            <a:ext cx="8385175" cy="1431925"/>
          </a:xfrm>
        </p:spPr>
        <p:txBody>
          <a:bodyPr>
            <a:normAutofit fontScale="90000"/>
          </a:bodyPr>
          <a:lstStyle/>
          <a:p>
            <a:pPr eaLnBrk="1" hangingPunct="1">
              <a:defRPr/>
            </a:pPr>
            <a:r>
              <a:rPr lang="tr-TR" u="sng" dirty="0"/>
              <a:t>Direkt telkinin uygun olduğu kişiler.</a:t>
            </a:r>
          </a:p>
        </p:txBody>
      </p:sp>
      <p:pic>
        <p:nvPicPr>
          <p:cNvPr id="11268" name="Picture 6" descr="soldier"/>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112082" y="1752600"/>
            <a:ext cx="5019800" cy="4267200"/>
          </a:xfrm>
          <a:noFill/>
          <a:extLst>
            <a:ext uri="{909E8E84-426E-40DD-AFC4-6F175D3DCCD1}">
              <a14:hiddenFill xmlns:a14="http://schemas.microsoft.com/office/drawing/2010/main">
                <a:solidFill>
                  <a:srgbClr val="FFFFFF"/>
                </a:solidFill>
              </a14:hiddenFill>
            </a:ext>
          </a:extLst>
        </p:spPr>
      </p:pic>
      <p:sp>
        <p:nvSpPr>
          <p:cNvPr id="15363" name="Rectangle 3"/>
          <p:cNvSpPr>
            <a:spLocks noGrp="1" noRot="1" noChangeArrowheads="1"/>
          </p:cNvSpPr>
          <p:nvPr>
            <p:ph type="body" sz="half" idx="2"/>
          </p:nvPr>
        </p:nvSpPr>
        <p:spPr>
          <a:xfrm>
            <a:off x="5214938" y="1905000"/>
            <a:ext cx="3929062" cy="4191000"/>
          </a:xfrm>
        </p:spPr>
        <p:txBody>
          <a:bodyPr/>
          <a:lstStyle/>
          <a:p>
            <a:pPr marL="533400" indent="-533400" eaLnBrk="1" hangingPunct="1">
              <a:defRPr/>
            </a:pPr>
            <a:r>
              <a:rPr lang="tr-TR" sz="2800" dirty="0"/>
              <a:t>emir almaya alışık kişiler ( asker, polis, kılıbık koca)</a:t>
            </a:r>
          </a:p>
          <a:p>
            <a:pPr marL="533400" indent="-533400" eaLnBrk="1" hangingPunct="1">
              <a:defRPr/>
            </a:pPr>
            <a:r>
              <a:rPr lang="tr-TR" sz="2800" dirty="0"/>
              <a:t>hipnoza doğal olarak yatın kişiler,</a:t>
            </a:r>
          </a:p>
          <a:p>
            <a:pPr marL="533400" indent="-533400" eaLnBrk="1" hangingPunct="1">
              <a:defRPr/>
            </a:pPr>
            <a:r>
              <a:rPr lang="tr-TR" sz="2800" dirty="0"/>
              <a:t>hipnoza motive olmuş kişiler.</a:t>
            </a:r>
          </a:p>
        </p:txBody>
      </p:sp>
    </p:spTree>
    <p:extLst>
      <p:ext uri="{BB962C8B-B14F-4D97-AF65-F5344CB8AC3E}">
        <p14:creationId xmlns:p14="http://schemas.microsoft.com/office/powerpoint/2010/main" val="239942300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rrowheads="1"/>
          </p:cNvSpPr>
          <p:nvPr>
            <p:ph type="title"/>
          </p:nvPr>
        </p:nvSpPr>
        <p:spPr>
          <a:xfrm>
            <a:off x="457200" y="-228600"/>
            <a:ext cx="8385175" cy="1431925"/>
          </a:xfrm>
        </p:spPr>
        <p:txBody>
          <a:bodyPr/>
          <a:lstStyle/>
          <a:p>
            <a:pPr algn="ctr" eaLnBrk="1" hangingPunct="1">
              <a:defRPr/>
            </a:pPr>
            <a:r>
              <a:rPr lang="tr-TR" dirty="0"/>
              <a:t>	</a:t>
            </a:r>
            <a:r>
              <a:rPr lang="tr-TR" u="sng" dirty="0"/>
              <a:t>Direkt telkin avantajları</a:t>
            </a:r>
          </a:p>
        </p:txBody>
      </p:sp>
      <p:pic>
        <p:nvPicPr>
          <p:cNvPr id="12292" name="Picture 6" descr="beyine yerleştirme"/>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0" y="1676400"/>
            <a:ext cx="4733885" cy="4800600"/>
          </a:xfrm>
          <a:noFill/>
          <a:extLst>
            <a:ext uri="{909E8E84-426E-40DD-AFC4-6F175D3DCCD1}">
              <a14:hiddenFill xmlns:a14="http://schemas.microsoft.com/office/drawing/2010/main">
                <a:solidFill>
                  <a:srgbClr val="FFFFFF"/>
                </a:solidFill>
              </a14:hiddenFill>
            </a:ext>
          </a:extLst>
        </p:spPr>
      </p:pic>
      <p:sp>
        <p:nvSpPr>
          <p:cNvPr id="16387" name="Rectangle 3"/>
          <p:cNvSpPr>
            <a:spLocks noGrp="1" noRot="1" noChangeArrowheads="1"/>
          </p:cNvSpPr>
          <p:nvPr>
            <p:ph type="body" sz="half" idx="2"/>
          </p:nvPr>
        </p:nvSpPr>
        <p:spPr>
          <a:xfrm>
            <a:off x="4916488" y="1905000"/>
            <a:ext cx="3929062" cy="4191000"/>
          </a:xfrm>
        </p:spPr>
        <p:txBody>
          <a:bodyPr/>
          <a:lstStyle/>
          <a:p>
            <a:pPr marL="533400" indent="-533400" eaLnBrk="1" hangingPunct="1">
              <a:lnSpc>
                <a:spcPct val="90000"/>
              </a:lnSpc>
              <a:defRPr/>
            </a:pPr>
            <a:r>
              <a:rPr lang="tr-TR" sz="2800"/>
              <a:t>soruna doğrudan ulaşır</a:t>
            </a:r>
          </a:p>
          <a:p>
            <a:pPr marL="533400" indent="-533400" eaLnBrk="1" hangingPunct="1">
              <a:lnSpc>
                <a:spcPct val="90000"/>
              </a:lnSpc>
              <a:defRPr/>
            </a:pPr>
            <a:r>
              <a:rPr lang="tr-TR" sz="2800"/>
              <a:t>hedefi net ve açık belirtmek</a:t>
            </a:r>
          </a:p>
          <a:p>
            <a:pPr marL="533400" indent="-533400" eaLnBrk="1" hangingPunct="1">
              <a:lnSpc>
                <a:spcPct val="90000"/>
              </a:lnSpc>
              <a:defRPr/>
            </a:pPr>
            <a:r>
              <a:rPr lang="tr-TR" sz="2800"/>
              <a:t>hastayı doğrudan çalışmaya dahil etmek</a:t>
            </a:r>
          </a:p>
          <a:p>
            <a:pPr marL="533400" indent="-533400" eaLnBrk="1" hangingPunct="1">
              <a:lnSpc>
                <a:spcPct val="90000"/>
              </a:lnSpc>
              <a:defRPr/>
            </a:pPr>
            <a:r>
              <a:rPr lang="tr-TR" sz="2800"/>
              <a:t>gelecekte benzer sorunlara çözüm modeli olmak</a:t>
            </a:r>
          </a:p>
        </p:txBody>
      </p:sp>
    </p:spTree>
    <p:extLst>
      <p:ext uri="{BB962C8B-B14F-4D97-AF65-F5344CB8AC3E}">
        <p14:creationId xmlns:p14="http://schemas.microsoft.com/office/powerpoint/2010/main" val="109707988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rrowheads="1"/>
          </p:cNvSpPr>
          <p:nvPr>
            <p:ph type="title"/>
          </p:nvPr>
        </p:nvSpPr>
        <p:spPr>
          <a:xfrm>
            <a:off x="457200" y="-34636"/>
            <a:ext cx="8385175" cy="1431925"/>
          </a:xfrm>
        </p:spPr>
        <p:txBody>
          <a:bodyPr/>
          <a:lstStyle/>
          <a:p>
            <a:pPr algn="ctr" eaLnBrk="1" hangingPunct="1">
              <a:defRPr/>
            </a:pPr>
            <a:r>
              <a:rPr lang="tr-TR" u="sng" dirty="0"/>
              <a:t>Direkt telkin dezavantajları</a:t>
            </a:r>
          </a:p>
        </p:txBody>
      </p:sp>
      <p:pic>
        <p:nvPicPr>
          <p:cNvPr id="13316" name="Picture 6" descr="zorlama"/>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4598" y="1752600"/>
            <a:ext cx="4608130" cy="4953000"/>
          </a:xfrm>
          <a:noFill/>
          <a:extLst>
            <a:ext uri="{909E8E84-426E-40DD-AFC4-6F175D3DCCD1}">
              <a14:hiddenFill xmlns:a14="http://schemas.microsoft.com/office/drawing/2010/main">
                <a:solidFill>
                  <a:srgbClr val="FFFFFF"/>
                </a:solidFill>
              </a14:hiddenFill>
            </a:ext>
          </a:extLst>
        </p:spPr>
      </p:pic>
      <p:sp>
        <p:nvSpPr>
          <p:cNvPr id="17411" name="Rectangle 3"/>
          <p:cNvSpPr>
            <a:spLocks noGrp="1" noRot="1" noChangeArrowheads="1"/>
          </p:cNvSpPr>
          <p:nvPr>
            <p:ph type="body" sz="half" idx="2"/>
          </p:nvPr>
        </p:nvSpPr>
        <p:spPr>
          <a:xfrm>
            <a:off x="4916488" y="1905000"/>
            <a:ext cx="3929062" cy="4191000"/>
          </a:xfrm>
        </p:spPr>
        <p:txBody>
          <a:bodyPr/>
          <a:lstStyle/>
          <a:p>
            <a:pPr marL="533400" indent="-533400" eaLnBrk="1" hangingPunct="1">
              <a:defRPr/>
            </a:pPr>
            <a:r>
              <a:rPr lang="tr-TR" sz="2400"/>
              <a:t>bilinçli iradeye daha fazla güvenmek</a:t>
            </a:r>
          </a:p>
          <a:p>
            <a:pPr marL="533400" indent="-533400" eaLnBrk="1" hangingPunct="1">
              <a:defRPr/>
            </a:pPr>
            <a:r>
              <a:rPr lang="tr-TR" sz="2400"/>
              <a:t>bilinçaltı kaynaklarını daha az kullanmak</a:t>
            </a:r>
          </a:p>
          <a:p>
            <a:pPr marL="533400" indent="-533400" eaLnBrk="1" hangingPunct="1">
              <a:defRPr/>
            </a:pPr>
            <a:r>
              <a:rPr lang="tr-TR" sz="2400"/>
              <a:t>rezistans yaratma riski</a:t>
            </a:r>
          </a:p>
          <a:p>
            <a:pPr marL="533400" indent="-533400" eaLnBrk="1" hangingPunct="1">
              <a:defRPr/>
            </a:pPr>
            <a:r>
              <a:rPr lang="tr-TR" sz="2400"/>
              <a:t>hastadan sadece uyum gösteren bir kişi olmasını talep etmek</a:t>
            </a:r>
          </a:p>
        </p:txBody>
      </p:sp>
    </p:spTree>
    <p:extLst>
      <p:ext uri="{BB962C8B-B14F-4D97-AF65-F5344CB8AC3E}">
        <p14:creationId xmlns:p14="http://schemas.microsoft.com/office/powerpoint/2010/main" val="185214846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rrowheads="1"/>
          </p:cNvSpPr>
          <p:nvPr>
            <p:ph type="title"/>
          </p:nvPr>
        </p:nvSpPr>
        <p:spPr>
          <a:xfrm>
            <a:off x="457200" y="-304800"/>
            <a:ext cx="8385175" cy="1431925"/>
          </a:xfrm>
        </p:spPr>
        <p:txBody>
          <a:bodyPr/>
          <a:lstStyle/>
          <a:p>
            <a:pPr algn="ctr" eaLnBrk="1" hangingPunct="1">
              <a:defRPr/>
            </a:pPr>
            <a:r>
              <a:rPr lang="tr-TR" u="sng" dirty="0"/>
              <a:t>İndirekt telkinler</a:t>
            </a:r>
          </a:p>
        </p:txBody>
      </p:sp>
      <p:pic>
        <p:nvPicPr>
          <p:cNvPr id="14340" name="Picture 6" descr="images"/>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0" y="1151781"/>
            <a:ext cx="4623827" cy="6163125"/>
          </a:xfrm>
          <a:noFill/>
          <a:extLst>
            <a:ext uri="{909E8E84-426E-40DD-AFC4-6F175D3DCCD1}">
              <a14:hiddenFill xmlns:a14="http://schemas.microsoft.com/office/drawing/2010/main">
                <a:solidFill>
                  <a:srgbClr val="FFFFFF"/>
                </a:solidFill>
              </a14:hiddenFill>
            </a:ext>
          </a:extLst>
        </p:spPr>
      </p:pic>
      <p:sp>
        <p:nvSpPr>
          <p:cNvPr id="18435" name="Rectangle 3"/>
          <p:cNvSpPr>
            <a:spLocks noGrp="1" noRot="1" noChangeArrowheads="1"/>
          </p:cNvSpPr>
          <p:nvPr>
            <p:ph type="body" sz="half" idx="2"/>
          </p:nvPr>
        </p:nvSpPr>
        <p:spPr>
          <a:xfrm>
            <a:off x="3886200" y="1219200"/>
            <a:ext cx="5257800" cy="5715000"/>
          </a:xfrm>
        </p:spPr>
        <p:txBody>
          <a:bodyPr>
            <a:normAutofit/>
          </a:bodyPr>
          <a:lstStyle/>
          <a:p>
            <a:pPr>
              <a:lnSpc>
                <a:spcPct val="80000"/>
              </a:lnSpc>
              <a:defRPr/>
            </a:pPr>
            <a:r>
              <a:rPr lang="tr-TR" sz="2800" dirty="0"/>
              <a:t>Gizli, yumuşak, kışkırtmadan yaklaşan telkinlerdir. </a:t>
            </a:r>
          </a:p>
          <a:p>
            <a:pPr>
              <a:lnSpc>
                <a:spcPct val="80000"/>
              </a:lnSpc>
              <a:defRPr/>
            </a:pPr>
            <a:r>
              <a:rPr lang="tr-TR" sz="2800" dirty="0"/>
              <a:t>Kişinin bilinçli deneyimlerine gönderme yapılmaz.</a:t>
            </a:r>
          </a:p>
          <a:p>
            <a:pPr>
              <a:lnSpc>
                <a:spcPct val="80000"/>
              </a:lnSpc>
              <a:defRPr/>
            </a:pPr>
            <a:r>
              <a:rPr lang="tr-TR" sz="2800" dirty="0"/>
              <a:t>Bağlantılar dolaylı yoldan uyarılmaya çalışılır.</a:t>
            </a:r>
          </a:p>
          <a:p>
            <a:pPr>
              <a:lnSpc>
                <a:spcPct val="80000"/>
              </a:lnSpc>
              <a:defRPr/>
            </a:pPr>
            <a:r>
              <a:rPr lang="tr-TR" sz="2800" dirty="0"/>
              <a:t>Kişinin söylenenleri anlamlı yoldan kullanacağı umulur. </a:t>
            </a:r>
          </a:p>
          <a:p>
            <a:pPr>
              <a:lnSpc>
                <a:spcPct val="80000"/>
              </a:lnSpc>
              <a:defRPr/>
            </a:pPr>
            <a:r>
              <a:rPr lang="tr-TR" sz="2800" dirty="0"/>
              <a:t>Kişi bilinçli düzeyde sizin neler konuştuğunuzu merak ederken, bilinçaltı ise söylenenlerle kendi deneyimleri arasında ilişkileri kurar</a:t>
            </a:r>
            <a:r>
              <a:rPr lang="tr-TR" sz="2000" dirty="0"/>
              <a:t>. </a:t>
            </a:r>
          </a:p>
        </p:txBody>
      </p:sp>
    </p:spTree>
    <p:extLst>
      <p:ext uri="{BB962C8B-B14F-4D97-AF65-F5344CB8AC3E}">
        <p14:creationId xmlns:p14="http://schemas.microsoft.com/office/powerpoint/2010/main" val="423941935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rrowheads="1"/>
          </p:cNvSpPr>
          <p:nvPr>
            <p:ph type="title"/>
          </p:nvPr>
        </p:nvSpPr>
        <p:spPr>
          <a:xfrm>
            <a:off x="533400" y="-228600"/>
            <a:ext cx="8385175" cy="1431925"/>
          </a:xfrm>
        </p:spPr>
        <p:txBody>
          <a:bodyPr/>
          <a:lstStyle/>
          <a:p>
            <a:pPr algn="ctr" eaLnBrk="1" hangingPunct="1">
              <a:defRPr/>
            </a:pPr>
            <a:r>
              <a:rPr lang="tr-TR" u="sng" dirty="0"/>
              <a:t>Değişik indirekt telkinler</a:t>
            </a:r>
          </a:p>
        </p:txBody>
      </p:sp>
      <p:pic>
        <p:nvPicPr>
          <p:cNvPr id="15364" name="Picture 6" descr="muzip çocuk"/>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43378" y="1447800"/>
            <a:ext cx="4976610" cy="4953000"/>
          </a:xfrm>
          <a:noFill/>
          <a:extLst>
            <a:ext uri="{909E8E84-426E-40DD-AFC4-6F175D3DCCD1}">
              <a14:hiddenFill xmlns:a14="http://schemas.microsoft.com/office/drawing/2010/main">
                <a:solidFill>
                  <a:srgbClr val="FFFFFF"/>
                </a:solidFill>
              </a14:hiddenFill>
            </a:ext>
          </a:extLst>
        </p:spPr>
      </p:pic>
      <p:sp>
        <p:nvSpPr>
          <p:cNvPr id="19459" name="Rectangle 3"/>
          <p:cNvSpPr>
            <a:spLocks noGrp="1" noRot="1" noChangeArrowheads="1"/>
          </p:cNvSpPr>
          <p:nvPr>
            <p:ph type="body" sz="half" idx="2"/>
          </p:nvPr>
        </p:nvSpPr>
        <p:spPr>
          <a:xfrm>
            <a:off x="5105400" y="1371600"/>
            <a:ext cx="3886200" cy="5562600"/>
          </a:xfrm>
        </p:spPr>
        <p:txBody>
          <a:bodyPr>
            <a:normAutofit/>
          </a:bodyPr>
          <a:lstStyle/>
          <a:p>
            <a:pPr marL="533400" indent="-533400" eaLnBrk="1" hangingPunct="1">
              <a:defRPr/>
            </a:pPr>
            <a:r>
              <a:rPr lang="tr-TR" sz="3200" dirty="0"/>
              <a:t>hikaye anlatmak</a:t>
            </a:r>
          </a:p>
          <a:p>
            <a:pPr marL="533400" indent="-533400" eaLnBrk="1" hangingPunct="1">
              <a:defRPr/>
            </a:pPr>
            <a:r>
              <a:rPr lang="tr-TR" sz="3200" dirty="0"/>
              <a:t>analoji kurmak</a:t>
            </a:r>
          </a:p>
          <a:p>
            <a:pPr marL="533400" indent="-533400" eaLnBrk="1" hangingPunct="1">
              <a:defRPr/>
            </a:pPr>
            <a:r>
              <a:rPr lang="tr-TR" sz="3200" dirty="0"/>
              <a:t>şaka yapmak</a:t>
            </a:r>
          </a:p>
          <a:p>
            <a:pPr marL="533400" indent="-533400" eaLnBrk="1" hangingPunct="1">
              <a:defRPr/>
            </a:pPr>
            <a:r>
              <a:rPr lang="tr-TR" sz="3200" dirty="0"/>
              <a:t>kelime oyunları yapmak</a:t>
            </a:r>
          </a:p>
          <a:p>
            <a:pPr marL="533400" indent="-533400" eaLnBrk="1" hangingPunct="1">
              <a:defRPr/>
            </a:pPr>
            <a:r>
              <a:rPr lang="tr-TR" sz="3200" dirty="0"/>
              <a:t> ev ödevi vermek</a:t>
            </a:r>
          </a:p>
          <a:p>
            <a:pPr marL="533400" indent="-533400" eaLnBrk="1" hangingPunct="1">
              <a:defRPr/>
            </a:pPr>
            <a:r>
              <a:rPr lang="tr-TR" sz="3200" dirty="0"/>
              <a:t>gizlenmiş ve gömülmüş telkinler</a:t>
            </a:r>
          </a:p>
        </p:txBody>
      </p:sp>
    </p:spTree>
    <p:extLst>
      <p:ext uri="{BB962C8B-B14F-4D97-AF65-F5344CB8AC3E}">
        <p14:creationId xmlns:p14="http://schemas.microsoft.com/office/powerpoint/2010/main" val="124025092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a:xfrm>
            <a:off x="457200" y="-152400"/>
            <a:ext cx="8385175" cy="1431925"/>
          </a:xfrm>
        </p:spPr>
        <p:txBody>
          <a:bodyPr/>
          <a:lstStyle/>
          <a:p>
            <a:pPr algn="ctr" eaLnBrk="1" hangingPunct="1">
              <a:defRPr/>
            </a:pPr>
            <a:r>
              <a:rPr lang="tr-TR" u="sng" dirty="0"/>
              <a:t>İndirek telkin avantajları</a:t>
            </a:r>
          </a:p>
        </p:txBody>
      </p:sp>
      <p:pic>
        <p:nvPicPr>
          <p:cNvPr id="16388" name="Picture 6" descr="yaramaz çcocuk"/>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26166" y="1600200"/>
            <a:ext cx="4774434" cy="5105400"/>
          </a:xfrm>
          <a:noFill/>
          <a:extLst>
            <a:ext uri="{909E8E84-426E-40DD-AFC4-6F175D3DCCD1}">
              <a14:hiddenFill xmlns:a14="http://schemas.microsoft.com/office/drawing/2010/main">
                <a:solidFill>
                  <a:srgbClr val="FFFFFF"/>
                </a:solidFill>
              </a14:hiddenFill>
            </a:ext>
          </a:extLst>
        </p:spPr>
      </p:pic>
      <p:sp>
        <p:nvSpPr>
          <p:cNvPr id="20483" name="Rectangle 3"/>
          <p:cNvSpPr>
            <a:spLocks noGrp="1" noRot="1" noChangeArrowheads="1"/>
          </p:cNvSpPr>
          <p:nvPr>
            <p:ph type="body" sz="half" idx="2"/>
          </p:nvPr>
        </p:nvSpPr>
        <p:spPr>
          <a:xfrm>
            <a:off x="4916488" y="1905000"/>
            <a:ext cx="3929062" cy="4191000"/>
          </a:xfrm>
        </p:spPr>
        <p:txBody>
          <a:bodyPr/>
          <a:lstStyle/>
          <a:p>
            <a:pPr marL="533400" indent="-533400" eaLnBrk="1" hangingPunct="1">
              <a:lnSpc>
                <a:spcPct val="90000"/>
              </a:lnSpc>
              <a:defRPr/>
            </a:pPr>
            <a:r>
              <a:rPr lang="tr-TR" sz="2800"/>
              <a:t>BA kaynakları hasta yararına kullanılır</a:t>
            </a:r>
          </a:p>
          <a:p>
            <a:pPr marL="533400" indent="-533400" eaLnBrk="1" hangingPunct="1">
              <a:lnSpc>
                <a:spcPct val="90000"/>
              </a:lnSpc>
              <a:defRPr/>
            </a:pPr>
            <a:r>
              <a:rPr lang="tr-TR" sz="2800"/>
              <a:t>telkinle acıtıcı duygu arası açıktır bu direnci düşürür</a:t>
            </a:r>
          </a:p>
          <a:p>
            <a:pPr marL="533400" indent="-533400" eaLnBrk="1" hangingPunct="1">
              <a:lnSpc>
                <a:spcPct val="90000"/>
              </a:lnSpc>
              <a:defRPr/>
            </a:pPr>
            <a:r>
              <a:rPr lang="tr-TR" sz="2800"/>
              <a:t>bu uzaklık konfüzyon yaratır</a:t>
            </a:r>
          </a:p>
          <a:p>
            <a:pPr marL="533400" indent="-533400" eaLnBrk="1" hangingPunct="1">
              <a:lnSpc>
                <a:spcPct val="90000"/>
              </a:lnSpc>
              <a:defRPr/>
            </a:pPr>
            <a:r>
              <a:rPr lang="tr-TR" sz="2800"/>
              <a:t>BA telkinleri istediği yönde açıklar</a:t>
            </a:r>
          </a:p>
        </p:txBody>
      </p:sp>
    </p:spTree>
    <p:extLst>
      <p:ext uri="{BB962C8B-B14F-4D97-AF65-F5344CB8AC3E}">
        <p14:creationId xmlns:p14="http://schemas.microsoft.com/office/powerpoint/2010/main" val="191328371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rrowheads="1"/>
          </p:cNvSpPr>
          <p:nvPr>
            <p:ph type="title"/>
          </p:nvPr>
        </p:nvSpPr>
        <p:spPr>
          <a:xfrm>
            <a:off x="533400" y="-381000"/>
            <a:ext cx="8385175" cy="1431925"/>
          </a:xfrm>
        </p:spPr>
        <p:txBody>
          <a:bodyPr>
            <a:normAutofit fontScale="90000"/>
          </a:bodyPr>
          <a:lstStyle/>
          <a:p>
            <a:pPr algn="ctr" eaLnBrk="1" hangingPunct="1">
              <a:defRPr/>
            </a:pPr>
            <a:br>
              <a:rPr lang="tr-TR" u="sng" dirty="0"/>
            </a:br>
            <a:r>
              <a:rPr lang="tr-TR" u="sng" dirty="0"/>
              <a:t>İndirek telkin dezavantajları</a:t>
            </a:r>
          </a:p>
        </p:txBody>
      </p:sp>
      <p:pic>
        <p:nvPicPr>
          <p:cNvPr id="17412" name="Picture 6" descr="confusion"/>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762000" y="2057400"/>
            <a:ext cx="4039298" cy="4267200"/>
          </a:xfrm>
          <a:noFill/>
          <a:extLst>
            <a:ext uri="{909E8E84-426E-40DD-AFC4-6F175D3DCCD1}">
              <a14:hiddenFill xmlns:a14="http://schemas.microsoft.com/office/drawing/2010/main">
                <a:solidFill>
                  <a:srgbClr val="FFFFFF"/>
                </a:solidFill>
              </a14:hiddenFill>
            </a:ext>
          </a:extLst>
        </p:spPr>
      </p:pic>
      <p:sp>
        <p:nvSpPr>
          <p:cNvPr id="21507" name="Rectangle 3"/>
          <p:cNvSpPr>
            <a:spLocks noGrp="1" noRot="1" noChangeArrowheads="1"/>
          </p:cNvSpPr>
          <p:nvPr>
            <p:ph type="body" sz="half" idx="2"/>
          </p:nvPr>
        </p:nvSpPr>
        <p:spPr>
          <a:xfrm>
            <a:off x="4648200" y="1447800"/>
            <a:ext cx="4419600" cy="5257800"/>
          </a:xfrm>
        </p:spPr>
        <p:txBody>
          <a:bodyPr>
            <a:noAutofit/>
          </a:bodyPr>
          <a:lstStyle/>
          <a:p>
            <a:pPr marL="533400" indent="-533400" eaLnBrk="1" hangingPunct="1">
              <a:lnSpc>
                <a:spcPct val="80000"/>
              </a:lnSpc>
              <a:defRPr/>
            </a:pPr>
            <a:r>
              <a:rPr lang="tr-TR" sz="3200" dirty="0"/>
              <a:t>Acaba sorunum anlaşıldı mı?</a:t>
            </a:r>
          </a:p>
          <a:p>
            <a:pPr marL="533400" indent="-533400" eaLnBrk="1" hangingPunct="1">
              <a:lnSpc>
                <a:spcPct val="80000"/>
              </a:lnSpc>
              <a:defRPr/>
            </a:pPr>
            <a:r>
              <a:rPr lang="tr-TR" sz="3200" dirty="0"/>
              <a:t>Bu hipnotist neler diyor?</a:t>
            </a:r>
          </a:p>
          <a:p>
            <a:pPr marL="533400" indent="-533400" eaLnBrk="1" hangingPunct="1">
              <a:lnSpc>
                <a:spcPct val="80000"/>
              </a:lnSpc>
              <a:defRPr/>
            </a:pPr>
            <a:r>
              <a:rPr lang="tr-TR" sz="3200" dirty="0"/>
              <a:t>beni manipüle etmeye mi çalışıyor?</a:t>
            </a:r>
          </a:p>
          <a:p>
            <a:pPr marL="533400" indent="-533400" eaLnBrk="1" hangingPunct="1">
              <a:lnSpc>
                <a:spcPct val="80000"/>
              </a:lnSpc>
              <a:defRPr/>
            </a:pPr>
            <a:r>
              <a:rPr lang="tr-TR" sz="3200" dirty="0"/>
              <a:t>Vakit mi geçiriyor?</a:t>
            </a:r>
          </a:p>
          <a:p>
            <a:pPr marL="533400" indent="-533400" eaLnBrk="1" hangingPunct="1">
              <a:lnSpc>
                <a:spcPct val="80000"/>
              </a:lnSpc>
              <a:defRPr/>
            </a:pPr>
            <a:r>
              <a:rPr lang="tr-TR" sz="3200" dirty="0"/>
              <a:t>Değişim ne zaman ve nasıl olacak?</a:t>
            </a:r>
          </a:p>
          <a:p>
            <a:pPr marL="533400" indent="-533400" eaLnBrk="1" hangingPunct="1">
              <a:lnSpc>
                <a:spcPct val="80000"/>
              </a:lnSpc>
              <a:defRPr/>
            </a:pPr>
            <a:r>
              <a:rPr lang="tr-TR" sz="3200" dirty="0"/>
              <a:t>Bu saçmalıkları gelecekte nasıl kullanacağım?</a:t>
            </a:r>
          </a:p>
        </p:txBody>
      </p:sp>
    </p:spTree>
    <p:extLst>
      <p:ext uri="{BB962C8B-B14F-4D97-AF65-F5344CB8AC3E}">
        <p14:creationId xmlns:p14="http://schemas.microsoft.com/office/powerpoint/2010/main" val="299858961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rrowheads="1"/>
          </p:cNvSpPr>
          <p:nvPr>
            <p:ph type="title"/>
          </p:nvPr>
        </p:nvSpPr>
        <p:spPr/>
        <p:txBody>
          <a:bodyPr/>
          <a:lstStyle/>
          <a:p>
            <a:pPr algn="ctr" eaLnBrk="1" hangingPunct="1">
              <a:defRPr/>
            </a:pPr>
            <a:r>
              <a:rPr lang="tr-TR" u="sng"/>
              <a:t>İndirek telkin dezavantajları</a:t>
            </a:r>
          </a:p>
        </p:txBody>
      </p:sp>
      <p:pic>
        <p:nvPicPr>
          <p:cNvPr id="18436" name="Picture 4" descr="confusion"/>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a:xfrm>
            <a:off x="180888" y="1828800"/>
            <a:ext cx="4544210" cy="4800600"/>
          </a:xfrm>
          <a:noFill/>
          <a:extLst>
            <a:ext uri="{909E8E84-426E-40DD-AFC4-6F175D3DCCD1}">
              <a14:hiddenFill xmlns:a14="http://schemas.microsoft.com/office/drawing/2010/main">
                <a:solidFill>
                  <a:srgbClr val="FFFFFF"/>
                </a:solidFill>
              </a14:hiddenFill>
            </a:ext>
          </a:extLst>
        </p:spPr>
      </p:pic>
      <p:sp>
        <p:nvSpPr>
          <p:cNvPr id="22531" name="Rectangle 3"/>
          <p:cNvSpPr>
            <a:spLocks noGrp="1" noRot="1" noChangeArrowheads="1"/>
          </p:cNvSpPr>
          <p:nvPr>
            <p:ph type="body" sz="half" idx="2"/>
          </p:nvPr>
        </p:nvSpPr>
        <p:spPr>
          <a:xfrm>
            <a:off x="4916488" y="1905000"/>
            <a:ext cx="4075112" cy="4800600"/>
          </a:xfrm>
        </p:spPr>
        <p:txBody>
          <a:bodyPr>
            <a:normAutofit/>
          </a:bodyPr>
          <a:lstStyle/>
          <a:p>
            <a:pPr marL="533400" indent="-533400" eaLnBrk="1" hangingPunct="1">
              <a:lnSpc>
                <a:spcPct val="80000"/>
              </a:lnSpc>
              <a:defRPr/>
            </a:pPr>
            <a:r>
              <a:rPr lang="tr-TR" sz="2800" dirty="0"/>
              <a:t>Acaba sorunum anlaşıldı mı?</a:t>
            </a:r>
          </a:p>
          <a:p>
            <a:pPr marL="533400" indent="-533400" eaLnBrk="1" hangingPunct="1">
              <a:lnSpc>
                <a:spcPct val="80000"/>
              </a:lnSpc>
              <a:defRPr/>
            </a:pPr>
            <a:r>
              <a:rPr lang="tr-TR" sz="2800" dirty="0"/>
              <a:t>Bu hipnotist neler diyor?</a:t>
            </a:r>
          </a:p>
          <a:p>
            <a:pPr marL="533400" indent="-533400" eaLnBrk="1" hangingPunct="1">
              <a:lnSpc>
                <a:spcPct val="80000"/>
              </a:lnSpc>
              <a:defRPr/>
            </a:pPr>
            <a:r>
              <a:rPr lang="tr-TR" sz="2800" dirty="0"/>
              <a:t>beni manipüle etmeye mi çalışıyor?</a:t>
            </a:r>
          </a:p>
          <a:p>
            <a:pPr marL="533400" indent="-533400" eaLnBrk="1" hangingPunct="1">
              <a:lnSpc>
                <a:spcPct val="80000"/>
              </a:lnSpc>
              <a:defRPr/>
            </a:pPr>
            <a:r>
              <a:rPr lang="tr-TR" sz="2800" dirty="0"/>
              <a:t>Vakit mi geçiriyor?</a:t>
            </a:r>
          </a:p>
          <a:p>
            <a:pPr marL="533400" indent="-533400" eaLnBrk="1" hangingPunct="1">
              <a:lnSpc>
                <a:spcPct val="80000"/>
              </a:lnSpc>
              <a:defRPr/>
            </a:pPr>
            <a:r>
              <a:rPr lang="tr-TR" sz="2800" dirty="0"/>
              <a:t>Değişim ne zaman ve nasıl olacak?</a:t>
            </a:r>
          </a:p>
          <a:p>
            <a:pPr marL="533400" indent="-533400" eaLnBrk="1" hangingPunct="1">
              <a:lnSpc>
                <a:spcPct val="80000"/>
              </a:lnSpc>
              <a:defRPr/>
            </a:pPr>
            <a:r>
              <a:rPr lang="tr-TR" sz="2800" dirty="0"/>
              <a:t>Bu saçmalıkları gelecekte nasıl kullanacağım?</a:t>
            </a:r>
          </a:p>
        </p:txBody>
      </p:sp>
    </p:spTree>
    <p:extLst>
      <p:ext uri="{BB962C8B-B14F-4D97-AF65-F5344CB8AC3E}">
        <p14:creationId xmlns:p14="http://schemas.microsoft.com/office/powerpoint/2010/main" val="393231627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381000" y="4852988"/>
            <a:ext cx="8458200" cy="1222375"/>
          </a:xfrm>
        </p:spPr>
        <p:txBody>
          <a:bodyPr/>
          <a:lstStyle/>
          <a:p>
            <a:pPr eaLnBrk="1" fontAlgn="auto" hangingPunct="1">
              <a:spcAft>
                <a:spcPts val="0"/>
              </a:spcAft>
              <a:defRPr/>
            </a:pPr>
            <a:endParaRPr lang="tr-TR" dirty="0"/>
          </a:p>
        </p:txBody>
      </p:sp>
      <p:sp>
        <p:nvSpPr>
          <p:cNvPr id="3" name="2 Alt Başlık"/>
          <p:cNvSpPr>
            <a:spLocks noGrp="1"/>
          </p:cNvSpPr>
          <p:nvPr>
            <p:ph type="subTitle" idx="1"/>
          </p:nvPr>
        </p:nvSpPr>
        <p:spPr/>
        <p:txBody>
          <a:bodyPr>
            <a:normAutofit/>
          </a:bodyPr>
          <a:lstStyle/>
          <a:p>
            <a:pPr eaLnBrk="1" fontAlgn="auto" hangingPunct="1">
              <a:spcAft>
                <a:spcPts val="0"/>
              </a:spcAft>
              <a:buFont typeface="Wingdings 2"/>
              <a:buNone/>
              <a:defRPr/>
            </a:pPr>
            <a:endParaRPr lang="tr-TR"/>
          </a:p>
        </p:txBody>
      </p:sp>
      <p:pic>
        <p:nvPicPr>
          <p:cNvPr id="7172" name="3 Resim" descr="Yeni Microsoft Office PowerPoint Sunusu.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412573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533400" y="381000"/>
            <a:ext cx="8001000" cy="1905000"/>
          </a:xfrm>
        </p:spPr>
        <p:txBody>
          <a:bodyPr>
            <a:noAutofit/>
          </a:bodyPr>
          <a:lstStyle/>
          <a:p>
            <a:pPr algn="ctr" eaLnBrk="1" fontAlgn="auto" hangingPunct="1">
              <a:spcAft>
                <a:spcPts val="0"/>
              </a:spcAft>
              <a:defRPr/>
            </a:pPr>
            <a:r>
              <a:rPr lang="tr-TR" sz="3500" dirty="0"/>
              <a:t>BİR KİŞİDE HİPNOZ DURUMU OLUŞTURMAK İÇİN UYGULANAN YÖNTEME </a:t>
            </a:r>
            <a:br>
              <a:rPr lang="tr-TR" sz="3500" dirty="0"/>
            </a:br>
            <a:r>
              <a:rPr lang="tr-TR" sz="3500" dirty="0"/>
              <a:t>“</a:t>
            </a:r>
            <a:r>
              <a:rPr lang="tr-TR" sz="3500" b="1" dirty="0"/>
              <a:t>HİPNOZ İNDÜKSİYONU</a:t>
            </a:r>
            <a:r>
              <a:rPr lang="tr-TR" sz="3500" dirty="0"/>
              <a:t>” DENİR.</a:t>
            </a:r>
          </a:p>
        </p:txBody>
      </p:sp>
      <p:sp>
        <p:nvSpPr>
          <p:cNvPr id="3" name="2 İçerik Yer Tutucusu"/>
          <p:cNvSpPr>
            <a:spLocks noGrp="1"/>
          </p:cNvSpPr>
          <p:nvPr>
            <p:ph idx="1"/>
          </p:nvPr>
        </p:nvSpPr>
        <p:spPr>
          <a:xfrm>
            <a:off x="20782" y="3286124"/>
            <a:ext cx="4481945" cy="2886075"/>
          </a:xfrm>
        </p:spPr>
        <p:txBody>
          <a:bodyPr>
            <a:normAutofit/>
          </a:bodyPr>
          <a:lstStyle/>
          <a:p>
            <a:pPr eaLnBrk="1" fontAlgn="auto" hangingPunct="1">
              <a:spcAft>
                <a:spcPts val="0"/>
              </a:spcAft>
              <a:buFont typeface="Wingdings 2"/>
              <a:buNone/>
              <a:defRPr/>
            </a:pPr>
            <a:endParaRPr lang="tr-TR" dirty="0"/>
          </a:p>
          <a:p>
            <a:pPr algn="ctr" eaLnBrk="1" fontAlgn="auto" hangingPunct="1">
              <a:spcAft>
                <a:spcPts val="0"/>
              </a:spcAft>
              <a:buFont typeface="Wingdings 2"/>
              <a:buChar char=""/>
              <a:defRPr/>
            </a:pPr>
            <a:r>
              <a:rPr lang="tr-TR" b="1" dirty="0" err="1"/>
              <a:t>Dave</a:t>
            </a:r>
            <a:r>
              <a:rPr lang="tr-TR" b="1" dirty="0"/>
              <a:t> Elman Hipnoz İndüksiyonu,</a:t>
            </a:r>
          </a:p>
          <a:p>
            <a:pPr algn="ctr" eaLnBrk="1" fontAlgn="auto" hangingPunct="1">
              <a:spcAft>
                <a:spcPts val="0"/>
              </a:spcAft>
              <a:buFont typeface="Wingdings 2"/>
              <a:buChar char=""/>
              <a:defRPr/>
            </a:pPr>
            <a:r>
              <a:rPr lang="tr-TR" b="1" dirty="0"/>
              <a:t> bu yöntemlerden biridir.</a:t>
            </a:r>
          </a:p>
        </p:txBody>
      </p:sp>
      <p:pic>
        <p:nvPicPr>
          <p:cNvPr id="8196" name="3 Resim" descr="298x232-hypnosis_weigh_loss_drWeil-298x232_hypnosis_weigh_loss_drWeil.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76800" y="3286125"/>
            <a:ext cx="3929063"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929826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14282" y="500041"/>
            <a:ext cx="8686800" cy="1143021"/>
          </a:xfrm>
        </p:spPr>
        <p:txBody>
          <a:bodyPr>
            <a:normAutofit fontScale="90000"/>
          </a:bodyPr>
          <a:lstStyle/>
          <a:p>
            <a:pPr algn="ctr" eaLnBrk="1" fontAlgn="auto" hangingPunct="1">
              <a:spcAft>
                <a:spcPts val="0"/>
              </a:spcAft>
              <a:defRPr/>
            </a:pPr>
            <a:r>
              <a:rPr lang="tr-TR" dirty="0"/>
              <a:t>YÖNTEMİN </a:t>
            </a:r>
            <a:br>
              <a:rPr lang="tr-TR" dirty="0"/>
            </a:br>
            <a:r>
              <a:rPr lang="tr-TR" dirty="0"/>
              <a:t>ÜSTÜNLÜKLERİ</a:t>
            </a:r>
          </a:p>
        </p:txBody>
      </p:sp>
      <p:sp>
        <p:nvSpPr>
          <p:cNvPr id="3" name="2 İçerik Yer Tutucusu"/>
          <p:cNvSpPr>
            <a:spLocks noGrp="1"/>
          </p:cNvSpPr>
          <p:nvPr>
            <p:ph idx="1"/>
          </p:nvPr>
        </p:nvSpPr>
        <p:spPr>
          <a:xfrm>
            <a:off x="152400" y="1768475"/>
            <a:ext cx="8991600" cy="5089525"/>
          </a:xfrm>
        </p:spPr>
        <p:txBody>
          <a:bodyPr>
            <a:normAutofit fontScale="85000" lnSpcReduction="20000"/>
          </a:bodyPr>
          <a:lstStyle/>
          <a:p>
            <a:pPr eaLnBrk="1" fontAlgn="auto" hangingPunct="1">
              <a:spcAft>
                <a:spcPts val="0"/>
              </a:spcAft>
              <a:buClr>
                <a:srgbClr val="9900CC"/>
              </a:buClr>
              <a:buFont typeface="Wingdings 2"/>
              <a:buChar char=""/>
              <a:defRPr/>
            </a:pPr>
            <a:r>
              <a:rPr lang="tr-TR" sz="3000" dirty="0"/>
              <a:t>Başlangıç aşamasında, kademe kademe ne oluşturduğumuzu bildiğimiz bir indüksiyon yöntemi kullanmak yararlıdır. </a:t>
            </a:r>
          </a:p>
          <a:p>
            <a:pPr eaLnBrk="1" fontAlgn="auto" hangingPunct="1">
              <a:spcAft>
                <a:spcPts val="0"/>
              </a:spcAft>
              <a:buClr>
                <a:srgbClr val="9900CC"/>
              </a:buClr>
              <a:buFont typeface="Wingdings 2"/>
              <a:buNone/>
              <a:defRPr/>
            </a:pPr>
            <a:endParaRPr lang="tr-TR" sz="3000" dirty="0"/>
          </a:p>
          <a:p>
            <a:pPr eaLnBrk="1" fontAlgn="auto" hangingPunct="1">
              <a:spcAft>
                <a:spcPts val="0"/>
              </a:spcAft>
              <a:buClr>
                <a:srgbClr val="9900CC"/>
              </a:buClr>
              <a:buFont typeface="Wingdings 2"/>
              <a:buChar char=""/>
              <a:defRPr/>
            </a:pPr>
            <a:r>
              <a:rPr lang="tr-TR" sz="3000" dirty="0"/>
              <a:t>Standart bir kalıbı olan bir yöntemdir</a:t>
            </a:r>
          </a:p>
          <a:p>
            <a:pPr eaLnBrk="1" fontAlgn="auto" hangingPunct="1">
              <a:spcAft>
                <a:spcPts val="0"/>
              </a:spcAft>
              <a:buClr>
                <a:srgbClr val="9900CC"/>
              </a:buClr>
              <a:buFont typeface="Wingdings 2"/>
              <a:buChar char=""/>
              <a:defRPr/>
            </a:pPr>
            <a:endParaRPr lang="tr-TR" sz="3000" dirty="0"/>
          </a:p>
          <a:p>
            <a:pPr eaLnBrk="1" fontAlgn="auto" hangingPunct="1">
              <a:spcAft>
                <a:spcPts val="0"/>
              </a:spcAft>
              <a:buClr>
                <a:srgbClr val="9900CC"/>
              </a:buClr>
              <a:buFont typeface="Wingdings 2"/>
              <a:buChar char=""/>
              <a:defRPr/>
            </a:pPr>
            <a:r>
              <a:rPr lang="tr-TR" sz="3000" dirty="0"/>
              <a:t>Hipnozu rahat ve kolay yapabilmek için, başlangıç aşamasında en uygun yöntemdir.</a:t>
            </a:r>
          </a:p>
          <a:p>
            <a:pPr eaLnBrk="1" fontAlgn="auto" hangingPunct="1">
              <a:spcAft>
                <a:spcPts val="0"/>
              </a:spcAft>
              <a:buClr>
                <a:srgbClr val="9900CC"/>
              </a:buClr>
              <a:buFont typeface="Wingdings 2"/>
              <a:buNone/>
              <a:defRPr/>
            </a:pPr>
            <a:endParaRPr lang="tr-TR" sz="3000" dirty="0"/>
          </a:p>
          <a:p>
            <a:pPr eaLnBrk="1" fontAlgn="auto" hangingPunct="1">
              <a:spcAft>
                <a:spcPts val="0"/>
              </a:spcAft>
              <a:buClr>
                <a:srgbClr val="9900CC"/>
              </a:buClr>
              <a:buFont typeface="Wingdings 2"/>
              <a:buChar char=""/>
              <a:defRPr/>
            </a:pPr>
            <a:r>
              <a:rPr lang="tr-TR" sz="3000" dirty="0"/>
              <a:t>Yeni öğrenenler için, Hipnozu anlamak ve uygulamak açısından da yararlıdır.</a:t>
            </a:r>
          </a:p>
          <a:p>
            <a:pPr eaLnBrk="1" fontAlgn="auto" hangingPunct="1">
              <a:spcAft>
                <a:spcPts val="0"/>
              </a:spcAft>
              <a:buClr>
                <a:srgbClr val="9900CC"/>
              </a:buClr>
              <a:buFont typeface="Wingdings 2"/>
              <a:buNone/>
              <a:defRPr/>
            </a:pPr>
            <a:endParaRPr lang="tr-TR" sz="3000" dirty="0"/>
          </a:p>
          <a:p>
            <a:pPr eaLnBrk="1" fontAlgn="auto" hangingPunct="1">
              <a:spcAft>
                <a:spcPts val="0"/>
              </a:spcAft>
              <a:buClr>
                <a:srgbClr val="9900CC"/>
              </a:buClr>
              <a:buFont typeface="Wingdings 2"/>
              <a:buChar char=""/>
              <a:defRPr/>
            </a:pPr>
            <a:r>
              <a:rPr lang="tr-TR" sz="3000" dirty="0"/>
              <a:t>Herkese uygulanabilecek esnetilebilecek, gruplarda uygulanabilecek bir özelliği vardır</a:t>
            </a:r>
          </a:p>
          <a:p>
            <a:pPr eaLnBrk="1" fontAlgn="auto" hangingPunct="1">
              <a:spcAft>
                <a:spcPts val="0"/>
              </a:spcAft>
              <a:buFont typeface="Wingdings 2"/>
              <a:buChar char=""/>
              <a:defRPr/>
            </a:pPr>
            <a:endParaRPr lang="tr-TR" dirty="0"/>
          </a:p>
        </p:txBody>
      </p:sp>
      <p:pic>
        <p:nvPicPr>
          <p:cNvPr id="9220" name="3 Resim" descr="adsız 1.bmp"/>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857375" cy="164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4 Resim" descr="adsız 1.bmp"/>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86625" y="0"/>
            <a:ext cx="1857375" cy="164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019423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646426" y="-20782"/>
            <a:ext cx="7204835" cy="1785950"/>
          </a:xfrm>
        </p:spPr>
        <p:txBody>
          <a:bodyPr/>
          <a:lstStyle/>
          <a:p>
            <a:pPr algn="ctr" eaLnBrk="1" fontAlgn="auto" hangingPunct="1">
              <a:spcAft>
                <a:spcPts val="0"/>
              </a:spcAft>
              <a:defRPr/>
            </a:pPr>
            <a:r>
              <a:rPr lang="tr-TR" sz="4500" dirty="0">
                <a:solidFill>
                  <a:srgbClr val="FF0000"/>
                </a:solidFill>
              </a:rPr>
              <a:t>Dave Elman kimdir?</a:t>
            </a:r>
          </a:p>
        </p:txBody>
      </p:sp>
      <p:sp>
        <p:nvSpPr>
          <p:cNvPr id="3" name="2 İçerik Yer Tutucusu"/>
          <p:cNvSpPr>
            <a:spLocks noGrp="1"/>
          </p:cNvSpPr>
          <p:nvPr>
            <p:ph idx="1"/>
          </p:nvPr>
        </p:nvSpPr>
        <p:spPr>
          <a:xfrm>
            <a:off x="1" y="2286001"/>
            <a:ext cx="9001124" cy="4572000"/>
          </a:xfrm>
        </p:spPr>
        <p:txBody>
          <a:bodyPr>
            <a:normAutofit fontScale="92500" lnSpcReduction="20000"/>
          </a:bodyPr>
          <a:lstStyle/>
          <a:p>
            <a:pPr eaLnBrk="1" fontAlgn="auto" hangingPunct="1">
              <a:spcAft>
                <a:spcPts val="0"/>
              </a:spcAft>
              <a:buClr>
                <a:schemeClr val="tx1"/>
              </a:buClr>
              <a:buFont typeface="Wingdings 2"/>
              <a:buChar char=""/>
              <a:defRPr/>
            </a:pPr>
            <a:r>
              <a:rPr lang="tr-TR" dirty="0" err="1"/>
              <a:t>Dave</a:t>
            </a:r>
            <a:r>
              <a:rPr lang="tr-TR" dirty="0"/>
              <a:t> Elman, aslında bir müzisyendir. </a:t>
            </a:r>
          </a:p>
          <a:p>
            <a:pPr eaLnBrk="1" fontAlgn="auto" hangingPunct="1">
              <a:spcAft>
                <a:spcPts val="0"/>
              </a:spcAft>
              <a:buClr>
                <a:schemeClr val="tx1"/>
              </a:buClr>
              <a:buFont typeface="Wingdings 2"/>
              <a:buChar char=""/>
              <a:defRPr/>
            </a:pPr>
            <a:r>
              <a:rPr lang="tr-TR" dirty="0"/>
              <a:t>Çocukluğunda kanser olan babasının ağrılarını geçiren bir </a:t>
            </a:r>
            <a:r>
              <a:rPr lang="tr-TR" dirty="0" err="1"/>
              <a:t>hipnoterapistten</a:t>
            </a:r>
            <a:r>
              <a:rPr lang="tr-TR" dirty="0"/>
              <a:t> çok etkilenmiştir.</a:t>
            </a:r>
          </a:p>
          <a:p>
            <a:pPr eaLnBrk="1" fontAlgn="auto" hangingPunct="1">
              <a:spcAft>
                <a:spcPts val="0"/>
              </a:spcAft>
              <a:buClr>
                <a:schemeClr val="tx1"/>
              </a:buClr>
              <a:buFont typeface="Wingdings 2"/>
              <a:buChar char=""/>
              <a:defRPr/>
            </a:pPr>
            <a:r>
              <a:rPr lang="tr-TR" dirty="0"/>
              <a:t>Özellikle tıp alanında kişilere hipnozu hızlı ve etkin kullanma yöntemlerini öğretmiştir.</a:t>
            </a:r>
          </a:p>
          <a:p>
            <a:pPr eaLnBrk="1" fontAlgn="auto" hangingPunct="1">
              <a:spcAft>
                <a:spcPts val="0"/>
              </a:spcAft>
              <a:buClr>
                <a:schemeClr val="tx1"/>
              </a:buClr>
              <a:buFont typeface="Wingdings 2"/>
              <a:buChar char=""/>
              <a:defRPr/>
            </a:pPr>
            <a:r>
              <a:rPr lang="tr-TR" dirty="0" err="1"/>
              <a:t>Dave</a:t>
            </a:r>
            <a:r>
              <a:rPr lang="tr-TR" dirty="0"/>
              <a:t> Elman Hipnoz dünyasını büyük katkısı olmuş bir hipnoterapist</a:t>
            </a:r>
          </a:p>
          <a:p>
            <a:pPr eaLnBrk="1" fontAlgn="auto" hangingPunct="1">
              <a:spcAft>
                <a:spcPts val="0"/>
              </a:spcAft>
              <a:buClr>
                <a:schemeClr val="tx1"/>
              </a:buClr>
              <a:buFont typeface="Wingdings 2"/>
              <a:buChar char=""/>
              <a:defRPr/>
            </a:pPr>
            <a:r>
              <a:rPr lang="tr-TR" dirty="0"/>
              <a:t>Klasik haline gelen “hipnoterapi” kitabının yazarıdır</a:t>
            </a:r>
          </a:p>
          <a:p>
            <a:pPr eaLnBrk="1" fontAlgn="auto" hangingPunct="1">
              <a:spcAft>
                <a:spcPts val="0"/>
              </a:spcAft>
              <a:buClr>
                <a:schemeClr val="tx1"/>
              </a:buClr>
              <a:buFont typeface="Wingdings 2"/>
              <a:buChar char=""/>
              <a:defRPr/>
            </a:pPr>
            <a:r>
              <a:rPr lang="tr-TR" dirty="0"/>
              <a:t>Onun hipnoz indüksiyon yöntemi hala, hiçbir şekilde değiştirilmeden kullanılmaktadır</a:t>
            </a:r>
          </a:p>
        </p:txBody>
      </p:sp>
      <p:pic>
        <p:nvPicPr>
          <p:cNvPr id="4" name="3 Resim" descr="dave.gif"/>
          <p:cNvPicPr>
            <a:picLocks noChangeAspect="1"/>
          </p:cNvPicPr>
          <p:nvPr/>
        </p:nvPicPr>
        <p:blipFill>
          <a:blip r:embed="rId2" cstate="print">
            <a:duotone>
              <a:prstClr val="black"/>
              <a:schemeClr val="accent6">
                <a:tint val="45000"/>
                <a:satMod val="400000"/>
              </a:schemeClr>
            </a:duotone>
          </a:blip>
          <a:stretch>
            <a:fillRect/>
          </a:stretch>
        </p:blipFill>
        <p:spPr>
          <a:xfrm>
            <a:off x="6846918" y="-20782"/>
            <a:ext cx="2082799" cy="2840182"/>
          </a:xfrm>
          <a:prstGeom prst="rect">
            <a:avLst/>
          </a:prstGeom>
        </p:spPr>
      </p:pic>
    </p:spTree>
    <p:extLst>
      <p:ext uri="{BB962C8B-B14F-4D97-AF65-F5344CB8AC3E}">
        <p14:creationId xmlns:p14="http://schemas.microsoft.com/office/powerpoint/2010/main" val="292420261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flipV="1">
            <a:off x="990600" y="228600"/>
            <a:ext cx="7981920" cy="57128"/>
          </a:xfrm>
        </p:spPr>
        <p:txBody>
          <a:bodyPr>
            <a:normAutofit fontScale="90000"/>
          </a:bodyPr>
          <a:lstStyle/>
          <a:p>
            <a:pPr algn="ctr" eaLnBrk="1" fontAlgn="auto" hangingPunct="1">
              <a:spcAft>
                <a:spcPts val="0"/>
              </a:spcAft>
              <a:defRPr/>
            </a:pPr>
            <a:endParaRPr lang="tr-TR" cap="small" dirty="0"/>
          </a:p>
        </p:txBody>
      </p:sp>
      <p:sp>
        <p:nvSpPr>
          <p:cNvPr id="11267" name="2 İçerik Yer Tutucusu"/>
          <p:cNvSpPr>
            <a:spLocks noGrp="1"/>
          </p:cNvSpPr>
          <p:nvPr>
            <p:ph idx="1"/>
          </p:nvPr>
        </p:nvSpPr>
        <p:spPr>
          <a:xfrm>
            <a:off x="152399" y="685800"/>
            <a:ext cx="5991225" cy="5867400"/>
          </a:xfrm>
        </p:spPr>
        <p:txBody>
          <a:bodyPr>
            <a:normAutofit lnSpcReduction="10000"/>
          </a:bodyPr>
          <a:lstStyle/>
          <a:p>
            <a:r>
              <a:rPr lang="tr-TR" cap="all" dirty="0"/>
              <a:t>Dave Elman </a:t>
            </a:r>
            <a:r>
              <a:rPr lang="tr-TR" cap="small" dirty="0"/>
              <a:t>HİPNOZ İNDÜKSİYONU</a:t>
            </a:r>
            <a:br>
              <a:rPr lang="tr-TR" cap="small" dirty="0"/>
            </a:br>
            <a:r>
              <a:rPr lang="tr-TR" cap="small" dirty="0"/>
              <a:t>HIZLI İNDÜKSİYONLAR SINIFINDA YER ALIR</a:t>
            </a:r>
          </a:p>
          <a:p>
            <a:r>
              <a:rPr lang="tr-TR" dirty="0"/>
              <a:t>Şok indüksiyonlar diyebileceğimiz, anında hipnoz yapan yöntemler vardır. </a:t>
            </a:r>
          </a:p>
          <a:p>
            <a:r>
              <a:rPr lang="tr-TR" dirty="0"/>
              <a:t>Ama bunlar herkeste işlemeyebilir.</a:t>
            </a:r>
          </a:p>
          <a:p>
            <a:pPr eaLnBrk="1" hangingPunct="1">
              <a:buClrTx/>
            </a:pPr>
            <a:r>
              <a:rPr lang="tr-TR" dirty="0"/>
              <a:t>Çok yavaş yöntemler vardır. Bunlar da gevşeme indüksiyonu olarak kabul edilir.</a:t>
            </a:r>
          </a:p>
          <a:p>
            <a:pPr eaLnBrk="1" hangingPunct="1"/>
            <a:endParaRPr lang="tr-TR" dirty="0"/>
          </a:p>
        </p:txBody>
      </p:sp>
      <p:pic>
        <p:nvPicPr>
          <p:cNvPr id="11268" name="4 Resim" descr="movhypnosis.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43625" y="1981200"/>
            <a:ext cx="3000375"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447827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914400" y="228600"/>
            <a:ext cx="7858180" cy="838200"/>
          </a:xfrm>
        </p:spPr>
        <p:txBody>
          <a:bodyPr/>
          <a:lstStyle/>
          <a:p>
            <a:pPr eaLnBrk="1" fontAlgn="auto" hangingPunct="1">
              <a:spcAft>
                <a:spcPts val="0"/>
              </a:spcAft>
              <a:defRPr/>
            </a:pPr>
            <a:r>
              <a:rPr lang="tr-TR" dirty="0">
                <a:solidFill>
                  <a:srgbClr val="FF0000"/>
                </a:solidFill>
              </a:rPr>
              <a:t>HİPNOZA HAZIRLIK </a:t>
            </a:r>
          </a:p>
        </p:txBody>
      </p:sp>
      <p:sp>
        <p:nvSpPr>
          <p:cNvPr id="12291" name="2 İçerik Yer Tutucusu"/>
          <p:cNvSpPr>
            <a:spLocks noGrp="1"/>
          </p:cNvSpPr>
          <p:nvPr>
            <p:ph idx="1"/>
          </p:nvPr>
        </p:nvSpPr>
        <p:spPr>
          <a:xfrm>
            <a:off x="457200" y="2332038"/>
            <a:ext cx="8686800" cy="4525962"/>
          </a:xfrm>
        </p:spPr>
        <p:txBody>
          <a:bodyPr/>
          <a:lstStyle/>
          <a:p>
            <a:pPr eaLnBrk="1" hangingPunct="1">
              <a:buClrTx/>
              <a:buFont typeface="Wingdings" pitchFamily="2" charset="2"/>
              <a:buChar char="Ø"/>
            </a:pPr>
            <a:r>
              <a:rPr lang="tr-TR"/>
              <a:t>Bilinç ve bilinçaltı nedir?</a:t>
            </a:r>
          </a:p>
          <a:p>
            <a:pPr eaLnBrk="1" hangingPunct="1">
              <a:buClrTx/>
              <a:buFont typeface="Wingdings" pitchFamily="2" charset="2"/>
              <a:buChar char="Ø"/>
            </a:pPr>
            <a:r>
              <a:rPr lang="tr-TR"/>
              <a:t>Hipnoz nedir? </a:t>
            </a:r>
          </a:p>
          <a:p>
            <a:pPr eaLnBrk="1" hangingPunct="1">
              <a:buClrTx/>
              <a:buFont typeface="Wingdings" pitchFamily="2" charset="2"/>
              <a:buChar char="Ø"/>
            </a:pPr>
            <a:r>
              <a:rPr lang="tr-TR"/>
              <a:t>Bir kişi hipnozda olduğuna nasıl ikna olur?</a:t>
            </a:r>
          </a:p>
          <a:p>
            <a:pPr eaLnBrk="1" hangingPunct="1">
              <a:buClrTx/>
              <a:buFont typeface="Wingdings" pitchFamily="2" charset="2"/>
              <a:buChar char="Ø"/>
            </a:pPr>
            <a:r>
              <a:rPr lang="tr-TR"/>
              <a:t>Derin hipnozun belirtileri nelerdir?</a:t>
            </a:r>
          </a:p>
          <a:p>
            <a:pPr eaLnBrk="1" hangingPunct="1">
              <a:buClrTx/>
              <a:buFont typeface="Wingdings" pitchFamily="2" charset="2"/>
              <a:buChar char="Ø"/>
            </a:pPr>
            <a:r>
              <a:rPr lang="tr-TR"/>
              <a:t>Dave Elman yöntemi nedir ve nasıl uygulanır?</a:t>
            </a:r>
          </a:p>
          <a:p>
            <a:pPr eaLnBrk="1" hangingPunct="1">
              <a:buClrTx/>
              <a:buFont typeface="Wingdings" pitchFamily="2" charset="2"/>
              <a:buChar char="Ø"/>
            </a:pPr>
            <a:r>
              <a:rPr lang="tr-TR"/>
              <a:t>Dave Elman yönteminde sujeden beklenenler nelerdir?</a:t>
            </a:r>
          </a:p>
          <a:p>
            <a:pPr eaLnBrk="1" hangingPunct="1">
              <a:buClrTx/>
              <a:buFont typeface="Wingdings 2" pitchFamily="18" charset="2"/>
              <a:buNone/>
            </a:pPr>
            <a:endParaRPr lang="tr-TR"/>
          </a:p>
          <a:p>
            <a:pPr eaLnBrk="1" hangingPunct="1"/>
            <a:endParaRPr lang="tr-TR"/>
          </a:p>
        </p:txBody>
      </p:sp>
      <p:pic>
        <p:nvPicPr>
          <p:cNvPr id="12292" name="4 Resim" descr="swirl.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43563" y="0"/>
            <a:ext cx="3500437" cy="311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999597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142875" y="274638"/>
            <a:ext cx="8924925" cy="1143000"/>
          </a:xfrm>
        </p:spPr>
        <p:txBody>
          <a:bodyPr>
            <a:normAutofit fontScale="90000"/>
          </a:bodyPr>
          <a:lstStyle/>
          <a:p>
            <a:pPr algn="ctr" eaLnBrk="1" fontAlgn="auto" hangingPunct="1">
              <a:spcAft>
                <a:spcPts val="0"/>
              </a:spcAft>
              <a:defRPr/>
            </a:pPr>
            <a:r>
              <a:rPr lang="tr-TR" dirty="0"/>
              <a:t>DAVE ELMAN HİPNOZ İNDÜKSİYONUNUN BÖLÜMLERİ VE AŞAMALARI</a:t>
            </a:r>
          </a:p>
        </p:txBody>
      </p:sp>
      <p:sp>
        <p:nvSpPr>
          <p:cNvPr id="3" name="2 İçerik Yer Tutucusu"/>
          <p:cNvSpPr>
            <a:spLocks noGrp="1"/>
          </p:cNvSpPr>
          <p:nvPr>
            <p:ph idx="1"/>
          </p:nvPr>
        </p:nvSpPr>
        <p:spPr>
          <a:xfrm>
            <a:off x="2357438" y="1500188"/>
            <a:ext cx="6786562" cy="4357687"/>
          </a:xfrm>
        </p:spPr>
        <p:txBody>
          <a:bodyPr>
            <a:normAutofit fontScale="92500"/>
          </a:bodyPr>
          <a:lstStyle/>
          <a:p>
            <a:pPr marL="514350" indent="-514350" eaLnBrk="1" fontAlgn="auto" hangingPunct="1">
              <a:spcAft>
                <a:spcPts val="0"/>
              </a:spcAft>
              <a:buClrTx/>
              <a:buFont typeface="Wingdings 2"/>
              <a:buNone/>
              <a:defRPr/>
            </a:pPr>
            <a:r>
              <a:rPr lang="tr-TR" sz="3000" dirty="0"/>
              <a:t>1. Gözlerin kapatılması</a:t>
            </a:r>
          </a:p>
          <a:p>
            <a:pPr marL="514350" indent="-514350" eaLnBrk="1" fontAlgn="auto" hangingPunct="1">
              <a:spcAft>
                <a:spcPts val="0"/>
              </a:spcAft>
              <a:buClrTx/>
              <a:buFont typeface="Wingdings 2"/>
              <a:buNone/>
              <a:defRPr/>
            </a:pPr>
            <a:r>
              <a:rPr lang="tr-TR" sz="3000" dirty="0"/>
              <a:t>2. Zihnin Kritik faktörünün </a:t>
            </a:r>
            <a:r>
              <a:rPr lang="tr-TR" sz="3000" dirty="0" err="1"/>
              <a:t>by</a:t>
            </a:r>
            <a:r>
              <a:rPr lang="tr-TR" sz="3000" dirty="0"/>
              <a:t>-</a:t>
            </a:r>
            <a:r>
              <a:rPr lang="tr-TR" sz="3000" dirty="0" err="1"/>
              <a:t>pass</a:t>
            </a:r>
            <a:r>
              <a:rPr lang="tr-TR" sz="3000" dirty="0"/>
              <a:t> edilmesi</a:t>
            </a:r>
          </a:p>
          <a:p>
            <a:pPr marL="514350" indent="-514350" eaLnBrk="1" fontAlgn="auto" hangingPunct="1">
              <a:spcAft>
                <a:spcPts val="0"/>
              </a:spcAft>
              <a:buClrTx/>
              <a:buFont typeface="Wingdings 2"/>
              <a:buNone/>
              <a:defRPr/>
            </a:pPr>
            <a:r>
              <a:rPr lang="tr-TR" sz="3000" dirty="0"/>
              <a:t>3. Bedensel gevşekliğin derinleştirilmesi</a:t>
            </a:r>
          </a:p>
          <a:p>
            <a:pPr marL="514350" indent="-514350" eaLnBrk="1" fontAlgn="auto" hangingPunct="1">
              <a:spcAft>
                <a:spcPts val="0"/>
              </a:spcAft>
              <a:buClrTx/>
              <a:buFont typeface="Wingdings 2"/>
              <a:buNone/>
              <a:defRPr/>
            </a:pPr>
            <a:r>
              <a:rPr lang="tr-TR" sz="3000" dirty="0"/>
              <a:t>4. Bedensel gevşekliğin test edilmesi</a:t>
            </a:r>
          </a:p>
          <a:p>
            <a:pPr marL="514350" indent="-514350" eaLnBrk="1" fontAlgn="auto" hangingPunct="1">
              <a:spcAft>
                <a:spcPts val="0"/>
              </a:spcAft>
              <a:buClrTx/>
              <a:buFont typeface="Wingdings 2"/>
              <a:buNone/>
              <a:defRPr/>
            </a:pPr>
            <a:r>
              <a:rPr lang="tr-TR" sz="3000" dirty="0"/>
              <a:t>5. Zihinsel gevşekliğin sağlanması</a:t>
            </a:r>
          </a:p>
          <a:p>
            <a:pPr marL="514350" indent="-514350" eaLnBrk="1" fontAlgn="auto" hangingPunct="1">
              <a:spcAft>
                <a:spcPts val="0"/>
              </a:spcAft>
              <a:buClrTx/>
              <a:buFont typeface="Wingdings 2"/>
              <a:buNone/>
              <a:defRPr/>
            </a:pPr>
            <a:r>
              <a:rPr lang="tr-TR" sz="3000" dirty="0"/>
              <a:t>6. Zihinsel gevşekliğin derinleştirilmesi</a:t>
            </a:r>
          </a:p>
          <a:p>
            <a:pPr marL="514350" indent="-514350" eaLnBrk="1" fontAlgn="auto" hangingPunct="1">
              <a:spcAft>
                <a:spcPts val="0"/>
              </a:spcAft>
              <a:buClrTx/>
              <a:buFont typeface="Wingdings 2"/>
              <a:buNone/>
              <a:defRPr/>
            </a:pPr>
            <a:r>
              <a:rPr lang="tr-TR" sz="3000" dirty="0"/>
              <a:t>7. Gizli derinlik testinin uygulanması</a:t>
            </a:r>
          </a:p>
          <a:p>
            <a:pPr marL="514350" indent="-514350" eaLnBrk="1" fontAlgn="auto" hangingPunct="1">
              <a:spcAft>
                <a:spcPts val="0"/>
              </a:spcAft>
              <a:buClrTx/>
              <a:buFont typeface="Wingdings 2"/>
              <a:buNone/>
              <a:defRPr/>
            </a:pPr>
            <a:r>
              <a:rPr lang="tr-TR" sz="3000" dirty="0"/>
              <a:t>8. </a:t>
            </a:r>
            <a:r>
              <a:rPr lang="tr-TR" sz="3000" dirty="0" err="1"/>
              <a:t>Sujenin</a:t>
            </a:r>
            <a:r>
              <a:rPr lang="tr-TR" sz="3000" dirty="0"/>
              <a:t> hipnozda olduğuna ikna edilmesi</a:t>
            </a:r>
          </a:p>
          <a:p>
            <a:pPr eaLnBrk="1" fontAlgn="auto" hangingPunct="1">
              <a:spcAft>
                <a:spcPts val="0"/>
              </a:spcAft>
              <a:buFont typeface="Wingdings 2"/>
              <a:buChar char=""/>
              <a:defRPr/>
            </a:pPr>
            <a:endParaRPr lang="tr-TR" dirty="0"/>
          </a:p>
        </p:txBody>
      </p:sp>
      <p:cxnSp>
        <p:nvCxnSpPr>
          <p:cNvPr id="5" name="4 Düz Bağlayıcı"/>
          <p:cNvCxnSpPr/>
          <p:nvPr/>
        </p:nvCxnSpPr>
        <p:spPr>
          <a:xfrm>
            <a:off x="0" y="3500438"/>
            <a:ext cx="9144000" cy="1587"/>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6 Düz Bağlayıcı"/>
          <p:cNvCxnSpPr/>
          <p:nvPr/>
        </p:nvCxnSpPr>
        <p:spPr>
          <a:xfrm>
            <a:off x="0" y="4572000"/>
            <a:ext cx="9144000" cy="1588"/>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7 Düz Bağlayıcı"/>
          <p:cNvCxnSpPr/>
          <p:nvPr/>
        </p:nvCxnSpPr>
        <p:spPr>
          <a:xfrm>
            <a:off x="0" y="5643563"/>
            <a:ext cx="9144000" cy="1587"/>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8 Düz Bağlayıcı"/>
          <p:cNvCxnSpPr/>
          <p:nvPr/>
        </p:nvCxnSpPr>
        <p:spPr>
          <a:xfrm>
            <a:off x="0" y="1500188"/>
            <a:ext cx="9144000" cy="1587"/>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sp>
        <p:nvSpPr>
          <p:cNvPr id="13320" name="9 Metin kutusu"/>
          <p:cNvSpPr txBox="1">
            <a:spLocks noChangeArrowheads="1"/>
          </p:cNvSpPr>
          <p:nvPr/>
        </p:nvSpPr>
        <p:spPr bwMode="auto">
          <a:xfrm>
            <a:off x="-27044" y="2226253"/>
            <a:ext cx="229601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tr-TR" sz="2000" b="1" dirty="0">
                <a:solidFill>
                  <a:prstClr val="black"/>
                </a:solidFill>
                <a:latin typeface="Franklin Gothic Book" pitchFamily="34" charset="0"/>
              </a:rPr>
              <a:t>Bedensel Gevşeklik</a:t>
            </a:r>
          </a:p>
          <a:p>
            <a:pPr algn="ctr" eaLnBrk="1" hangingPunct="1"/>
            <a:r>
              <a:rPr lang="tr-TR" sz="2000" b="1" dirty="0">
                <a:solidFill>
                  <a:prstClr val="black"/>
                </a:solidFill>
                <a:latin typeface="Franklin Gothic Book" pitchFamily="34" charset="0"/>
              </a:rPr>
              <a:t>   ve derinleştirme</a:t>
            </a:r>
          </a:p>
        </p:txBody>
      </p:sp>
      <p:sp>
        <p:nvSpPr>
          <p:cNvPr id="13321" name="10 Metin kutusu"/>
          <p:cNvSpPr txBox="1">
            <a:spLocks noChangeArrowheads="1"/>
          </p:cNvSpPr>
          <p:nvPr/>
        </p:nvSpPr>
        <p:spPr bwMode="auto">
          <a:xfrm>
            <a:off x="214313" y="3357563"/>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tr-TR">
              <a:solidFill>
                <a:prstClr val="black"/>
              </a:solidFill>
              <a:latin typeface="Franklin Gothic Book" pitchFamily="34" charset="0"/>
            </a:endParaRPr>
          </a:p>
        </p:txBody>
      </p:sp>
      <p:sp>
        <p:nvSpPr>
          <p:cNvPr id="13322" name="11 Metin kutusu"/>
          <p:cNvSpPr txBox="1">
            <a:spLocks noChangeArrowheads="1"/>
          </p:cNvSpPr>
          <p:nvPr/>
        </p:nvSpPr>
        <p:spPr bwMode="auto">
          <a:xfrm>
            <a:off x="285750" y="4214813"/>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tr-TR">
              <a:solidFill>
                <a:prstClr val="black"/>
              </a:solidFill>
              <a:latin typeface="Franklin Gothic Book" pitchFamily="34" charset="0"/>
            </a:endParaRPr>
          </a:p>
        </p:txBody>
      </p:sp>
      <p:sp>
        <p:nvSpPr>
          <p:cNvPr id="13323" name="12 Metin kutusu"/>
          <p:cNvSpPr txBox="1">
            <a:spLocks noChangeArrowheads="1"/>
          </p:cNvSpPr>
          <p:nvPr/>
        </p:nvSpPr>
        <p:spPr bwMode="auto">
          <a:xfrm>
            <a:off x="285750" y="4929188"/>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tr-TR">
              <a:solidFill>
                <a:prstClr val="black"/>
              </a:solidFill>
              <a:latin typeface="Franklin Gothic Book" pitchFamily="34" charset="0"/>
            </a:endParaRPr>
          </a:p>
        </p:txBody>
      </p:sp>
      <p:cxnSp>
        <p:nvCxnSpPr>
          <p:cNvPr id="15" name="14 Düz Bağlayıcı"/>
          <p:cNvCxnSpPr/>
          <p:nvPr/>
        </p:nvCxnSpPr>
        <p:spPr>
          <a:xfrm rot="5400000" flipH="1" flipV="1">
            <a:off x="215106" y="3571082"/>
            <a:ext cx="4143375" cy="1588"/>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sp>
        <p:nvSpPr>
          <p:cNvPr id="13325" name="18 Metin kutusu"/>
          <p:cNvSpPr txBox="1">
            <a:spLocks noChangeArrowheads="1"/>
          </p:cNvSpPr>
          <p:nvPr/>
        </p:nvSpPr>
        <p:spPr bwMode="auto">
          <a:xfrm>
            <a:off x="142875" y="3714750"/>
            <a:ext cx="212609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tr-TR" sz="2000" b="1" dirty="0">
                <a:solidFill>
                  <a:prstClr val="black"/>
                </a:solidFill>
                <a:latin typeface="Franklin Gothic Book" pitchFamily="34" charset="0"/>
              </a:rPr>
              <a:t>Zihinsel Gevşeklik</a:t>
            </a:r>
          </a:p>
          <a:p>
            <a:pPr eaLnBrk="1" hangingPunct="1"/>
            <a:r>
              <a:rPr lang="tr-TR" sz="2000" b="1" dirty="0">
                <a:solidFill>
                  <a:prstClr val="black"/>
                </a:solidFill>
                <a:latin typeface="Franklin Gothic Book" pitchFamily="34" charset="0"/>
              </a:rPr>
              <a:t>ve derinleştirme</a:t>
            </a:r>
          </a:p>
        </p:txBody>
      </p:sp>
      <p:sp>
        <p:nvSpPr>
          <p:cNvPr id="13326" name="19 Metin kutusu"/>
          <p:cNvSpPr txBox="1">
            <a:spLocks noChangeArrowheads="1"/>
          </p:cNvSpPr>
          <p:nvPr/>
        </p:nvSpPr>
        <p:spPr bwMode="auto">
          <a:xfrm>
            <a:off x="398463" y="4857749"/>
            <a:ext cx="12017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tr-TR" sz="3600" dirty="0">
                <a:solidFill>
                  <a:prstClr val="black"/>
                </a:solidFill>
                <a:latin typeface="Franklin Gothic Book" pitchFamily="34" charset="0"/>
              </a:rPr>
              <a:t>İkna</a:t>
            </a:r>
            <a:r>
              <a:rPr lang="tr-TR" dirty="0">
                <a:solidFill>
                  <a:prstClr val="black"/>
                </a:solidFill>
                <a:latin typeface="Franklin Gothic Book" pitchFamily="34" charset="0"/>
              </a:rPr>
              <a:t> </a:t>
            </a:r>
          </a:p>
        </p:txBody>
      </p:sp>
      <p:sp>
        <p:nvSpPr>
          <p:cNvPr id="23" name="22 Metin kutusu"/>
          <p:cNvSpPr txBox="1"/>
          <p:nvPr/>
        </p:nvSpPr>
        <p:spPr>
          <a:xfrm>
            <a:off x="2357438" y="5715000"/>
            <a:ext cx="6786562" cy="1231900"/>
          </a:xfrm>
          <a:prstGeom prst="rect">
            <a:avLst/>
          </a:prstGeom>
          <a:noFill/>
        </p:spPr>
        <p:txBody>
          <a:bodyPr>
            <a:spAutoFit/>
          </a:bodyPr>
          <a:lstStyle/>
          <a:p>
            <a:pPr marL="514350" indent="-514350">
              <a:defRPr/>
            </a:pPr>
            <a:r>
              <a:rPr lang="tr-TR" sz="2800" dirty="0">
                <a:solidFill>
                  <a:prstClr val="black"/>
                </a:solidFill>
              </a:rPr>
              <a:t>9. Gerekiyorsa uygun telkinlerin verilmesi</a:t>
            </a:r>
          </a:p>
          <a:p>
            <a:pPr marL="514350" indent="-514350">
              <a:defRPr/>
            </a:pPr>
            <a:r>
              <a:rPr lang="tr-TR" sz="2800" dirty="0">
                <a:solidFill>
                  <a:prstClr val="black"/>
                </a:solidFill>
              </a:rPr>
              <a:t>10. </a:t>
            </a:r>
            <a:r>
              <a:rPr lang="tr-TR" sz="2800" dirty="0" err="1">
                <a:solidFill>
                  <a:prstClr val="black"/>
                </a:solidFill>
              </a:rPr>
              <a:t>Sujeyi</a:t>
            </a:r>
            <a:r>
              <a:rPr lang="tr-TR" sz="2800" dirty="0">
                <a:solidFill>
                  <a:prstClr val="black"/>
                </a:solidFill>
              </a:rPr>
              <a:t> hipnozdan çıkarmak.</a:t>
            </a:r>
          </a:p>
          <a:p>
            <a:pPr>
              <a:defRPr/>
            </a:pPr>
            <a:endParaRPr lang="tr-TR" dirty="0">
              <a:solidFill>
                <a:prstClr val="black"/>
              </a:solidFill>
            </a:endParaRPr>
          </a:p>
        </p:txBody>
      </p:sp>
    </p:spTree>
    <p:extLst>
      <p:ext uri="{BB962C8B-B14F-4D97-AF65-F5344CB8AC3E}">
        <p14:creationId xmlns:p14="http://schemas.microsoft.com/office/powerpoint/2010/main" val="274295714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1371600" y="304800"/>
            <a:ext cx="6476992" cy="1928802"/>
          </a:xfrm>
        </p:spPr>
        <p:txBody>
          <a:bodyPr>
            <a:noAutofit/>
          </a:bodyPr>
          <a:lstStyle/>
          <a:p>
            <a:pPr algn="ctr" eaLnBrk="1" fontAlgn="auto" hangingPunct="1">
              <a:spcAft>
                <a:spcPts val="0"/>
              </a:spcAft>
              <a:defRPr/>
            </a:pPr>
            <a:r>
              <a:rPr lang="tr-TR" sz="4000" b="1" dirty="0"/>
              <a:t>1. BÖLÜM</a:t>
            </a:r>
            <a:br>
              <a:rPr lang="tr-TR" sz="4000" b="1" dirty="0"/>
            </a:br>
            <a:r>
              <a:rPr lang="tr-TR" sz="4000" u="sng" dirty="0"/>
              <a:t>Bedensel gevşekliği oluşturmak</a:t>
            </a:r>
            <a:endParaRPr lang="tr-TR" sz="4000" b="1" dirty="0"/>
          </a:p>
        </p:txBody>
      </p:sp>
      <p:pic>
        <p:nvPicPr>
          <p:cNvPr id="14339" name="4 Resim" descr="altinkaya.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43200" y="2518847"/>
            <a:ext cx="3505200" cy="4124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11599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1643042" y="428604"/>
            <a:ext cx="8686800" cy="1328726"/>
          </a:xfrm>
        </p:spPr>
        <p:txBody>
          <a:bodyPr>
            <a:normAutofit fontScale="90000"/>
          </a:bodyPr>
          <a:lstStyle/>
          <a:p>
            <a:pPr algn="ctr" eaLnBrk="1" fontAlgn="auto" hangingPunct="1">
              <a:spcAft>
                <a:spcPts val="0"/>
              </a:spcAft>
              <a:defRPr/>
            </a:pPr>
            <a:r>
              <a:rPr lang="tr-TR" dirty="0"/>
              <a:t>1. aşama: </a:t>
            </a:r>
            <a:br>
              <a:rPr lang="tr-TR" dirty="0"/>
            </a:br>
            <a:r>
              <a:rPr lang="tr-TR" dirty="0"/>
              <a:t>Gözlerin Kapatılması</a:t>
            </a:r>
          </a:p>
        </p:txBody>
      </p:sp>
      <p:sp>
        <p:nvSpPr>
          <p:cNvPr id="3" name="2 İçerik Yer Tutucusu"/>
          <p:cNvSpPr>
            <a:spLocks noGrp="1"/>
          </p:cNvSpPr>
          <p:nvPr>
            <p:ph idx="1"/>
          </p:nvPr>
        </p:nvSpPr>
        <p:spPr>
          <a:xfrm>
            <a:off x="457200" y="2500313"/>
            <a:ext cx="8686800" cy="4071937"/>
          </a:xfrm>
        </p:spPr>
        <p:txBody>
          <a:bodyPr>
            <a:normAutofit fontScale="92500" lnSpcReduction="10000"/>
          </a:bodyPr>
          <a:lstStyle/>
          <a:p>
            <a:pPr eaLnBrk="1" fontAlgn="auto" hangingPunct="1">
              <a:spcAft>
                <a:spcPts val="0"/>
              </a:spcAft>
              <a:buFont typeface="Wingdings 2"/>
              <a:buNone/>
              <a:defRPr/>
            </a:pPr>
            <a:r>
              <a:rPr lang="tr-TR" b="1" dirty="0"/>
              <a:t>Danışanı hipnoza almaya başlamadan önce</a:t>
            </a:r>
          </a:p>
          <a:p>
            <a:pPr eaLnBrk="1" fontAlgn="auto" hangingPunct="1">
              <a:spcAft>
                <a:spcPts val="0"/>
              </a:spcAft>
              <a:buFont typeface="Wingdings 2"/>
              <a:buNone/>
              <a:defRPr/>
            </a:pPr>
            <a:r>
              <a:rPr lang="tr-TR" i="1" dirty="0"/>
              <a:t>“Hipnoz olmaya hazır mısın?”</a:t>
            </a:r>
          </a:p>
          <a:p>
            <a:pPr lvl="1" eaLnBrk="1" fontAlgn="auto" hangingPunct="1">
              <a:spcAft>
                <a:spcPts val="0"/>
              </a:spcAft>
              <a:buFont typeface="Wingdings 2"/>
              <a:buChar char=""/>
              <a:defRPr/>
            </a:pPr>
            <a:endParaRPr lang="tr-TR" dirty="0"/>
          </a:p>
          <a:p>
            <a:pPr eaLnBrk="1" fontAlgn="auto" hangingPunct="1">
              <a:spcAft>
                <a:spcPts val="0"/>
              </a:spcAft>
              <a:buFont typeface="Wingdings 2"/>
              <a:buNone/>
              <a:defRPr/>
            </a:pPr>
            <a:r>
              <a:rPr lang="tr-TR" b="1" dirty="0"/>
              <a:t>Bu aşamada, basitçe; </a:t>
            </a:r>
          </a:p>
          <a:p>
            <a:pPr eaLnBrk="1" fontAlgn="auto" hangingPunct="1">
              <a:spcAft>
                <a:spcPts val="0"/>
              </a:spcAft>
              <a:buFont typeface="Wingdings 2"/>
              <a:buNone/>
              <a:defRPr/>
            </a:pPr>
            <a:r>
              <a:rPr lang="tr-TR" i="1" dirty="0"/>
              <a:t>- “Gözlerini Kapat” </a:t>
            </a:r>
            <a:r>
              <a:rPr lang="tr-TR" dirty="0"/>
              <a:t>diyebiliriz.</a:t>
            </a:r>
          </a:p>
          <a:p>
            <a:pPr eaLnBrk="1" fontAlgn="auto" hangingPunct="1">
              <a:spcAft>
                <a:spcPts val="0"/>
              </a:spcAft>
              <a:buFont typeface="Wingdings 2"/>
              <a:buChar char=""/>
              <a:defRPr/>
            </a:pPr>
            <a:endParaRPr lang="tr-TR" dirty="0"/>
          </a:p>
          <a:p>
            <a:pPr eaLnBrk="1" fontAlgn="auto" hangingPunct="1">
              <a:spcAft>
                <a:spcPts val="0"/>
              </a:spcAft>
              <a:buFont typeface="Wingdings 2"/>
              <a:buNone/>
              <a:defRPr/>
            </a:pPr>
            <a:r>
              <a:rPr lang="tr-TR" i="1" dirty="0"/>
              <a:t>- “Derin bir nefes al ve nefesini verirken gözlerini kapat” </a:t>
            </a:r>
            <a:r>
              <a:rPr lang="tr-TR" dirty="0"/>
              <a:t>diyebiliriz.</a:t>
            </a:r>
          </a:p>
        </p:txBody>
      </p:sp>
      <p:pic>
        <p:nvPicPr>
          <p:cNvPr id="15364" name="5 Resim" descr="cosmic-consciousness-maitreya-awakens-digital-art-spiritandflesh2.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4313" y="214313"/>
            <a:ext cx="274320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825143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85720" y="214290"/>
            <a:ext cx="8686800" cy="838200"/>
          </a:xfrm>
        </p:spPr>
        <p:txBody>
          <a:bodyPr>
            <a:normAutofit/>
          </a:bodyPr>
          <a:lstStyle/>
          <a:p>
            <a:pPr algn="ctr" eaLnBrk="1" fontAlgn="auto" hangingPunct="1">
              <a:spcAft>
                <a:spcPts val="0"/>
              </a:spcAft>
              <a:defRPr/>
            </a:pPr>
            <a:r>
              <a:rPr lang="tr-TR" dirty="0"/>
              <a:t>2. Aşamaya geçiş Telkinleri </a:t>
            </a:r>
          </a:p>
        </p:txBody>
      </p:sp>
      <p:sp>
        <p:nvSpPr>
          <p:cNvPr id="3" name="2 İçerik Yer Tutucusu"/>
          <p:cNvSpPr>
            <a:spLocks noGrp="1"/>
          </p:cNvSpPr>
          <p:nvPr>
            <p:ph idx="1"/>
          </p:nvPr>
        </p:nvSpPr>
        <p:spPr>
          <a:xfrm>
            <a:off x="457200" y="1285875"/>
            <a:ext cx="8686800" cy="5572125"/>
          </a:xfrm>
        </p:spPr>
        <p:txBody>
          <a:bodyPr>
            <a:normAutofit fontScale="92500" lnSpcReduction="20000"/>
          </a:bodyPr>
          <a:lstStyle/>
          <a:p>
            <a:pPr eaLnBrk="1" fontAlgn="auto" hangingPunct="1">
              <a:spcAft>
                <a:spcPts val="0"/>
              </a:spcAft>
              <a:buFont typeface="Wingdings 2"/>
              <a:buNone/>
              <a:defRPr/>
            </a:pPr>
            <a:r>
              <a:rPr lang="tr-TR" i="1" dirty="0"/>
              <a:t>- “Şimdi göz kapaklarının birbirine temasını hissediyorsun. </a:t>
            </a:r>
          </a:p>
          <a:p>
            <a:pPr eaLnBrk="1" fontAlgn="auto" hangingPunct="1">
              <a:spcAft>
                <a:spcPts val="0"/>
              </a:spcAft>
              <a:buFont typeface="Wingdings 2"/>
              <a:buNone/>
              <a:defRPr/>
            </a:pPr>
            <a:endParaRPr lang="tr-TR" i="1" dirty="0"/>
          </a:p>
          <a:p>
            <a:pPr eaLnBrk="1" fontAlgn="auto" hangingPunct="1">
              <a:spcAft>
                <a:spcPts val="0"/>
              </a:spcAft>
              <a:buFont typeface="Wingdings 2"/>
              <a:buNone/>
              <a:defRPr/>
            </a:pPr>
            <a:r>
              <a:rPr lang="tr-TR" i="1" dirty="0"/>
              <a:t>- 	Bu teması hissederken saçından ayaklarına doğru, verdiğin her nefeste bir gevşeme dalgası yayıyorsun. </a:t>
            </a:r>
          </a:p>
          <a:p>
            <a:pPr eaLnBrk="1" fontAlgn="auto" hangingPunct="1">
              <a:spcAft>
                <a:spcPts val="0"/>
              </a:spcAft>
              <a:buFont typeface="Wingdings 2"/>
              <a:buNone/>
              <a:defRPr/>
            </a:pPr>
            <a:endParaRPr lang="tr-TR" i="1" dirty="0"/>
          </a:p>
          <a:p>
            <a:pPr eaLnBrk="1" fontAlgn="auto" hangingPunct="1">
              <a:spcAft>
                <a:spcPts val="0"/>
              </a:spcAft>
              <a:buFont typeface="Wingdings 2"/>
              <a:buNone/>
              <a:defRPr/>
            </a:pPr>
            <a:r>
              <a:rPr lang="tr-TR" i="1" dirty="0"/>
              <a:t>- 	Gerçekten güzel bir gevşeme sağlamak ve bilinçaltına gevşemenin nasıl bir şey olduğu modelini göstermek için önce gözlerinin etrafındaki kasları gevşetmeye başlıyorsun” </a:t>
            </a:r>
          </a:p>
          <a:p>
            <a:pPr eaLnBrk="1" fontAlgn="auto" hangingPunct="1">
              <a:spcAft>
                <a:spcPts val="0"/>
              </a:spcAft>
              <a:buFont typeface="Wingdings 2"/>
              <a:buNone/>
              <a:defRPr/>
            </a:pPr>
            <a:endParaRPr lang="tr-TR" i="1" dirty="0"/>
          </a:p>
          <a:p>
            <a:pPr eaLnBrk="1" fontAlgn="auto" hangingPunct="1">
              <a:spcAft>
                <a:spcPts val="0"/>
              </a:spcAft>
              <a:buFont typeface="Wingdings 2"/>
              <a:buNone/>
              <a:defRPr/>
            </a:pPr>
            <a:r>
              <a:rPr lang="tr-TR" dirty="0"/>
              <a:t>	diyerek ikinci aşamaya geçmiş oluruz.</a:t>
            </a:r>
          </a:p>
          <a:p>
            <a:pPr eaLnBrk="1" fontAlgn="auto" hangingPunct="1">
              <a:spcAft>
                <a:spcPts val="0"/>
              </a:spcAft>
              <a:buFont typeface="Wingdings 2"/>
              <a:buChar char=""/>
              <a:defRPr/>
            </a:pPr>
            <a:endParaRPr lang="tr-TR" dirty="0"/>
          </a:p>
        </p:txBody>
      </p:sp>
    </p:spTree>
    <p:extLst>
      <p:ext uri="{BB962C8B-B14F-4D97-AF65-F5344CB8AC3E}">
        <p14:creationId xmlns:p14="http://schemas.microsoft.com/office/powerpoint/2010/main" val="42946926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1285852" y="1000108"/>
            <a:ext cx="8686800" cy="838200"/>
          </a:xfrm>
        </p:spPr>
        <p:txBody>
          <a:bodyPr>
            <a:normAutofit fontScale="90000"/>
          </a:bodyPr>
          <a:lstStyle/>
          <a:p>
            <a:pPr algn="ctr" eaLnBrk="1" fontAlgn="auto" hangingPunct="1">
              <a:spcAft>
                <a:spcPts val="0"/>
              </a:spcAft>
              <a:defRPr/>
            </a:pPr>
            <a:r>
              <a:rPr lang="tr-TR" b="1" dirty="0"/>
              <a:t>2. aşama: </a:t>
            </a:r>
            <a:br>
              <a:rPr lang="tr-TR" b="1" dirty="0"/>
            </a:br>
            <a:r>
              <a:rPr lang="tr-TR" b="1" dirty="0"/>
              <a:t>KRİTİK faktörün </a:t>
            </a:r>
            <a:br>
              <a:rPr lang="tr-TR" b="1" dirty="0"/>
            </a:br>
            <a:r>
              <a:rPr lang="tr-TR" b="1" dirty="0"/>
              <a:t>by-pass edilmesi</a:t>
            </a:r>
            <a:br>
              <a:rPr lang="tr-TR" b="1" dirty="0"/>
            </a:br>
            <a:endParaRPr lang="tr-TR" dirty="0"/>
          </a:p>
        </p:txBody>
      </p:sp>
      <p:sp>
        <p:nvSpPr>
          <p:cNvPr id="17411" name="2 İçerik Yer Tutucusu"/>
          <p:cNvSpPr>
            <a:spLocks noGrp="1"/>
          </p:cNvSpPr>
          <p:nvPr>
            <p:ph idx="1"/>
          </p:nvPr>
        </p:nvSpPr>
        <p:spPr>
          <a:xfrm>
            <a:off x="457200" y="2974975"/>
            <a:ext cx="8686800" cy="3883025"/>
          </a:xfrm>
        </p:spPr>
        <p:txBody>
          <a:bodyPr/>
          <a:lstStyle/>
          <a:p>
            <a:pPr eaLnBrk="1" hangingPunct="1">
              <a:buClr>
                <a:schemeClr val="tx1"/>
              </a:buClr>
            </a:pPr>
            <a:r>
              <a:rPr lang="tr-TR"/>
              <a:t>Göz kasları gevşetilir.</a:t>
            </a:r>
          </a:p>
          <a:p>
            <a:pPr eaLnBrk="1" hangingPunct="1">
              <a:buClr>
                <a:schemeClr val="tx1"/>
              </a:buClr>
            </a:pPr>
            <a:endParaRPr lang="tr-TR"/>
          </a:p>
          <a:p>
            <a:pPr eaLnBrk="1" hangingPunct="1">
              <a:buClr>
                <a:schemeClr val="tx1"/>
              </a:buClr>
            </a:pPr>
            <a:r>
              <a:rPr lang="tr-TR"/>
              <a:t>Gözlerini açmaya çalışması istenir.</a:t>
            </a:r>
          </a:p>
          <a:p>
            <a:pPr eaLnBrk="1" hangingPunct="1">
              <a:buClr>
                <a:schemeClr val="tx1"/>
              </a:buClr>
              <a:buFont typeface="Wingdings 2" pitchFamily="18" charset="2"/>
              <a:buNone/>
            </a:pPr>
            <a:r>
              <a:rPr lang="tr-TR"/>
              <a:t> </a:t>
            </a:r>
          </a:p>
          <a:p>
            <a:pPr eaLnBrk="1" hangingPunct="1">
              <a:buClr>
                <a:schemeClr val="tx1"/>
              </a:buClr>
            </a:pPr>
            <a:r>
              <a:rPr lang="tr-TR"/>
              <a:t>Gözleri açma gayreti gösterirken gözlerin açılmaması kritik faktörü by-pass eder.</a:t>
            </a:r>
          </a:p>
        </p:txBody>
      </p:sp>
      <p:pic>
        <p:nvPicPr>
          <p:cNvPr id="17412" name="3 Resim" descr="hypno.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5813" y="214313"/>
            <a:ext cx="2500312" cy="250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881405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pPr eaLnBrk="1" fontAlgn="auto" hangingPunct="1">
              <a:spcAft>
                <a:spcPts val="0"/>
              </a:spcAft>
              <a:defRPr/>
            </a:pPr>
            <a:r>
              <a:rPr lang="tr-TR" dirty="0"/>
              <a:t>2. AŞAMADA VERİLEBİLECEK TELKİNLER</a:t>
            </a:r>
          </a:p>
        </p:txBody>
      </p:sp>
      <p:sp>
        <p:nvSpPr>
          <p:cNvPr id="3" name="2 İçerik Yer Tutucusu"/>
          <p:cNvSpPr>
            <a:spLocks noGrp="1"/>
          </p:cNvSpPr>
          <p:nvPr>
            <p:ph idx="1"/>
          </p:nvPr>
        </p:nvSpPr>
        <p:spPr>
          <a:xfrm>
            <a:off x="142875" y="1643063"/>
            <a:ext cx="8686800" cy="5072062"/>
          </a:xfrm>
        </p:spPr>
        <p:txBody>
          <a:bodyPr>
            <a:normAutofit fontScale="85000" lnSpcReduction="10000"/>
          </a:bodyPr>
          <a:lstStyle/>
          <a:p>
            <a:pPr eaLnBrk="1" fontAlgn="auto" hangingPunct="1">
              <a:spcAft>
                <a:spcPts val="0"/>
              </a:spcAft>
              <a:buFont typeface="Wingdings 2"/>
              <a:buNone/>
              <a:defRPr/>
            </a:pPr>
            <a:r>
              <a:rPr lang="tr-TR" b="1" i="1" dirty="0"/>
              <a:t>	- Şimdi tüm dikkatini göz kapaklarının etrafındaki kaslara topla ve bu kasları, çalışamayacak kadar gevşet.  </a:t>
            </a:r>
          </a:p>
          <a:p>
            <a:pPr eaLnBrk="1" fontAlgn="auto" hangingPunct="1">
              <a:spcAft>
                <a:spcPts val="0"/>
              </a:spcAft>
              <a:buFont typeface="Wingdings 2"/>
              <a:buNone/>
              <a:defRPr/>
            </a:pPr>
            <a:endParaRPr lang="tr-TR" b="1" i="1" dirty="0"/>
          </a:p>
          <a:p>
            <a:pPr eaLnBrk="1" fontAlgn="auto" hangingPunct="1">
              <a:spcAft>
                <a:spcPts val="0"/>
              </a:spcAft>
              <a:buFont typeface="Wingdings 2"/>
              <a:buNone/>
              <a:defRPr/>
            </a:pPr>
            <a:r>
              <a:rPr lang="tr-TR" b="1" i="1" dirty="0"/>
              <a:t>	- Göz kapaklarını gevşet,  gevşet... o kadar gevşet ki, açılamasınlar… tamamen gevşediklerinden emin olana kadar devam et... </a:t>
            </a:r>
          </a:p>
          <a:p>
            <a:pPr eaLnBrk="1" fontAlgn="auto" hangingPunct="1">
              <a:spcAft>
                <a:spcPts val="0"/>
              </a:spcAft>
              <a:buFont typeface="Wingdings 2"/>
              <a:buNone/>
              <a:defRPr/>
            </a:pPr>
            <a:endParaRPr lang="tr-TR" b="1" i="1" dirty="0"/>
          </a:p>
          <a:p>
            <a:pPr eaLnBrk="1" fontAlgn="auto" hangingPunct="1">
              <a:spcAft>
                <a:spcPts val="0"/>
              </a:spcAft>
              <a:buFontTx/>
              <a:buChar char="-"/>
              <a:defRPr/>
            </a:pPr>
            <a:r>
              <a:rPr lang="tr-TR" b="1" i="1" dirty="0"/>
              <a:t>- Şimdi bu gevşekliği koru.. Ve göz kapaklarının açılmadığından emin olmak için deneme yap. Gözlerini açmayı dene . </a:t>
            </a:r>
          </a:p>
          <a:p>
            <a:pPr eaLnBrk="1" fontAlgn="auto" hangingPunct="1">
              <a:spcAft>
                <a:spcPts val="0"/>
              </a:spcAft>
              <a:buFontTx/>
              <a:buChar char="-"/>
              <a:defRPr/>
            </a:pPr>
            <a:endParaRPr lang="tr-TR" b="1" i="1" dirty="0"/>
          </a:p>
          <a:p>
            <a:pPr eaLnBrk="1" fontAlgn="auto" hangingPunct="1">
              <a:spcAft>
                <a:spcPts val="0"/>
              </a:spcAft>
              <a:buFontTx/>
              <a:buChar char="-"/>
              <a:defRPr/>
            </a:pPr>
            <a:r>
              <a:rPr lang="tr-TR" b="1" i="1" dirty="0"/>
              <a:t>- Açılmadıklarını </a:t>
            </a:r>
            <a:r>
              <a:rPr lang="tr-TR" b="1" i="1" dirty="0" err="1"/>
              <a:t>farkettikçe</a:t>
            </a:r>
            <a:r>
              <a:rPr lang="tr-TR" b="1" i="1" dirty="0"/>
              <a:t>  daha derin gevşiyorsun.</a:t>
            </a:r>
            <a:endParaRPr lang="tr-TR" dirty="0"/>
          </a:p>
          <a:p>
            <a:pPr eaLnBrk="1" fontAlgn="auto" hangingPunct="1">
              <a:spcAft>
                <a:spcPts val="0"/>
              </a:spcAft>
              <a:buFont typeface="Wingdings 2"/>
              <a:buChar char=""/>
              <a:defRPr/>
            </a:pPr>
            <a:endParaRPr lang="tr-TR" dirty="0"/>
          </a:p>
        </p:txBody>
      </p:sp>
    </p:spTree>
    <p:extLst>
      <p:ext uri="{BB962C8B-B14F-4D97-AF65-F5344CB8AC3E}">
        <p14:creationId xmlns:p14="http://schemas.microsoft.com/office/powerpoint/2010/main" val="211143330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14282" y="142852"/>
            <a:ext cx="8686800" cy="838200"/>
          </a:xfrm>
        </p:spPr>
        <p:txBody>
          <a:bodyPr>
            <a:noAutofit/>
          </a:bodyPr>
          <a:lstStyle/>
          <a:p>
            <a:pPr algn="ctr" eaLnBrk="1" fontAlgn="auto" hangingPunct="1">
              <a:spcAft>
                <a:spcPts val="0"/>
              </a:spcAft>
              <a:defRPr/>
            </a:pPr>
            <a:r>
              <a:rPr lang="tr-TR" sz="4200" dirty="0"/>
              <a:t>DERİNLEŞTİRME</a:t>
            </a:r>
          </a:p>
        </p:txBody>
      </p:sp>
      <p:sp>
        <p:nvSpPr>
          <p:cNvPr id="3" name="2 İçerik Yer Tutucusu"/>
          <p:cNvSpPr>
            <a:spLocks noGrp="1"/>
          </p:cNvSpPr>
          <p:nvPr>
            <p:ph idx="1"/>
          </p:nvPr>
        </p:nvSpPr>
        <p:spPr>
          <a:xfrm>
            <a:off x="285750" y="1000125"/>
            <a:ext cx="8686800" cy="5857875"/>
          </a:xfrm>
        </p:spPr>
        <p:txBody>
          <a:bodyPr>
            <a:normAutofit fontScale="70000" lnSpcReduction="20000"/>
          </a:bodyPr>
          <a:lstStyle/>
          <a:p>
            <a:pPr eaLnBrk="1" fontAlgn="auto" hangingPunct="1">
              <a:spcAft>
                <a:spcPts val="0"/>
              </a:spcAft>
              <a:buFont typeface="Wingdings 2"/>
              <a:buNone/>
              <a:defRPr/>
            </a:pPr>
            <a:r>
              <a:rPr lang="tr-TR" sz="3400" i="1" dirty="0"/>
              <a:t>1 . Verdiğin her nefeste daha derin gevşiyorsun.</a:t>
            </a:r>
          </a:p>
          <a:p>
            <a:pPr eaLnBrk="1" fontAlgn="auto" hangingPunct="1">
              <a:spcAft>
                <a:spcPts val="0"/>
              </a:spcAft>
              <a:buFont typeface="Wingdings 2"/>
              <a:buNone/>
              <a:defRPr/>
            </a:pPr>
            <a:endParaRPr lang="tr-TR" sz="3400" dirty="0"/>
          </a:p>
          <a:p>
            <a:pPr eaLnBrk="1" fontAlgn="auto" hangingPunct="1">
              <a:spcAft>
                <a:spcPts val="0"/>
              </a:spcAft>
              <a:buFont typeface="Wingdings 2"/>
              <a:buNone/>
              <a:defRPr/>
            </a:pPr>
            <a:r>
              <a:rPr lang="tr-TR" sz="3400" i="1" dirty="0"/>
              <a:t>2. Burada bu koltukta benim sesim seni sürekli hipnozda tutan bir ortam sağlıyor. </a:t>
            </a:r>
          </a:p>
          <a:p>
            <a:pPr eaLnBrk="1" fontAlgn="auto" hangingPunct="1">
              <a:spcAft>
                <a:spcPts val="0"/>
              </a:spcAft>
              <a:buFont typeface="Wingdings 2"/>
              <a:buNone/>
              <a:defRPr/>
            </a:pPr>
            <a:r>
              <a:rPr lang="tr-TR" sz="3400" i="1" dirty="0"/>
              <a:t>	Benim sesim dışındaki tüm sesler kaybolmaya ve uzaklaşmaya başlıyor. </a:t>
            </a:r>
          </a:p>
          <a:p>
            <a:pPr eaLnBrk="1" fontAlgn="auto" hangingPunct="1">
              <a:spcAft>
                <a:spcPts val="0"/>
              </a:spcAft>
              <a:buFont typeface="Wingdings 2"/>
              <a:buNone/>
              <a:defRPr/>
            </a:pPr>
            <a:r>
              <a:rPr lang="tr-TR" sz="3400" i="1" dirty="0"/>
              <a:t>	Duyacağın her farklı seste daha derin gevşiyorsun, her farklı ses seni daha derin bir gevşekliğe götürüyor.</a:t>
            </a:r>
          </a:p>
          <a:p>
            <a:pPr eaLnBrk="1" fontAlgn="auto" hangingPunct="1">
              <a:spcAft>
                <a:spcPts val="0"/>
              </a:spcAft>
              <a:buFont typeface="Wingdings 2"/>
              <a:buNone/>
              <a:defRPr/>
            </a:pPr>
            <a:endParaRPr lang="tr-TR" sz="3400" dirty="0"/>
          </a:p>
          <a:p>
            <a:pPr eaLnBrk="1" fontAlgn="auto" hangingPunct="1">
              <a:spcAft>
                <a:spcPts val="0"/>
              </a:spcAft>
              <a:buFont typeface="Wingdings 2"/>
              <a:buNone/>
              <a:defRPr/>
            </a:pPr>
            <a:r>
              <a:rPr lang="tr-TR" sz="3400" i="1" dirty="0"/>
              <a:t>3. Şimdi saçından ayaklarına doğru gevşemeye devam ediyorsun.</a:t>
            </a:r>
          </a:p>
          <a:p>
            <a:pPr eaLnBrk="1" fontAlgn="auto" hangingPunct="1">
              <a:spcAft>
                <a:spcPts val="0"/>
              </a:spcAft>
              <a:buFont typeface="Wingdings 2"/>
              <a:buNone/>
              <a:defRPr/>
            </a:pPr>
            <a:endParaRPr lang="tr-TR" sz="3400" i="1" dirty="0"/>
          </a:p>
          <a:p>
            <a:pPr eaLnBrk="1" fontAlgn="auto" hangingPunct="1">
              <a:spcAft>
                <a:spcPts val="0"/>
              </a:spcAft>
              <a:buFont typeface="Wingdings 2"/>
              <a:buNone/>
              <a:defRPr/>
            </a:pPr>
            <a:r>
              <a:rPr lang="tr-TR" sz="3400" dirty="0"/>
              <a:t>4. </a:t>
            </a:r>
            <a:r>
              <a:rPr lang="tr-TR" sz="3400" i="1" dirty="0"/>
              <a:t>Şimdi de dıştan içe doğru, gevşemeye devam ediyorsun</a:t>
            </a:r>
          </a:p>
          <a:p>
            <a:pPr eaLnBrk="1" fontAlgn="auto" hangingPunct="1">
              <a:spcAft>
                <a:spcPts val="0"/>
              </a:spcAft>
              <a:buFont typeface="Wingdings 2"/>
              <a:buNone/>
              <a:defRPr/>
            </a:pPr>
            <a:endParaRPr lang="tr-TR" sz="3400" dirty="0"/>
          </a:p>
          <a:p>
            <a:pPr eaLnBrk="1" fontAlgn="auto" hangingPunct="1">
              <a:spcAft>
                <a:spcPts val="0"/>
              </a:spcAft>
              <a:buFont typeface="Wingdings 2"/>
              <a:buNone/>
              <a:defRPr/>
            </a:pPr>
            <a:r>
              <a:rPr lang="tr-TR" sz="3400" i="1" dirty="0"/>
              <a:t>5. 	Gözlerini kapattığın andan şu ana kadar geçen sürede ne kadar gevşediğini fark ediyorsun ve bunu fark ettikçe daha derin gevşiyorsun.</a:t>
            </a:r>
            <a:endParaRPr lang="tr-TR" sz="3400" dirty="0"/>
          </a:p>
          <a:p>
            <a:pPr eaLnBrk="1" fontAlgn="auto" hangingPunct="1">
              <a:spcAft>
                <a:spcPts val="0"/>
              </a:spcAft>
              <a:buFont typeface="Wingdings 2"/>
              <a:buChar char=""/>
              <a:defRPr/>
            </a:pPr>
            <a:endParaRPr lang="tr-TR" dirty="0"/>
          </a:p>
        </p:txBody>
      </p:sp>
    </p:spTree>
    <p:extLst>
      <p:ext uri="{BB962C8B-B14F-4D97-AF65-F5344CB8AC3E}">
        <p14:creationId xmlns:p14="http://schemas.microsoft.com/office/powerpoint/2010/main" val="129348184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0" y="714356"/>
            <a:ext cx="8972520" cy="838200"/>
          </a:xfrm>
        </p:spPr>
        <p:txBody>
          <a:bodyPr>
            <a:normAutofit fontScale="90000"/>
          </a:bodyPr>
          <a:lstStyle/>
          <a:p>
            <a:pPr algn="ctr" eaLnBrk="1" fontAlgn="auto" hangingPunct="1">
              <a:spcAft>
                <a:spcPts val="0"/>
              </a:spcAft>
              <a:defRPr/>
            </a:pPr>
            <a:r>
              <a:rPr lang="tr-TR" b="1" dirty="0"/>
              <a:t>3. Aşama :</a:t>
            </a:r>
            <a:br>
              <a:rPr lang="tr-TR" b="1" dirty="0"/>
            </a:br>
            <a:r>
              <a:rPr lang="tr-TR" b="1" dirty="0"/>
              <a:t>Fiziksel gevşekliğin </a:t>
            </a:r>
            <a:br>
              <a:rPr lang="tr-TR" b="1" dirty="0"/>
            </a:br>
            <a:r>
              <a:rPr lang="tr-TR" b="1" dirty="0"/>
              <a:t>derinleştirilmesi</a:t>
            </a:r>
            <a:br>
              <a:rPr lang="tr-TR" b="1" dirty="0"/>
            </a:br>
            <a:endParaRPr lang="tr-TR" dirty="0"/>
          </a:p>
        </p:txBody>
      </p:sp>
      <p:sp>
        <p:nvSpPr>
          <p:cNvPr id="20483" name="2 İçerik Yer Tutucusu"/>
          <p:cNvSpPr>
            <a:spLocks noGrp="1"/>
          </p:cNvSpPr>
          <p:nvPr>
            <p:ph idx="1"/>
          </p:nvPr>
        </p:nvSpPr>
        <p:spPr>
          <a:xfrm>
            <a:off x="285750" y="2332038"/>
            <a:ext cx="8686800" cy="4525962"/>
          </a:xfrm>
        </p:spPr>
        <p:txBody>
          <a:bodyPr/>
          <a:lstStyle/>
          <a:p>
            <a:pPr eaLnBrk="1" hangingPunct="1">
              <a:buClr>
                <a:schemeClr val="tx1"/>
              </a:buClr>
            </a:pPr>
            <a:r>
              <a:rPr lang="tr-TR"/>
              <a:t>Göz açıp kapatma işlemi kullanılır. </a:t>
            </a:r>
          </a:p>
          <a:p>
            <a:pPr eaLnBrk="1" hangingPunct="1">
              <a:buClr>
                <a:schemeClr val="tx1"/>
              </a:buClr>
            </a:pPr>
            <a:endParaRPr lang="tr-TR"/>
          </a:p>
          <a:p>
            <a:pPr eaLnBrk="1" hangingPunct="1">
              <a:buClr>
                <a:schemeClr val="tx1"/>
              </a:buClr>
            </a:pPr>
            <a:r>
              <a:rPr lang="tr-TR"/>
              <a:t>Her göz açıp kapatmada daha derin gevşeyeceği telkinini verilir. </a:t>
            </a:r>
          </a:p>
          <a:p>
            <a:pPr eaLnBrk="1" hangingPunct="1">
              <a:buClr>
                <a:schemeClr val="tx1"/>
              </a:buClr>
            </a:pPr>
            <a:endParaRPr lang="tr-TR"/>
          </a:p>
          <a:p>
            <a:pPr eaLnBrk="1" hangingPunct="1">
              <a:buClr>
                <a:schemeClr val="tx1"/>
              </a:buClr>
            </a:pPr>
            <a:r>
              <a:rPr lang="tr-TR"/>
              <a:t>Sujeye en az üç kez gözleri açtırılıp kapattırılır.</a:t>
            </a:r>
          </a:p>
        </p:txBody>
      </p:sp>
      <p:pic>
        <p:nvPicPr>
          <p:cNvPr id="20484" name="3 Resim" descr="hypnosis_018.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58063" y="0"/>
            <a:ext cx="1785937" cy="135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4 Resim" descr="hypnosis_018.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714500" cy="135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238857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pPr eaLnBrk="1" fontAlgn="auto" hangingPunct="1">
              <a:spcAft>
                <a:spcPts val="0"/>
              </a:spcAft>
              <a:defRPr/>
            </a:pPr>
            <a:r>
              <a:rPr lang="tr-TR" dirty="0"/>
              <a:t>3. Aşamada verilebilecek telkinler</a:t>
            </a:r>
          </a:p>
        </p:txBody>
      </p:sp>
      <p:sp>
        <p:nvSpPr>
          <p:cNvPr id="3" name="2 İçerik Yer Tutucusu"/>
          <p:cNvSpPr>
            <a:spLocks noGrp="1"/>
          </p:cNvSpPr>
          <p:nvPr>
            <p:ph idx="1"/>
          </p:nvPr>
        </p:nvSpPr>
        <p:spPr>
          <a:xfrm>
            <a:off x="304800" y="1554163"/>
            <a:ext cx="8686800" cy="5018087"/>
          </a:xfrm>
        </p:spPr>
        <p:txBody>
          <a:bodyPr>
            <a:normAutofit fontScale="92500" lnSpcReduction="10000"/>
          </a:bodyPr>
          <a:lstStyle/>
          <a:p>
            <a:pPr eaLnBrk="1" fontAlgn="auto" hangingPunct="1">
              <a:spcAft>
                <a:spcPts val="0"/>
              </a:spcAft>
              <a:buFont typeface="Wingdings 2"/>
              <a:buNone/>
              <a:defRPr/>
            </a:pPr>
            <a:r>
              <a:rPr lang="tr-TR" b="1" i="1" dirty="0"/>
              <a:t>- 	</a:t>
            </a:r>
            <a:r>
              <a:rPr lang="tr-TR" i="1" dirty="0"/>
              <a:t>Şimdi ulaştığın bu gevşekliği daha fazla derinleştirebilirsin. </a:t>
            </a:r>
          </a:p>
          <a:p>
            <a:pPr eaLnBrk="1" fontAlgn="auto" hangingPunct="1">
              <a:spcAft>
                <a:spcPts val="0"/>
              </a:spcAft>
              <a:buFont typeface="Wingdings 2"/>
              <a:buNone/>
              <a:defRPr/>
            </a:pPr>
            <a:r>
              <a:rPr lang="tr-TR" i="1" dirty="0"/>
              <a:t>- 	Birazdan, gözlerini açmanı ve sonrada kapamanı isteyeceğim. </a:t>
            </a:r>
          </a:p>
          <a:p>
            <a:pPr eaLnBrk="1" fontAlgn="auto" hangingPunct="1">
              <a:spcAft>
                <a:spcPts val="0"/>
              </a:spcAft>
              <a:buFont typeface="Wingdings 2"/>
              <a:buNone/>
              <a:defRPr/>
            </a:pPr>
            <a:r>
              <a:rPr lang="tr-TR" i="1" dirty="0"/>
              <a:t>- 	Gözlerini kapattığın anda, göz kapakların birbirine değdiği anda gözlerini kapatmadan önceki, mevcut gevşekliğini 10 kat arttıracaksın. </a:t>
            </a:r>
          </a:p>
          <a:p>
            <a:pPr eaLnBrk="1" fontAlgn="auto" hangingPunct="1">
              <a:spcAft>
                <a:spcPts val="0"/>
              </a:spcAft>
              <a:buFont typeface="Wingdings 2"/>
              <a:buNone/>
              <a:defRPr/>
            </a:pPr>
            <a:r>
              <a:rPr lang="tr-TR" i="1" dirty="0"/>
              <a:t>- 	Tüm yapacağın bunun olmasını istemek ve çok kolaylıkla bunu yapabilirsin. </a:t>
            </a:r>
          </a:p>
          <a:p>
            <a:pPr eaLnBrk="1" fontAlgn="auto" hangingPunct="1">
              <a:spcAft>
                <a:spcPts val="0"/>
              </a:spcAft>
              <a:buFont typeface="Wingdings 2"/>
              <a:buNone/>
              <a:defRPr/>
            </a:pPr>
            <a:r>
              <a:rPr lang="tr-TR" i="1" dirty="0"/>
              <a:t>- 	Evet, şimdi gözlerini aç. Şimdi kapa. Ve on kat gevşe.</a:t>
            </a:r>
            <a:endParaRPr lang="tr-TR" dirty="0"/>
          </a:p>
        </p:txBody>
      </p:sp>
    </p:spTree>
    <p:extLst>
      <p:ext uri="{BB962C8B-B14F-4D97-AF65-F5344CB8AC3E}">
        <p14:creationId xmlns:p14="http://schemas.microsoft.com/office/powerpoint/2010/main" val="36931728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642918"/>
            <a:ext cx="8686800" cy="838200"/>
          </a:xfrm>
        </p:spPr>
        <p:txBody>
          <a:bodyPr>
            <a:normAutofit fontScale="90000"/>
          </a:bodyPr>
          <a:lstStyle/>
          <a:p>
            <a:pPr algn="ctr" eaLnBrk="1" fontAlgn="auto" hangingPunct="1">
              <a:spcAft>
                <a:spcPts val="0"/>
              </a:spcAft>
              <a:defRPr/>
            </a:pPr>
            <a:r>
              <a:rPr lang="tr-TR" dirty="0"/>
              <a:t>3. Aşamada NELERE DİKKAT ETMELİYİZ?</a:t>
            </a:r>
            <a:br>
              <a:rPr lang="tr-TR" dirty="0"/>
            </a:br>
            <a:endParaRPr lang="tr-TR" dirty="0"/>
          </a:p>
        </p:txBody>
      </p:sp>
      <p:sp>
        <p:nvSpPr>
          <p:cNvPr id="3" name="2 İçerik Yer Tutucusu"/>
          <p:cNvSpPr>
            <a:spLocks noGrp="1"/>
          </p:cNvSpPr>
          <p:nvPr>
            <p:ph idx="1"/>
          </p:nvPr>
        </p:nvSpPr>
        <p:spPr>
          <a:xfrm>
            <a:off x="285750" y="1714500"/>
            <a:ext cx="8686800" cy="5143500"/>
          </a:xfrm>
        </p:spPr>
        <p:txBody>
          <a:bodyPr>
            <a:normAutofit fontScale="92500" lnSpcReduction="20000"/>
          </a:bodyPr>
          <a:lstStyle/>
          <a:p>
            <a:pPr eaLnBrk="1" fontAlgn="auto" hangingPunct="1">
              <a:spcAft>
                <a:spcPts val="0"/>
              </a:spcAft>
              <a:buClrTx/>
              <a:buFont typeface="Wingdings" pitchFamily="2" charset="2"/>
              <a:buChar char="Ø"/>
              <a:defRPr/>
            </a:pPr>
            <a:r>
              <a:rPr lang="tr-TR" sz="2500" b="1" i="1" dirty="0"/>
              <a:t>“</a:t>
            </a:r>
            <a:r>
              <a:rPr lang="tr-TR" sz="2500" i="1" dirty="0"/>
              <a:t>Gözlerini açmakta zorlandıkça daha derin gevşeyeceksin.” </a:t>
            </a:r>
            <a:r>
              <a:rPr lang="tr-TR" sz="2500" dirty="0"/>
              <a:t>telkini özellikle verilmeli.</a:t>
            </a:r>
          </a:p>
          <a:p>
            <a:pPr eaLnBrk="1" fontAlgn="auto" hangingPunct="1">
              <a:spcAft>
                <a:spcPts val="0"/>
              </a:spcAft>
              <a:buClrTx/>
              <a:buFont typeface="Wingdings" pitchFamily="2" charset="2"/>
              <a:buChar char="Ø"/>
              <a:defRPr/>
            </a:pPr>
            <a:endParaRPr lang="tr-TR" sz="2500" dirty="0"/>
          </a:p>
          <a:p>
            <a:pPr eaLnBrk="1" fontAlgn="auto" hangingPunct="1">
              <a:spcAft>
                <a:spcPts val="0"/>
              </a:spcAft>
              <a:buClrTx/>
              <a:buFont typeface="Wingdings" pitchFamily="2" charset="2"/>
              <a:buChar char="Ø"/>
              <a:defRPr/>
            </a:pPr>
            <a:r>
              <a:rPr lang="tr-TR" sz="2500" dirty="0"/>
              <a:t>Gözlerini açıp kaparken bile </a:t>
            </a:r>
            <a:r>
              <a:rPr lang="tr-TR" sz="2500" dirty="0" err="1"/>
              <a:t>sujenizin</a:t>
            </a:r>
            <a:r>
              <a:rPr lang="tr-TR" sz="2500" dirty="0"/>
              <a:t> hipnoza olan yatkınlığını anlarsınız. </a:t>
            </a:r>
          </a:p>
          <a:p>
            <a:pPr eaLnBrk="1" fontAlgn="auto" hangingPunct="1">
              <a:spcAft>
                <a:spcPts val="0"/>
              </a:spcAft>
              <a:buClrTx/>
              <a:buFont typeface="Wingdings" pitchFamily="2" charset="2"/>
              <a:buChar char="Ø"/>
              <a:defRPr/>
            </a:pPr>
            <a:endParaRPr lang="tr-TR" sz="2500" dirty="0"/>
          </a:p>
          <a:p>
            <a:pPr eaLnBrk="1" fontAlgn="auto" hangingPunct="1">
              <a:spcAft>
                <a:spcPts val="0"/>
              </a:spcAft>
              <a:buClrTx/>
              <a:buFont typeface="Wingdings" pitchFamily="2" charset="2"/>
              <a:buChar char="Ø"/>
              <a:defRPr/>
            </a:pPr>
            <a:r>
              <a:rPr lang="tr-TR" sz="2500" dirty="0"/>
              <a:t>Gözlerini zorla ve yorgun bir şekilde açıp açmadığına dikkat edin.</a:t>
            </a:r>
          </a:p>
          <a:p>
            <a:pPr eaLnBrk="1" fontAlgn="auto" hangingPunct="1">
              <a:spcAft>
                <a:spcPts val="0"/>
              </a:spcAft>
              <a:buClrTx/>
              <a:buFont typeface="Wingdings" pitchFamily="2" charset="2"/>
              <a:buChar char="Ø"/>
              <a:defRPr/>
            </a:pPr>
            <a:endParaRPr lang="tr-TR" sz="2500" dirty="0"/>
          </a:p>
          <a:p>
            <a:pPr eaLnBrk="1" fontAlgn="auto" hangingPunct="1">
              <a:spcAft>
                <a:spcPts val="0"/>
              </a:spcAft>
              <a:buClrTx/>
              <a:buFont typeface="Wingdings" pitchFamily="2" charset="2"/>
              <a:buChar char="Ø"/>
              <a:defRPr/>
            </a:pPr>
            <a:r>
              <a:rPr lang="tr-TR" sz="2500" dirty="0"/>
              <a:t>Gevşeme başlamışsa göz beyazlarındaki kılcal damarlara kan dolmuştur. Bu da hipnozun derinleşmekte olduğunu gösterir. </a:t>
            </a:r>
          </a:p>
          <a:p>
            <a:pPr eaLnBrk="1" fontAlgn="auto" hangingPunct="1">
              <a:spcAft>
                <a:spcPts val="0"/>
              </a:spcAft>
              <a:buClrTx/>
              <a:buFont typeface="Wingdings" pitchFamily="2" charset="2"/>
              <a:buChar char="Ø"/>
              <a:defRPr/>
            </a:pPr>
            <a:endParaRPr lang="tr-TR" sz="2500" dirty="0"/>
          </a:p>
          <a:p>
            <a:pPr eaLnBrk="1" fontAlgn="auto" hangingPunct="1">
              <a:spcAft>
                <a:spcPts val="0"/>
              </a:spcAft>
              <a:buClrTx/>
              <a:buFont typeface="Wingdings" pitchFamily="2" charset="2"/>
              <a:buChar char="Ø"/>
              <a:defRPr/>
            </a:pPr>
            <a:r>
              <a:rPr lang="tr-TR" sz="2500" dirty="0"/>
              <a:t>Derinleşmekte olan bir </a:t>
            </a:r>
            <a:r>
              <a:rPr lang="tr-TR" sz="2500" dirty="0" err="1"/>
              <a:t>sujenin</a:t>
            </a:r>
            <a:r>
              <a:rPr lang="tr-TR" sz="2500" dirty="0"/>
              <a:t> gözleri boş boş bakar. </a:t>
            </a:r>
          </a:p>
          <a:p>
            <a:pPr eaLnBrk="1" fontAlgn="auto" hangingPunct="1">
              <a:spcAft>
                <a:spcPts val="0"/>
              </a:spcAft>
              <a:buClrTx/>
              <a:buFont typeface="Wingdings" pitchFamily="2" charset="2"/>
              <a:buChar char="Ø"/>
              <a:defRPr/>
            </a:pPr>
            <a:endParaRPr lang="tr-TR" sz="2500" b="1" dirty="0"/>
          </a:p>
          <a:p>
            <a:pPr eaLnBrk="1" fontAlgn="auto" hangingPunct="1">
              <a:spcAft>
                <a:spcPts val="0"/>
              </a:spcAft>
              <a:buClrTx/>
              <a:buFont typeface="Wingdings" pitchFamily="2" charset="2"/>
              <a:buChar char="Ø"/>
              <a:defRPr/>
            </a:pPr>
            <a:r>
              <a:rPr lang="tr-TR" sz="2500" dirty="0"/>
              <a:t>Göz kapaklarını kırpmaz. Siz “kapat” diyene kadar bekler.</a:t>
            </a:r>
          </a:p>
          <a:p>
            <a:pPr eaLnBrk="1" fontAlgn="auto" hangingPunct="1">
              <a:spcAft>
                <a:spcPts val="0"/>
              </a:spcAft>
              <a:buFontTx/>
              <a:buChar char="-"/>
              <a:defRPr/>
            </a:pPr>
            <a:endParaRPr lang="tr-TR" b="1" dirty="0"/>
          </a:p>
          <a:p>
            <a:pPr eaLnBrk="1" fontAlgn="auto" hangingPunct="1">
              <a:spcAft>
                <a:spcPts val="0"/>
              </a:spcAft>
              <a:buFont typeface="Wingdings 2"/>
              <a:buChar char=""/>
              <a:defRPr/>
            </a:pPr>
            <a:endParaRPr lang="tr-TR" b="1" i="1" dirty="0"/>
          </a:p>
          <a:p>
            <a:pPr eaLnBrk="1" fontAlgn="auto" hangingPunct="1">
              <a:spcAft>
                <a:spcPts val="0"/>
              </a:spcAft>
              <a:buFont typeface="Wingdings 2"/>
              <a:buChar char=""/>
              <a:defRPr/>
            </a:pPr>
            <a:endParaRPr lang="tr-TR" dirty="0"/>
          </a:p>
        </p:txBody>
      </p:sp>
    </p:spTree>
    <p:extLst>
      <p:ext uri="{BB962C8B-B14F-4D97-AF65-F5344CB8AC3E}">
        <p14:creationId xmlns:p14="http://schemas.microsoft.com/office/powerpoint/2010/main" val="112418001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686800" cy="1143000"/>
          </a:xfrm>
        </p:spPr>
        <p:txBody>
          <a:bodyPr>
            <a:normAutofit fontScale="90000"/>
          </a:bodyPr>
          <a:lstStyle/>
          <a:p>
            <a:pPr algn="ctr" eaLnBrk="1" fontAlgn="auto" hangingPunct="1">
              <a:spcAft>
                <a:spcPts val="0"/>
              </a:spcAft>
              <a:defRPr/>
            </a:pPr>
            <a:r>
              <a:rPr lang="tr-TR" dirty="0"/>
              <a:t>3. Aşamada NELERE DİKKAT ETMELİYİZ?</a:t>
            </a:r>
            <a:br>
              <a:rPr lang="tr-TR" dirty="0"/>
            </a:br>
            <a:endParaRPr lang="tr-TR" dirty="0"/>
          </a:p>
        </p:txBody>
      </p:sp>
      <p:sp>
        <p:nvSpPr>
          <p:cNvPr id="3" name="2 İçerik Yer Tutucusu"/>
          <p:cNvSpPr>
            <a:spLocks noGrp="1"/>
          </p:cNvSpPr>
          <p:nvPr>
            <p:ph idx="1"/>
          </p:nvPr>
        </p:nvSpPr>
        <p:spPr>
          <a:xfrm>
            <a:off x="285750" y="1714500"/>
            <a:ext cx="8686800" cy="4525963"/>
          </a:xfrm>
        </p:spPr>
        <p:txBody>
          <a:bodyPr>
            <a:normAutofit fontScale="85000" lnSpcReduction="10000"/>
          </a:bodyPr>
          <a:lstStyle/>
          <a:p>
            <a:pPr eaLnBrk="1" fontAlgn="auto" hangingPunct="1">
              <a:spcAft>
                <a:spcPts val="0"/>
              </a:spcAft>
              <a:buClrTx/>
              <a:buFont typeface="Wingdings" pitchFamily="2" charset="2"/>
              <a:buChar char="Ø"/>
              <a:defRPr/>
            </a:pPr>
            <a:r>
              <a:rPr lang="tr-TR" dirty="0"/>
              <a:t>Gözlerini aniden açıyor mu?</a:t>
            </a:r>
          </a:p>
          <a:p>
            <a:pPr eaLnBrk="1" fontAlgn="auto" hangingPunct="1">
              <a:spcAft>
                <a:spcPts val="0"/>
              </a:spcAft>
              <a:buClrTx/>
              <a:buFont typeface="Wingdings" pitchFamily="2" charset="2"/>
              <a:buChar char="Ø"/>
              <a:defRPr/>
            </a:pPr>
            <a:endParaRPr lang="tr-TR" dirty="0"/>
          </a:p>
          <a:p>
            <a:pPr eaLnBrk="1" fontAlgn="auto" hangingPunct="1">
              <a:spcAft>
                <a:spcPts val="0"/>
              </a:spcAft>
              <a:buClrTx/>
              <a:buFont typeface="Wingdings" pitchFamily="2" charset="2"/>
              <a:buChar char="Ø"/>
              <a:defRPr/>
            </a:pPr>
            <a:r>
              <a:rPr lang="tr-TR" dirty="0"/>
              <a:t>Açtıktan sonra sizin komutunuzu beklemeden hemen kapatıyor mu? </a:t>
            </a:r>
          </a:p>
          <a:p>
            <a:pPr eaLnBrk="1" fontAlgn="auto" hangingPunct="1">
              <a:spcAft>
                <a:spcPts val="0"/>
              </a:spcAft>
              <a:buClrTx/>
              <a:buFont typeface="Wingdings" pitchFamily="2" charset="2"/>
              <a:buChar char="Ø"/>
              <a:defRPr/>
            </a:pPr>
            <a:endParaRPr lang="tr-TR" dirty="0"/>
          </a:p>
          <a:p>
            <a:pPr eaLnBrk="1" fontAlgn="auto" hangingPunct="1">
              <a:spcAft>
                <a:spcPts val="0"/>
              </a:spcAft>
              <a:buClrTx/>
              <a:buFont typeface="Wingdings" pitchFamily="2" charset="2"/>
              <a:buChar char="Ø"/>
              <a:defRPr/>
            </a:pPr>
            <a:r>
              <a:rPr lang="tr-TR" dirty="0"/>
              <a:t>Anlamlı anlamlı bakıyor mu? </a:t>
            </a:r>
          </a:p>
          <a:p>
            <a:pPr eaLnBrk="1" fontAlgn="auto" hangingPunct="1">
              <a:spcAft>
                <a:spcPts val="0"/>
              </a:spcAft>
              <a:buClrTx/>
              <a:buFont typeface="Wingdings" pitchFamily="2" charset="2"/>
              <a:buChar char="Ø"/>
              <a:defRPr/>
            </a:pPr>
            <a:endParaRPr lang="tr-TR" dirty="0"/>
          </a:p>
          <a:p>
            <a:pPr eaLnBrk="1" fontAlgn="auto" hangingPunct="1">
              <a:spcAft>
                <a:spcPts val="0"/>
              </a:spcAft>
              <a:buClrTx/>
              <a:buFont typeface="Wingdings" pitchFamily="2" charset="2"/>
              <a:buChar char="Ø"/>
              <a:defRPr/>
            </a:pPr>
            <a:r>
              <a:rPr lang="tr-TR" dirty="0"/>
              <a:t>Kapat komutunu beklemeden gözlerini kapatıyor mu?</a:t>
            </a:r>
          </a:p>
          <a:p>
            <a:pPr eaLnBrk="1" fontAlgn="auto" hangingPunct="1">
              <a:spcAft>
                <a:spcPts val="0"/>
              </a:spcAft>
              <a:buFont typeface="Wingdings 2"/>
              <a:buChar char=""/>
              <a:defRPr/>
            </a:pPr>
            <a:endParaRPr lang="tr-TR" dirty="0"/>
          </a:p>
          <a:p>
            <a:pPr eaLnBrk="1" fontAlgn="auto" hangingPunct="1">
              <a:spcAft>
                <a:spcPts val="0"/>
              </a:spcAft>
              <a:buFont typeface="Wingdings 2"/>
              <a:buChar char=""/>
              <a:defRPr/>
            </a:pPr>
            <a:r>
              <a:rPr lang="tr-TR" dirty="0"/>
              <a:t> Bu kademeden sonra oluşmuş gevşekliği test ederiz. </a:t>
            </a:r>
          </a:p>
          <a:p>
            <a:pPr eaLnBrk="1" fontAlgn="auto" hangingPunct="1">
              <a:spcAft>
                <a:spcPts val="0"/>
              </a:spcAft>
              <a:buFont typeface="Wingdings 2"/>
              <a:buChar char=""/>
              <a:defRPr/>
            </a:pPr>
            <a:endParaRPr lang="tr-TR" dirty="0"/>
          </a:p>
        </p:txBody>
      </p:sp>
    </p:spTree>
    <p:extLst>
      <p:ext uri="{BB962C8B-B14F-4D97-AF65-F5344CB8AC3E}">
        <p14:creationId xmlns:p14="http://schemas.microsoft.com/office/powerpoint/2010/main" val="421335793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pPr algn="ctr" eaLnBrk="1" fontAlgn="auto" hangingPunct="1">
              <a:spcAft>
                <a:spcPts val="0"/>
              </a:spcAft>
              <a:defRPr/>
            </a:pPr>
            <a:r>
              <a:rPr lang="tr-TR" b="1" dirty="0"/>
              <a:t>4. aşama:</a:t>
            </a:r>
            <a:br>
              <a:rPr lang="tr-TR" b="1" dirty="0"/>
            </a:br>
            <a:r>
              <a:rPr lang="tr-TR" b="1" dirty="0"/>
              <a:t> Fiziksel gevşekliğin test edilmesi</a:t>
            </a:r>
            <a:br>
              <a:rPr lang="tr-TR" b="1" dirty="0"/>
            </a:br>
            <a:endParaRPr lang="tr-TR" dirty="0"/>
          </a:p>
        </p:txBody>
      </p:sp>
      <p:sp>
        <p:nvSpPr>
          <p:cNvPr id="3" name="2 İçerik Yer Tutucusu"/>
          <p:cNvSpPr>
            <a:spLocks noGrp="1"/>
          </p:cNvSpPr>
          <p:nvPr>
            <p:ph idx="1"/>
          </p:nvPr>
        </p:nvSpPr>
        <p:spPr>
          <a:xfrm>
            <a:off x="304800" y="1554163"/>
            <a:ext cx="8686800" cy="5018087"/>
          </a:xfrm>
        </p:spPr>
        <p:txBody>
          <a:bodyPr>
            <a:normAutofit lnSpcReduction="10000"/>
          </a:bodyPr>
          <a:lstStyle/>
          <a:p>
            <a:pPr eaLnBrk="1" fontAlgn="auto" hangingPunct="1">
              <a:spcAft>
                <a:spcPts val="0"/>
              </a:spcAft>
              <a:buClr>
                <a:schemeClr val="tx1"/>
              </a:buClr>
              <a:buFont typeface="Wingdings 2"/>
              <a:buChar char=""/>
              <a:defRPr/>
            </a:pPr>
            <a:r>
              <a:rPr lang="tr-TR" sz="2800" dirty="0"/>
              <a:t>Yeterli fiziksel gevşeklik oluştuğu anlaşılmalıdır.</a:t>
            </a:r>
          </a:p>
          <a:p>
            <a:pPr eaLnBrk="1" fontAlgn="auto" hangingPunct="1">
              <a:spcAft>
                <a:spcPts val="0"/>
              </a:spcAft>
              <a:buClr>
                <a:schemeClr val="tx1"/>
              </a:buClr>
              <a:buFont typeface="Wingdings 2"/>
              <a:buNone/>
              <a:defRPr/>
            </a:pPr>
            <a:endParaRPr lang="tr-TR" sz="2800" dirty="0"/>
          </a:p>
          <a:p>
            <a:pPr eaLnBrk="1" fontAlgn="auto" hangingPunct="1">
              <a:spcAft>
                <a:spcPts val="0"/>
              </a:spcAft>
              <a:buClr>
                <a:schemeClr val="tx1"/>
              </a:buClr>
              <a:buFont typeface="Wingdings 2"/>
              <a:buChar char=""/>
              <a:defRPr/>
            </a:pPr>
            <a:r>
              <a:rPr lang="tr-TR" sz="2800" dirty="0"/>
              <a:t>Bu nedenle kolların tamamen gevşek olması gerekir. </a:t>
            </a:r>
          </a:p>
          <a:p>
            <a:pPr eaLnBrk="1" fontAlgn="auto" hangingPunct="1">
              <a:spcAft>
                <a:spcPts val="0"/>
              </a:spcAft>
              <a:buClr>
                <a:schemeClr val="tx1"/>
              </a:buClr>
              <a:buFont typeface="Wingdings 2"/>
              <a:buNone/>
              <a:defRPr/>
            </a:pPr>
            <a:endParaRPr lang="tr-TR" sz="2800" dirty="0"/>
          </a:p>
          <a:p>
            <a:pPr eaLnBrk="1" fontAlgn="auto" hangingPunct="1">
              <a:spcAft>
                <a:spcPts val="0"/>
              </a:spcAft>
              <a:buClr>
                <a:schemeClr val="tx1"/>
              </a:buClr>
              <a:buFont typeface="Wingdings 2"/>
              <a:buChar char=""/>
              <a:defRPr/>
            </a:pPr>
            <a:r>
              <a:rPr lang="tr-TR" sz="2800" dirty="0"/>
              <a:t>Kollar cansız bir insan kolu gibi, hamur gibi, ıslak bir bez gibi yumuşak olmalıdır. </a:t>
            </a:r>
          </a:p>
          <a:p>
            <a:pPr eaLnBrk="1" fontAlgn="auto" hangingPunct="1">
              <a:spcAft>
                <a:spcPts val="0"/>
              </a:spcAft>
              <a:buClr>
                <a:schemeClr val="tx1"/>
              </a:buClr>
              <a:buFont typeface="Wingdings 2"/>
              <a:buNone/>
              <a:defRPr/>
            </a:pPr>
            <a:endParaRPr lang="tr-TR" sz="2800" dirty="0"/>
          </a:p>
          <a:p>
            <a:pPr eaLnBrk="1" fontAlgn="auto" hangingPunct="1">
              <a:spcAft>
                <a:spcPts val="0"/>
              </a:spcAft>
              <a:buClr>
                <a:schemeClr val="tx1"/>
              </a:buClr>
              <a:buFont typeface="Wingdings 2"/>
              <a:buChar char=""/>
              <a:defRPr/>
            </a:pPr>
            <a:r>
              <a:rPr lang="tr-TR" sz="2800" dirty="0"/>
              <a:t>Hiçbir bilinçli müdahale olmamalıdır. </a:t>
            </a:r>
          </a:p>
          <a:p>
            <a:pPr eaLnBrk="1" fontAlgn="auto" hangingPunct="1">
              <a:spcAft>
                <a:spcPts val="0"/>
              </a:spcAft>
              <a:buClr>
                <a:schemeClr val="tx1"/>
              </a:buClr>
              <a:buFont typeface="Wingdings 2"/>
              <a:buChar char=""/>
              <a:defRPr/>
            </a:pPr>
            <a:endParaRPr lang="tr-TR" sz="2800" dirty="0"/>
          </a:p>
          <a:p>
            <a:pPr eaLnBrk="1" fontAlgn="auto" hangingPunct="1">
              <a:spcAft>
                <a:spcPts val="0"/>
              </a:spcAft>
              <a:buClr>
                <a:schemeClr val="tx1"/>
              </a:buClr>
              <a:buFont typeface="Wingdings 2"/>
              <a:buChar char=""/>
              <a:defRPr/>
            </a:pPr>
            <a:r>
              <a:rPr lang="tr-TR" sz="2800" dirty="0"/>
              <a:t>Kol kaldırılır, sonrada bırakılır. Kol cansız bir nesne gibi düşerse, fiziksel gevşeme tam demektir. </a:t>
            </a:r>
          </a:p>
          <a:p>
            <a:pPr eaLnBrk="1" fontAlgn="auto" hangingPunct="1">
              <a:spcAft>
                <a:spcPts val="0"/>
              </a:spcAft>
              <a:buFont typeface="Wingdings 2"/>
              <a:buChar char=""/>
              <a:defRPr/>
            </a:pPr>
            <a:endParaRPr lang="tr-TR" dirty="0"/>
          </a:p>
        </p:txBody>
      </p:sp>
    </p:spTree>
    <p:extLst>
      <p:ext uri="{BB962C8B-B14F-4D97-AF65-F5344CB8AC3E}">
        <p14:creationId xmlns:p14="http://schemas.microsoft.com/office/powerpoint/2010/main" val="370503924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85720" y="285728"/>
            <a:ext cx="8686800" cy="838200"/>
          </a:xfrm>
        </p:spPr>
        <p:txBody>
          <a:bodyPr/>
          <a:lstStyle/>
          <a:p>
            <a:pPr algn="ctr" eaLnBrk="1" fontAlgn="auto" hangingPunct="1">
              <a:spcAft>
                <a:spcPts val="0"/>
              </a:spcAft>
              <a:defRPr/>
            </a:pPr>
            <a:r>
              <a:rPr lang="tr-TR" dirty="0"/>
              <a:t>4. Aşamada verilebilecek telkinler</a:t>
            </a:r>
          </a:p>
        </p:txBody>
      </p:sp>
      <p:sp>
        <p:nvSpPr>
          <p:cNvPr id="25603" name="2 İçerik Yer Tutucusu"/>
          <p:cNvSpPr>
            <a:spLocks noGrp="1"/>
          </p:cNvSpPr>
          <p:nvPr>
            <p:ph idx="1"/>
          </p:nvPr>
        </p:nvSpPr>
        <p:spPr>
          <a:xfrm>
            <a:off x="285750" y="1214438"/>
            <a:ext cx="8686800" cy="5643562"/>
          </a:xfrm>
        </p:spPr>
        <p:txBody>
          <a:bodyPr/>
          <a:lstStyle/>
          <a:p>
            <a:pPr eaLnBrk="1" hangingPunct="1">
              <a:buFont typeface="Wingdings 2" pitchFamily="18" charset="2"/>
              <a:buNone/>
            </a:pPr>
            <a:r>
              <a:rPr lang="tr-TR" sz="2300" i="1"/>
              <a:t>-	</a:t>
            </a:r>
            <a:r>
              <a:rPr lang="tr-TR" sz="2500" i="1"/>
              <a:t>Şimdi benim telkinlerimi izlemişsen, tüm bedenin gevşemiş olması gerekiyor. </a:t>
            </a:r>
          </a:p>
          <a:p>
            <a:pPr eaLnBrk="1" hangingPunct="1">
              <a:buFont typeface="Wingdings 2" pitchFamily="18" charset="2"/>
              <a:buNone/>
            </a:pPr>
            <a:r>
              <a:rPr lang="tr-TR" sz="2500" i="1"/>
              <a:t>-	Birazdan  her iki elini sırayla hafifçe bilekten tutup havaya kaldıracağım ve sonra bırakacağım. </a:t>
            </a:r>
          </a:p>
          <a:p>
            <a:pPr eaLnBrk="1" hangingPunct="1">
              <a:buFont typeface="Wingdings 2" pitchFamily="18" charset="2"/>
              <a:buNone/>
            </a:pPr>
            <a:r>
              <a:rPr lang="tr-TR" sz="2500" i="1"/>
              <a:t>-	Benim kaldırma ve bırakma işlemim sırasında sen bana kesinlikle yardımcı olmayacaksın. </a:t>
            </a:r>
          </a:p>
          <a:p>
            <a:pPr eaLnBrk="1" hangingPunct="1">
              <a:buFont typeface="Wingdings 2" pitchFamily="18" charset="2"/>
              <a:buNone/>
            </a:pPr>
            <a:r>
              <a:rPr lang="tr-TR" sz="2500" i="1"/>
              <a:t>-	O kol sanki sen bezden yapılmış bir bebekmişsin gibi, sanki cansız bir mankenin koluymuş gibi, sadece benim gücümle havaya kalkacak, ben bırakınca kendiliğinden düşecek</a:t>
            </a:r>
          </a:p>
          <a:p>
            <a:pPr eaLnBrk="1" hangingPunct="1">
              <a:buFont typeface="Wingdings 2" pitchFamily="18" charset="2"/>
              <a:buNone/>
            </a:pPr>
            <a:r>
              <a:rPr lang="tr-TR" sz="2500" i="1"/>
              <a:t>- 	Elin koltuğun kenarına ya da vücuduna temas ettiği anda çok hoş bir duygu bedenini saracak ve kat kat daha derin bir hipnoza gireceksin. </a:t>
            </a:r>
          </a:p>
          <a:p>
            <a:pPr eaLnBrk="1" hangingPunct="1">
              <a:buFont typeface="Wingdings 2" pitchFamily="18" charset="2"/>
              <a:buNone/>
            </a:pPr>
            <a:r>
              <a:rPr lang="tr-TR" sz="2500" i="1"/>
              <a:t>-	Bunu istiyorsun ve bunu sağlıyorsun. Şimdi başlıyoruz.</a:t>
            </a:r>
            <a:endParaRPr lang="tr-TR" sz="2500"/>
          </a:p>
        </p:txBody>
      </p:sp>
    </p:spTree>
    <p:extLst>
      <p:ext uri="{BB962C8B-B14F-4D97-AF65-F5344CB8AC3E}">
        <p14:creationId xmlns:p14="http://schemas.microsoft.com/office/powerpoint/2010/main" val="276216375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85720" y="785794"/>
            <a:ext cx="8686800" cy="838200"/>
          </a:xfrm>
        </p:spPr>
        <p:txBody>
          <a:bodyPr>
            <a:normAutofit fontScale="90000"/>
          </a:bodyPr>
          <a:lstStyle/>
          <a:p>
            <a:pPr algn="ctr" eaLnBrk="1" fontAlgn="auto" hangingPunct="1">
              <a:spcAft>
                <a:spcPts val="0"/>
              </a:spcAft>
              <a:defRPr/>
            </a:pPr>
            <a:r>
              <a:rPr lang="tr-TR" dirty="0"/>
              <a:t>Zİhinsel gevşeklik oluşturma aşamasına geçiş telkinleri</a:t>
            </a:r>
          </a:p>
        </p:txBody>
      </p:sp>
      <p:sp>
        <p:nvSpPr>
          <p:cNvPr id="26627" name="2 İçerik Yer Tutucusu"/>
          <p:cNvSpPr>
            <a:spLocks noGrp="1"/>
          </p:cNvSpPr>
          <p:nvPr>
            <p:ph idx="1"/>
          </p:nvPr>
        </p:nvSpPr>
        <p:spPr>
          <a:xfrm>
            <a:off x="214313" y="2332038"/>
            <a:ext cx="6715125" cy="4525962"/>
          </a:xfrm>
        </p:spPr>
        <p:txBody>
          <a:bodyPr/>
          <a:lstStyle/>
          <a:p>
            <a:pPr eaLnBrk="1" hangingPunct="1">
              <a:buFontTx/>
              <a:buChar char="-"/>
            </a:pPr>
            <a:r>
              <a:rPr lang="tr-TR" i="1" dirty="0"/>
              <a:t>Bedenin iyice kadar gevşedi. </a:t>
            </a:r>
          </a:p>
          <a:p>
            <a:pPr eaLnBrk="1" hangingPunct="1">
              <a:buFontTx/>
              <a:buChar char="-"/>
            </a:pPr>
            <a:r>
              <a:rPr lang="tr-TR" i="1" dirty="0"/>
              <a:t>Tam istediğim düzeyde gevşedi. </a:t>
            </a:r>
          </a:p>
          <a:p>
            <a:pPr eaLnBrk="1" hangingPunct="1">
              <a:buFontTx/>
              <a:buChar char="-"/>
            </a:pPr>
            <a:r>
              <a:rPr lang="tr-TR" i="1" dirty="0"/>
              <a:t>Tüm kasların, tüm sinirlerin, tüm hücrelerin cansız, bir uykuda. </a:t>
            </a:r>
          </a:p>
          <a:p>
            <a:pPr eaLnBrk="1" hangingPunct="1"/>
            <a:endParaRPr lang="tr-TR" i="1" dirty="0"/>
          </a:p>
          <a:p>
            <a:pPr eaLnBrk="1" hangingPunct="1"/>
            <a:r>
              <a:rPr lang="tr-TR" i="1" dirty="0"/>
              <a:t>Şimdi bu bedensel gevşekliğine zihnini de uydurmak istiyorum.</a:t>
            </a:r>
            <a:endParaRPr lang="tr-TR" dirty="0"/>
          </a:p>
          <a:p>
            <a:pPr eaLnBrk="1" hangingPunct="1"/>
            <a:endParaRPr lang="tr-TR" dirty="0"/>
          </a:p>
        </p:txBody>
      </p:sp>
      <p:pic>
        <p:nvPicPr>
          <p:cNvPr id="26628" name="6 Resim" descr="hypnosisREX2908_228x344.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688" y="2428875"/>
            <a:ext cx="21717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87644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1428728" y="1000108"/>
            <a:ext cx="6491302" cy="838200"/>
          </a:xfrm>
        </p:spPr>
        <p:txBody>
          <a:bodyPr>
            <a:noAutofit/>
          </a:bodyPr>
          <a:lstStyle/>
          <a:p>
            <a:pPr algn="ctr" eaLnBrk="1" fontAlgn="auto" hangingPunct="1">
              <a:spcAft>
                <a:spcPts val="0"/>
              </a:spcAft>
              <a:defRPr/>
            </a:pPr>
            <a:r>
              <a:rPr lang="tr-TR" sz="4000" b="1" dirty="0"/>
              <a:t>2. BÖLÜM</a:t>
            </a:r>
            <a:br>
              <a:rPr lang="tr-TR" sz="4000" b="1" dirty="0"/>
            </a:br>
            <a:r>
              <a:rPr lang="tr-TR" sz="4000" u="sng" dirty="0"/>
              <a:t>ZİHİNSEL gevşekliği oluşturmak</a:t>
            </a:r>
            <a:br>
              <a:rPr lang="tr-TR" sz="4000" u="sng" dirty="0"/>
            </a:br>
            <a:endParaRPr lang="tr-TR" sz="4000" b="1" dirty="0"/>
          </a:p>
        </p:txBody>
      </p:sp>
      <p:sp>
        <p:nvSpPr>
          <p:cNvPr id="27651" name="2 İçerik Yer Tutucusu"/>
          <p:cNvSpPr>
            <a:spLocks noGrp="1"/>
          </p:cNvSpPr>
          <p:nvPr>
            <p:ph idx="1"/>
          </p:nvPr>
        </p:nvSpPr>
        <p:spPr>
          <a:xfrm>
            <a:off x="285750" y="2332038"/>
            <a:ext cx="8686800" cy="4525962"/>
          </a:xfrm>
        </p:spPr>
        <p:txBody>
          <a:bodyPr/>
          <a:lstStyle/>
          <a:p>
            <a:pPr eaLnBrk="1" hangingPunct="1"/>
            <a:endParaRPr lang="tr-TR"/>
          </a:p>
          <a:p>
            <a:pPr eaLnBrk="1" hangingPunct="1"/>
            <a:endParaRPr lang="tr-TR"/>
          </a:p>
          <a:p>
            <a:pPr eaLnBrk="1" hangingPunct="1"/>
            <a:endParaRPr lang="tr-TR"/>
          </a:p>
        </p:txBody>
      </p:sp>
      <p:pic>
        <p:nvPicPr>
          <p:cNvPr id="27652" name="5 Resim" descr="logo.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71750" y="2286000"/>
            <a:ext cx="4013200" cy="434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7616240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85720" y="714356"/>
            <a:ext cx="8686800" cy="838200"/>
          </a:xfrm>
        </p:spPr>
        <p:txBody>
          <a:bodyPr>
            <a:normAutofit fontScale="90000"/>
          </a:bodyPr>
          <a:lstStyle/>
          <a:p>
            <a:pPr algn="ctr" eaLnBrk="1" fontAlgn="auto" hangingPunct="1">
              <a:spcAft>
                <a:spcPts val="0"/>
              </a:spcAft>
              <a:defRPr/>
            </a:pPr>
            <a:r>
              <a:rPr lang="tr-TR" b="1" dirty="0"/>
              <a:t>5. AŞAMA</a:t>
            </a:r>
            <a:br>
              <a:rPr lang="tr-TR" b="1" dirty="0"/>
            </a:br>
            <a:r>
              <a:rPr lang="tr-TR" b="1" dirty="0"/>
              <a:t>Zihinsel gevşeklİğİn sağlanmasI</a:t>
            </a:r>
            <a:br>
              <a:rPr lang="tr-TR" b="1" dirty="0"/>
            </a:br>
            <a:endParaRPr lang="tr-TR" dirty="0"/>
          </a:p>
        </p:txBody>
      </p:sp>
      <p:sp>
        <p:nvSpPr>
          <p:cNvPr id="28675" name="2 İçerik Yer Tutucusu"/>
          <p:cNvSpPr>
            <a:spLocks noGrp="1"/>
          </p:cNvSpPr>
          <p:nvPr>
            <p:ph idx="1"/>
          </p:nvPr>
        </p:nvSpPr>
        <p:spPr>
          <a:xfrm>
            <a:off x="285750" y="1857375"/>
            <a:ext cx="8686800" cy="4525963"/>
          </a:xfrm>
        </p:spPr>
        <p:txBody>
          <a:bodyPr/>
          <a:lstStyle/>
          <a:p>
            <a:pPr eaLnBrk="1" hangingPunct="1">
              <a:buClrTx/>
            </a:pPr>
            <a:r>
              <a:rPr lang="tr-TR"/>
              <a:t>Zihinsel gevşekliğin sağlanması için sujeye sayı saydırılması gerekir. </a:t>
            </a:r>
          </a:p>
          <a:p>
            <a:pPr eaLnBrk="1" hangingPunct="1">
              <a:buClrTx/>
            </a:pPr>
            <a:endParaRPr lang="tr-TR"/>
          </a:p>
          <a:p>
            <a:pPr eaLnBrk="1" hangingPunct="1">
              <a:buClrTx/>
            </a:pPr>
            <a:r>
              <a:rPr lang="tr-TR"/>
              <a:t>Suje sayıları sayarken, zihinden sayıların kaybolacağı telkini verilir. </a:t>
            </a:r>
          </a:p>
          <a:p>
            <a:pPr eaLnBrk="1" hangingPunct="1">
              <a:buClrTx/>
            </a:pPr>
            <a:endParaRPr lang="tr-TR"/>
          </a:p>
          <a:p>
            <a:pPr eaLnBrk="1" hangingPunct="1">
              <a:buClrTx/>
            </a:pPr>
            <a:r>
              <a:rPr lang="tr-TR"/>
              <a:t>Sayılar kaybolursa zihin tamamen gevşemiş demektir. </a:t>
            </a:r>
          </a:p>
          <a:p>
            <a:pPr eaLnBrk="1" hangingPunct="1"/>
            <a:endParaRPr lang="tr-TR"/>
          </a:p>
        </p:txBody>
      </p:sp>
    </p:spTree>
    <p:extLst>
      <p:ext uri="{BB962C8B-B14F-4D97-AF65-F5344CB8AC3E}">
        <p14:creationId xmlns:p14="http://schemas.microsoft.com/office/powerpoint/2010/main" val="258049805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85720" y="142852"/>
            <a:ext cx="8686800" cy="838200"/>
          </a:xfrm>
        </p:spPr>
        <p:txBody>
          <a:bodyPr>
            <a:normAutofit fontScale="90000"/>
          </a:bodyPr>
          <a:lstStyle/>
          <a:p>
            <a:pPr algn="ctr" eaLnBrk="1" fontAlgn="auto" hangingPunct="1">
              <a:spcAft>
                <a:spcPts val="0"/>
              </a:spcAft>
              <a:defRPr/>
            </a:pPr>
            <a:r>
              <a:rPr lang="tr-TR" dirty="0"/>
              <a:t>BU AŞAMADA NASIL TELKİN VERİLMELİ?</a:t>
            </a:r>
          </a:p>
        </p:txBody>
      </p:sp>
      <p:sp>
        <p:nvSpPr>
          <p:cNvPr id="3" name="2 İçerik Yer Tutucusu"/>
          <p:cNvSpPr>
            <a:spLocks noGrp="1"/>
          </p:cNvSpPr>
          <p:nvPr>
            <p:ph idx="1"/>
          </p:nvPr>
        </p:nvSpPr>
        <p:spPr>
          <a:xfrm>
            <a:off x="285750" y="1071563"/>
            <a:ext cx="8686800" cy="5786437"/>
          </a:xfrm>
        </p:spPr>
        <p:txBody>
          <a:bodyPr>
            <a:normAutofit fontScale="70000" lnSpcReduction="20000"/>
          </a:bodyPr>
          <a:lstStyle/>
          <a:p>
            <a:pPr eaLnBrk="1" fontAlgn="auto" hangingPunct="1">
              <a:spcAft>
                <a:spcPts val="0"/>
              </a:spcAft>
              <a:buFont typeface="Wingdings 2"/>
              <a:buNone/>
              <a:defRPr/>
            </a:pPr>
            <a:r>
              <a:rPr lang="tr-TR" sz="4000" b="1" i="1" dirty="0"/>
              <a:t>- 	</a:t>
            </a:r>
            <a:r>
              <a:rPr lang="tr-TR" sz="4200" i="1" dirty="0"/>
              <a:t>Zihnin gevşediği zaman çok hoş bir duruma ulaşacaksın. Ulaştığın halin keyfinden çok hoşlanacaksın. </a:t>
            </a:r>
            <a:endParaRPr lang="tr-TR" sz="4200" dirty="0"/>
          </a:p>
          <a:p>
            <a:pPr marL="0" indent="0" eaLnBrk="1" fontAlgn="auto" hangingPunct="1">
              <a:spcAft>
                <a:spcPts val="0"/>
              </a:spcAft>
              <a:buNone/>
              <a:defRPr/>
            </a:pPr>
            <a:endParaRPr lang="tr-TR" sz="4200" dirty="0"/>
          </a:p>
          <a:p>
            <a:pPr eaLnBrk="1" fontAlgn="auto" hangingPunct="1">
              <a:spcAft>
                <a:spcPts val="0"/>
              </a:spcAft>
              <a:buFont typeface="Wingdings 2"/>
              <a:buNone/>
              <a:defRPr/>
            </a:pPr>
            <a:r>
              <a:rPr lang="tr-TR" sz="4200" i="1" dirty="0"/>
              <a:t>- 	Şimdi zihnini gevşetelim. Aynı bedenini gevşetir gibi zihnini gevşetmeye başla. </a:t>
            </a:r>
          </a:p>
          <a:p>
            <a:pPr eaLnBrk="1" fontAlgn="auto" hangingPunct="1">
              <a:spcAft>
                <a:spcPts val="0"/>
              </a:spcAft>
              <a:buFontTx/>
              <a:buChar char="-"/>
              <a:defRPr/>
            </a:pPr>
            <a:endParaRPr lang="tr-TR" sz="4200" i="1" dirty="0"/>
          </a:p>
          <a:p>
            <a:pPr eaLnBrk="1" fontAlgn="auto" hangingPunct="1">
              <a:spcAft>
                <a:spcPts val="0"/>
              </a:spcAft>
              <a:buFontTx/>
              <a:buChar char="-"/>
              <a:defRPr/>
            </a:pPr>
            <a:r>
              <a:rPr lang="tr-TR" sz="4200" i="1" dirty="0"/>
              <a:t>Birazdan senden, çok yumuşak ve yavaş bir şekilde birden başlayarak birer birer sayı saymaya başlamanı isteyeceğim. </a:t>
            </a:r>
          </a:p>
          <a:p>
            <a:pPr eaLnBrk="1" fontAlgn="auto" hangingPunct="1">
              <a:spcAft>
                <a:spcPts val="0"/>
              </a:spcAft>
              <a:buFontTx/>
              <a:buChar char="-"/>
              <a:defRPr/>
            </a:pPr>
            <a:endParaRPr lang="tr-TR" sz="4200" i="1" dirty="0"/>
          </a:p>
          <a:p>
            <a:pPr eaLnBrk="1" fontAlgn="auto" hangingPunct="1">
              <a:spcAft>
                <a:spcPts val="0"/>
              </a:spcAft>
              <a:buFontTx/>
              <a:buChar char="-"/>
              <a:defRPr/>
            </a:pPr>
            <a:r>
              <a:rPr lang="tr-TR" sz="4200" i="1" dirty="0"/>
              <a:t>Her sayıdan sonra zihnini iki kat gevşemesini iste. </a:t>
            </a:r>
          </a:p>
          <a:p>
            <a:pPr eaLnBrk="1" fontAlgn="auto" hangingPunct="1">
              <a:spcAft>
                <a:spcPts val="0"/>
              </a:spcAft>
              <a:buFontTx/>
              <a:buChar char="-"/>
              <a:defRPr/>
            </a:pPr>
            <a:endParaRPr lang="tr-TR" sz="4200" i="1" dirty="0"/>
          </a:p>
          <a:p>
            <a:pPr marL="0" indent="0" eaLnBrk="1" fontAlgn="auto" hangingPunct="1">
              <a:spcAft>
                <a:spcPts val="0"/>
              </a:spcAft>
              <a:buNone/>
              <a:defRPr/>
            </a:pPr>
            <a:r>
              <a:rPr lang="tr-TR" dirty="0"/>
              <a:t> </a:t>
            </a:r>
          </a:p>
          <a:p>
            <a:pPr eaLnBrk="1" fontAlgn="auto" hangingPunct="1">
              <a:spcAft>
                <a:spcPts val="0"/>
              </a:spcAft>
              <a:buFont typeface="Wingdings 2"/>
              <a:buChar char=""/>
              <a:defRPr/>
            </a:pPr>
            <a:endParaRPr lang="tr-TR" dirty="0"/>
          </a:p>
        </p:txBody>
      </p:sp>
    </p:spTree>
    <p:extLst>
      <p:ext uri="{BB962C8B-B14F-4D97-AF65-F5344CB8AC3E}">
        <p14:creationId xmlns:p14="http://schemas.microsoft.com/office/powerpoint/2010/main" val="90803868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0" y="274638"/>
            <a:ext cx="8991600" cy="1143000"/>
          </a:xfrm>
        </p:spPr>
        <p:txBody>
          <a:bodyPr>
            <a:normAutofit fontScale="90000"/>
          </a:bodyPr>
          <a:lstStyle/>
          <a:p>
            <a:pPr eaLnBrk="1" fontAlgn="auto" hangingPunct="1">
              <a:spcAft>
                <a:spcPts val="0"/>
              </a:spcAft>
              <a:defRPr/>
            </a:pPr>
            <a:r>
              <a:rPr lang="tr-TR" dirty="0"/>
              <a:t>BU AŞAMADA NASIL TELKİN VERİLMELİ?</a:t>
            </a:r>
          </a:p>
        </p:txBody>
      </p:sp>
      <p:sp>
        <p:nvSpPr>
          <p:cNvPr id="3" name="2 İçerik Yer Tutucusu"/>
          <p:cNvSpPr>
            <a:spLocks noGrp="1"/>
          </p:cNvSpPr>
          <p:nvPr>
            <p:ph idx="1"/>
          </p:nvPr>
        </p:nvSpPr>
        <p:spPr/>
        <p:txBody>
          <a:bodyPr>
            <a:normAutofit fontScale="92500" lnSpcReduction="20000"/>
          </a:bodyPr>
          <a:lstStyle/>
          <a:p>
            <a:pPr eaLnBrk="1" fontAlgn="auto" hangingPunct="1">
              <a:spcAft>
                <a:spcPts val="0"/>
              </a:spcAft>
              <a:buFont typeface="Wingdings 2"/>
              <a:buNone/>
              <a:defRPr/>
            </a:pPr>
            <a:r>
              <a:rPr lang="tr-TR" i="1" dirty="0"/>
              <a:t>-	Birkaç sayı sonra- çok uzun zaman almayacak- zihnin o kadar gevşeyecek ki rakamlar bir boşluğa, karanlığa, hiçliğe  doğru kaybolacak.. Bunu arzula, kolayca başaracaksın. </a:t>
            </a:r>
          </a:p>
          <a:p>
            <a:pPr eaLnBrk="1" fontAlgn="auto" hangingPunct="1">
              <a:spcAft>
                <a:spcPts val="0"/>
              </a:spcAft>
              <a:buFontTx/>
              <a:buChar char="-"/>
              <a:defRPr/>
            </a:pPr>
            <a:endParaRPr lang="tr-TR" i="1" dirty="0"/>
          </a:p>
          <a:p>
            <a:pPr eaLnBrk="1" fontAlgn="auto" hangingPunct="1">
              <a:spcAft>
                <a:spcPts val="0"/>
              </a:spcAft>
              <a:buFont typeface="Wingdings 2"/>
              <a:buNone/>
              <a:defRPr/>
            </a:pPr>
            <a:r>
              <a:rPr lang="tr-TR" i="1" dirty="0"/>
              <a:t>-	Rakamlar kaybolduğu zaman, sağ işaret parmağını kaldır ki ne kadar başarılı olduğunu anlayayım.</a:t>
            </a:r>
          </a:p>
          <a:p>
            <a:pPr eaLnBrk="1" fontAlgn="auto" hangingPunct="1">
              <a:spcAft>
                <a:spcPts val="0"/>
              </a:spcAft>
              <a:buFontTx/>
              <a:buChar char="-"/>
              <a:defRPr/>
            </a:pPr>
            <a:endParaRPr lang="tr-TR" i="1" dirty="0"/>
          </a:p>
          <a:p>
            <a:pPr eaLnBrk="1" fontAlgn="auto" hangingPunct="1">
              <a:spcAft>
                <a:spcPts val="0"/>
              </a:spcAft>
              <a:buFont typeface="Wingdings 2"/>
              <a:buNone/>
              <a:defRPr/>
            </a:pPr>
            <a:r>
              <a:rPr lang="tr-TR" i="1" dirty="0"/>
              <a:t>-	Şimdi nasıl sayacağını sana gösteriyorum.</a:t>
            </a:r>
          </a:p>
          <a:p>
            <a:pPr eaLnBrk="1" fontAlgn="auto" hangingPunct="1">
              <a:spcAft>
                <a:spcPts val="0"/>
              </a:spcAft>
              <a:buFont typeface="Wingdings 2"/>
              <a:buChar char=""/>
              <a:defRPr/>
            </a:pPr>
            <a:endParaRPr lang="tr-TR" dirty="0"/>
          </a:p>
        </p:txBody>
      </p:sp>
    </p:spTree>
    <p:extLst>
      <p:ext uri="{BB962C8B-B14F-4D97-AF65-F5344CB8AC3E}">
        <p14:creationId xmlns:p14="http://schemas.microsoft.com/office/powerpoint/2010/main" val="50466515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85720" y="0"/>
            <a:ext cx="8686800" cy="838200"/>
          </a:xfrm>
        </p:spPr>
        <p:txBody>
          <a:bodyPr>
            <a:normAutofit fontScale="90000"/>
          </a:bodyPr>
          <a:lstStyle/>
          <a:p>
            <a:pPr algn="ctr" eaLnBrk="1" fontAlgn="auto" hangingPunct="1">
              <a:spcAft>
                <a:spcPts val="0"/>
              </a:spcAft>
              <a:defRPr/>
            </a:pPr>
            <a:r>
              <a:rPr lang="tr-TR" dirty="0"/>
              <a:t>DİKKAT EDİLMESİ GEREKEN NOKTALAR</a:t>
            </a:r>
          </a:p>
        </p:txBody>
      </p:sp>
      <p:sp>
        <p:nvSpPr>
          <p:cNvPr id="31747" name="2 İçerik Yer Tutucusu"/>
          <p:cNvSpPr>
            <a:spLocks noGrp="1"/>
          </p:cNvSpPr>
          <p:nvPr>
            <p:ph idx="1"/>
          </p:nvPr>
        </p:nvSpPr>
        <p:spPr>
          <a:xfrm>
            <a:off x="285750" y="857250"/>
            <a:ext cx="8686800" cy="5500688"/>
          </a:xfrm>
        </p:spPr>
        <p:txBody>
          <a:bodyPr>
            <a:normAutofit lnSpcReduction="10000"/>
          </a:bodyPr>
          <a:lstStyle/>
          <a:p>
            <a:pPr eaLnBrk="1" hangingPunct="1">
              <a:buClrTx/>
              <a:buFont typeface="Wingdings" pitchFamily="2" charset="2"/>
              <a:buChar char="Ø"/>
            </a:pPr>
            <a:endParaRPr lang="tr-TR" sz="3600" dirty="0"/>
          </a:p>
          <a:p>
            <a:pPr eaLnBrk="1" hangingPunct="1">
              <a:buClrTx/>
              <a:buFont typeface="Wingdings" pitchFamily="2" charset="2"/>
              <a:buChar char="Ø"/>
            </a:pPr>
            <a:r>
              <a:rPr lang="tr-TR" sz="3600" dirty="0"/>
              <a:t>Sujenin mümkün olduğunca yavaş ve derinden gelen bir sesle saymasını sağlayın. </a:t>
            </a:r>
          </a:p>
          <a:p>
            <a:pPr eaLnBrk="1" hangingPunct="1">
              <a:buClrTx/>
              <a:buFont typeface="Wingdings" pitchFamily="2" charset="2"/>
              <a:buChar char="Ø"/>
            </a:pPr>
            <a:r>
              <a:rPr lang="tr-TR" sz="3600" dirty="0"/>
              <a:t>Rakamları kaybetmesi için telkinde bulunun. </a:t>
            </a:r>
          </a:p>
          <a:p>
            <a:pPr eaLnBrk="1" hangingPunct="1">
              <a:buClrTx/>
              <a:buFont typeface="Wingdings" pitchFamily="2" charset="2"/>
              <a:buChar char="Ø"/>
            </a:pPr>
            <a:r>
              <a:rPr lang="tr-TR" sz="3600" dirty="0"/>
              <a:t>Ancak o saymaya başladıktan sonra sayı, rakam gibi kelimeler sarf etmeyin..  </a:t>
            </a:r>
          </a:p>
          <a:p>
            <a:pPr eaLnBrk="1" hangingPunct="1">
              <a:buClrTx/>
              <a:buFont typeface="Wingdings" pitchFamily="2" charset="2"/>
              <a:buChar char="Ø"/>
            </a:pPr>
            <a:r>
              <a:rPr lang="tr-TR" sz="3600" dirty="0"/>
              <a:t>Sayı ve rakam kelimeleri sujenin aklına  sayıların gelmesine neden olur. </a:t>
            </a:r>
          </a:p>
          <a:p>
            <a:pPr marL="0" indent="0" eaLnBrk="1" hangingPunct="1">
              <a:buNone/>
            </a:pPr>
            <a:r>
              <a:rPr lang="tr-TR" sz="1000" dirty="0"/>
              <a:t> </a:t>
            </a:r>
          </a:p>
          <a:p>
            <a:pPr marL="0" indent="0" eaLnBrk="1" hangingPunct="1">
              <a:buNone/>
            </a:pPr>
            <a:r>
              <a:rPr lang="tr-TR" sz="1000" dirty="0"/>
              <a:t> </a:t>
            </a:r>
          </a:p>
          <a:p>
            <a:pPr eaLnBrk="1" hangingPunct="1">
              <a:buClrTx/>
              <a:buFont typeface="Wingdings" pitchFamily="2" charset="2"/>
              <a:buChar char="Ø"/>
            </a:pPr>
            <a:endParaRPr lang="tr-TR" sz="2200" dirty="0"/>
          </a:p>
          <a:p>
            <a:pPr eaLnBrk="1" hangingPunct="1"/>
            <a:endParaRPr lang="tr-TR" sz="1000" dirty="0"/>
          </a:p>
        </p:txBody>
      </p:sp>
    </p:spTree>
    <p:extLst>
      <p:ext uri="{BB962C8B-B14F-4D97-AF65-F5344CB8AC3E}">
        <p14:creationId xmlns:p14="http://schemas.microsoft.com/office/powerpoint/2010/main" val="571225412"/>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tr-TR" dirty="0"/>
              <a:t>DİKKAT EDİLMESİ GEREKEN NOKTALAR</a:t>
            </a:r>
          </a:p>
        </p:txBody>
      </p:sp>
      <p:sp>
        <p:nvSpPr>
          <p:cNvPr id="3" name="Content Placeholder 2"/>
          <p:cNvSpPr>
            <a:spLocks noGrp="1"/>
          </p:cNvSpPr>
          <p:nvPr>
            <p:ph idx="1"/>
          </p:nvPr>
        </p:nvSpPr>
        <p:spPr/>
        <p:txBody>
          <a:bodyPr>
            <a:normAutofit fontScale="92500" lnSpcReduction="20000"/>
          </a:bodyPr>
          <a:lstStyle/>
          <a:p>
            <a:pPr>
              <a:buFont typeface="Wingdings" pitchFamily="2" charset="2"/>
              <a:buChar char="Ø"/>
            </a:pPr>
            <a:r>
              <a:rPr lang="tr-TR" dirty="0"/>
              <a:t>İndüksiyonun beden gevşeme bölümünde hızla derinleşme belirtisi gösteren sujeler rakamları kaybetmekte hiç zorlanmazlar. 5 e gelmeden rakamlar kaybolur. </a:t>
            </a:r>
          </a:p>
          <a:p>
            <a:pPr>
              <a:buFont typeface="Wingdings" pitchFamily="2" charset="2"/>
              <a:buChar char="Ø"/>
            </a:pPr>
            <a:r>
              <a:rPr lang="tr-TR" dirty="0"/>
              <a:t>Eğer sayıları kaybetme gecikmeye başlarsa sürekli olarak bu işaret parmağına vurarak </a:t>
            </a:r>
          </a:p>
          <a:p>
            <a:pPr>
              <a:buFont typeface="Wingdings" pitchFamily="2" charset="2"/>
              <a:buChar char="Ø"/>
            </a:pPr>
            <a:r>
              <a:rPr lang="tr-TR" dirty="0"/>
              <a:t>Rakam kaybolma gecikmeye devam ederse aniden alnına şok yaratacak ama acıtmayacak şiddette vurun ve daha şokun etkisi geçmeden güçlü bir telkin verin.</a:t>
            </a:r>
          </a:p>
          <a:p>
            <a:r>
              <a:rPr lang="tr-TR" sz="1100" dirty="0"/>
              <a:t> </a:t>
            </a:r>
          </a:p>
          <a:p>
            <a:endParaRPr lang="tr-TR" dirty="0"/>
          </a:p>
        </p:txBody>
      </p:sp>
    </p:spTree>
    <p:extLst>
      <p:ext uri="{BB962C8B-B14F-4D97-AF65-F5344CB8AC3E}">
        <p14:creationId xmlns:p14="http://schemas.microsoft.com/office/powerpoint/2010/main" val="374595767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pPr algn="ctr" eaLnBrk="1" fontAlgn="auto" hangingPunct="1">
              <a:spcAft>
                <a:spcPts val="0"/>
              </a:spcAft>
              <a:defRPr/>
            </a:pPr>
            <a:r>
              <a:rPr lang="tr-TR" b="1" dirty="0"/>
              <a:t>6. AŞAMA</a:t>
            </a:r>
            <a:br>
              <a:rPr lang="tr-TR" b="1" dirty="0"/>
            </a:br>
            <a:r>
              <a:rPr lang="tr-TR" b="1" dirty="0"/>
              <a:t> Zihinsel gevşekliğin derinleştirilmesi</a:t>
            </a:r>
            <a:br>
              <a:rPr lang="tr-TR" b="1" dirty="0"/>
            </a:br>
            <a:endParaRPr lang="tr-TR" dirty="0"/>
          </a:p>
        </p:txBody>
      </p:sp>
      <p:sp>
        <p:nvSpPr>
          <p:cNvPr id="3" name="2 İçerik Yer Tutucusu"/>
          <p:cNvSpPr>
            <a:spLocks noGrp="1"/>
          </p:cNvSpPr>
          <p:nvPr>
            <p:ph idx="1"/>
          </p:nvPr>
        </p:nvSpPr>
        <p:spPr>
          <a:xfrm>
            <a:off x="285750" y="1785938"/>
            <a:ext cx="5143500" cy="4857750"/>
          </a:xfrm>
        </p:spPr>
        <p:txBody>
          <a:bodyPr>
            <a:normAutofit lnSpcReduction="10000"/>
          </a:bodyPr>
          <a:lstStyle/>
          <a:p>
            <a:pPr eaLnBrk="1" fontAlgn="auto" hangingPunct="1">
              <a:spcAft>
                <a:spcPts val="0"/>
              </a:spcAft>
              <a:buFont typeface="Wingdings 2"/>
              <a:buNone/>
              <a:defRPr/>
            </a:pPr>
            <a:r>
              <a:rPr lang="tr-TR" dirty="0"/>
              <a:t>	</a:t>
            </a:r>
            <a:r>
              <a:rPr lang="tr-TR" sz="2900" dirty="0"/>
              <a:t>10 dan 1’e doğru geriye sayarken her sayıda   </a:t>
            </a:r>
            <a:r>
              <a:rPr lang="tr-TR" sz="2900" dirty="0" err="1"/>
              <a:t>sujenin</a:t>
            </a:r>
            <a:r>
              <a:rPr lang="tr-TR" sz="2900" dirty="0"/>
              <a:t> bir kademe daha gevşeyeceği telkini verilir. </a:t>
            </a:r>
          </a:p>
          <a:p>
            <a:pPr eaLnBrk="1" fontAlgn="auto" hangingPunct="1">
              <a:spcAft>
                <a:spcPts val="0"/>
              </a:spcAft>
              <a:buFont typeface="Wingdings 2"/>
              <a:buNone/>
              <a:defRPr/>
            </a:pPr>
            <a:endParaRPr lang="tr-TR" sz="2900" dirty="0"/>
          </a:p>
          <a:p>
            <a:pPr eaLnBrk="1" fontAlgn="auto" hangingPunct="1">
              <a:spcAft>
                <a:spcPts val="0"/>
              </a:spcAft>
              <a:buFont typeface="Wingdings 2"/>
              <a:buNone/>
              <a:defRPr/>
            </a:pPr>
            <a:r>
              <a:rPr lang="tr-TR" sz="2900" dirty="0"/>
              <a:t>	1’ e ulaşıldığında hem zihinsel </a:t>
            </a:r>
            <a:r>
              <a:rPr lang="tr-TR" sz="2900" dirty="0" err="1"/>
              <a:t>hemde</a:t>
            </a:r>
            <a:r>
              <a:rPr lang="tr-TR" sz="2900" dirty="0"/>
              <a:t> bedensel gevşekliği 10 kat daha artmış olacaktır.</a:t>
            </a:r>
          </a:p>
          <a:p>
            <a:pPr eaLnBrk="1" fontAlgn="auto" hangingPunct="1">
              <a:spcAft>
                <a:spcPts val="0"/>
              </a:spcAft>
              <a:buFont typeface="Wingdings 2"/>
              <a:buNone/>
              <a:defRPr/>
            </a:pPr>
            <a:endParaRPr lang="tr-TR" sz="2900" dirty="0"/>
          </a:p>
          <a:p>
            <a:pPr eaLnBrk="1" fontAlgn="auto" hangingPunct="1">
              <a:spcAft>
                <a:spcPts val="0"/>
              </a:spcAft>
              <a:buFont typeface="Wingdings 2"/>
              <a:buNone/>
              <a:defRPr/>
            </a:pPr>
            <a:r>
              <a:rPr lang="tr-TR" sz="2800" dirty="0"/>
              <a:t>	Burada </a:t>
            </a:r>
            <a:r>
              <a:rPr lang="tr-TR" sz="2800" dirty="0" err="1"/>
              <a:t>sujeden</a:t>
            </a:r>
            <a:r>
              <a:rPr lang="tr-TR" sz="2800" dirty="0"/>
              <a:t> bir merdiven hayal etmesini isteriz. </a:t>
            </a:r>
          </a:p>
          <a:p>
            <a:pPr eaLnBrk="1" fontAlgn="auto" hangingPunct="1">
              <a:spcAft>
                <a:spcPts val="0"/>
              </a:spcAft>
              <a:buFont typeface="Wingdings 2"/>
              <a:buNone/>
              <a:defRPr/>
            </a:pPr>
            <a:endParaRPr lang="tr-TR" sz="2900" dirty="0"/>
          </a:p>
        </p:txBody>
      </p:sp>
      <p:pic>
        <p:nvPicPr>
          <p:cNvPr id="32772" name="3 Resim" descr="28000_logo.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43563" y="1285875"/>
            <a:ext cx="3214687" cy="535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23110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pPr eaLnBrk="1" fontAlgn="auto" hangingPunct="1">
              <a:spcAft>
                <a:spcPts val="0"/>
              </a:spcAft>
              <a:defRPr/>
            </a:pPr>
            <a:r>
              <a:rPr lang="tr-TR" dirty="0"/>
              <a:t>6. Aşamada verilebilecek telkinler</a:t>
            </a:r>
          </a:p>
        </p:txBody>
      </p:sp>
      <p:sp>
        <p:nvSpPr>
          <p:cNvPr id="3" name="2 İçerik Yer Tutucusu"/>
          <p:cNvSpPr>
            <a:spLocks noGrp="1"/>
          </p:cNvSpPr>
          <p:nvPr>
            <p:ph idx="1"/>
          </p:nvPr>
        </p:nvSpPr>
        <p:spPr>
          <a:xfrm>
            <a:off x="0" y="1447801"/>
            <a:ext cx="8972550" cy="5105400"/>
          </a:xfrm>
        </p:spPr>
        <p:txBody>
          <a:bodyPr>
            <a:normAutofit lnSpcReduction="10000"/>
          </a:bodyPr>
          <a:lstStyle/>
          <a:p>
            <a:pPr eaLnBrk="1" fontAlgn="auto" hangingPunct="1">
              <a:spcAft>
                <a:spcPts val="0"/>
              </a:spcAft>
              <a:buFont typeface="Wingdings 2"/>
              <a:buNone/>
              <a:defRPr/>
            </a:pPr>
            <a:r>
              <a:rPr lang="tr-TR" dirty="0"/>
              <a:t>	-</a:t>
            </a:r>
            <a:r>
              <a:rPr lang="tr-TR" b="1" i="1" dirty="0"/>
              <a:t> </a:t>
            </a:r>
            <a:r>
              <a:rPr lang="tr-TR" i="1" dirty="0"/>
              <a:t>Birazdan ben 10 dan geriye doğru saymaya başlayacağım. Benim her söylediğim sayıyla, sende bir kademe daha derine gideceksin. Bir basamak daha derin hipnoza gireceksin. Ben bir sayısına ulaştığımda şu anki zihinsel ve bedensel gevşekliğin tam on kat daha artmış olacak. </a:t>
            </a:r>
            <a:endParaRPr lang="tr-TR" dirty="0"/>
          </a:p>
          <a:p>
            <a:pPr marL="0" indent="0" eaLnBrk="1" fontAlgn="auto" hangingPunct="1">
              <a:spcAft>
                <a:spcPts val="0"/>
              </a:spcAft>
              <a:buNone/>
              <a:defRPr/>
            </a:pPr>
            <a:endParaRPr lang="tr-TR" dirty="0"/>
          </a:p>
          <a:p>
            <a:pPr eaLnBrk="1" fontAlgn="auto" hangingPunct="1">
              <a:spcAft>
                <a:spcPts val="0"/>
              </a:spcAft>
              <a:buFont typeface="Wingdings 2"/>
              <a:buNone/>
              <a:defRPr/>
            </a:pPr>
            <a:r>
              <a:rPr lang="tr-TR" dirty="0"/>
              <a:t>	</a:t>
            </a:r>
            <a:r>
              <a:rPr lang="tr-TR" i="1" dirty="0"/>
              <a:t>- Şimdi kendini bir merdivenin başında hayal et. Ben her saydığımda bu merdivenden bir basamak aşağı iniyorsun ve bir kademe daha gevşiyorsun.</a:t>
            </a:r>
            <a:r>
              <a:rPr lang="tr-TR" dirty="0"/>
              <a:t> </a:t>
            </a:r>
          </a:p>
          <a:p>
            <a:pPr eaLnBrk="1" fontAlgn="auto" hangingPunct="1">
              <a:spcAft>
                <a:spcPts val="0"/>
              </a:spcAft>
              <a:buFont typeface="Wingdings 2"/>
              <a:buChar char=""/>
              <a:defRPr/>
            </a:pPr>
            <a:endParaRPr lang="tr-TR" dirty="0"/>
          </a:p>
        </p:txBody>
      </p:sp>
    </p:spTree>
    <p:extLst>
      <p:ext uri="{BB962C8B-B14F-4D97-AF65-F5344CB8AC3E}">
        <p14:creationId xmlns:p14="http://schemas.microsoft.com/office/powerpoint/2010/main" val="82821497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85720" y="785794"/>
            <a:ext cx="8686800" cy="838200"/>
          </a:xfrm>
        </p:spPr>
        <p:txBody>
          <a:bodyPr>
            <a:normAutofit fontScale="90000"/>
          </a:bodyPr>
          <a:lstStyle/>
          <a:p>
            <a:pPr algn="ctr" eaLnBrk="1" fontAlgn="auto" hangingPunct="1">
              <a:spcAft>
                <a:spcPts val="0"/>
              </a:spcAft>
              <a:defRPr/>
            </a:pPr>
            <a:r>
              <a:rPr lang="tr-TR" dirty="0"/>
              <a:t>DİKKAT EDİLMESİ GEREKEN NOKTALAR</a:t>
            </a:r>
          </a:p>
        </p:txBody>
      </p:sp>
      <p:sp>
        <p:nvSpPr>
          <p:cNvPr id="34819" name="2 İçerik Yer Tutucusu"/>
          <p:cNvSpPr>
            <a:spLocks noGrp="1"/>
          </p:cNvSpPr>
          <p:nvPr>
            <p:ph idx="1"/>
          </p:nvPr>
        </p:nvSpPr>
        <p:spPr>
          <a:xfrm>
            <a:off x="152400" y="1676400"/>
            <a:ext cx="8991600" cy="5181600"/>
          </a:xfrm>
        </p:spPr>
        <p:txBody>
          <a:bodyPr/>
          <a:lstStyle/>
          <a:p>
            <a:pPr eaLnBrk="1" hangingPunct="1"/>
            <a:endParaRPr lang="tr-TR" dirty="0"/>
          </a:p>
          <a:p>
            <a:pPr eaLnBrk="1" hangingPunct="1"/>
            <a:r>
              <a:rPr lang="tr-TR" dirty="0"/>
              <a:t>SUJENİN  NEFES VERDİĞİ ZAMANLARDA </a:t>
            </a:r>
          </a:p>
          <a:p>
            <a:pPr marL="0" indent="0" eaLnBrk="1" hangingPunct="1">
              <a:buNone/>
            </a:pPr>
            <a:r>
              <a:rPr lang="tr-TR" dirty="0"/>
              <a:t>    SAYIYI SÖYLEMEK DAHA DERİN ETKİ YARATIR.</a:t>
            </a:r>
          </a:p>
          <a:p>
            <a:pPr eaLnBrk="1" hangingPunct="1"/>
            <a:endParaRPr lang="tr-TR" dirty="0"/>
          </a:p>
          <a:p>
            <a:pPr eaLnBrk="1" hangingPunct="1"/>
            <a:r>
              <a:rPr lang="tr-TR" dirty="0"/>
              <a:t>1’ E ULAŞTIĞINDA NASIL BİR DURUMDA OLACAĞININ BEKLENTİSİNİ YARATIN</a:t>
            </a:r>
          </a:p>
        </p:txBody>
      </p:sp>
    </p:spTree>
    <p:extLst>
      <p:ext uri="{BB962C8B-B14F-4D97-AF65-F5344CB8AC3E}">
        <p14:creationId xmlns:p14="http://schemas.microsoft.com/office/powerpoint/2010/main" val="195337718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1428728" y="1285860"/>
            <a:ext cx="6491302" cy="838200"/>
          </a:xfrm>
        </p:spPr>
        <p:txBody>
          <a:bodyPr>
            <a:noAutofit/>
          </a:bodyPr>
          <a:lstStyle/>
          <a:p>
            <a:pPr algn="ctr" eaLnBrk="1" fontAlgn="auto" hangingPunct="1">
              <a:spcAft>
                <a:spcPts val="0"/>
              </a:spcAft>
              <a:defRPr/>
            </a:pPr>
            <a:r>
              <a:rPr lang="tr-TR" sz="4000" b="1" dirty="0"/>
              <a:t>3. BÖLÜM</a:t>
            </a:r>
            <a:br>
              <a:rPr lang="tr-TR" sz="4000" b="1" dirty="0"/>
            </a:br>
            <a:r>
              <a:rPr lang="tr-TR" sz="4000" dirty="0"/>
              <a:t>İKNA</a:t>
            </a:r>
            <a:br>
              <a:rPr lang="tr-TR" sz="4000" u="sng" dirty="0"/>
            </a:br>
            <a:endParaRPr lang="tr-TR" sz="4000" b="1" dirty="0"/>
          </a:p>
        </p:txBody>
      </p:sp>
      <p:pic>
        <p:nvPicPr>
          <p:cNvPr id="35843" name="5 Resim" descr="bilinçaltı.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86063" y="2428875"/>
            <a:ext cx="3929062" cy="415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0226580"/>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500042"/>
            <a:ext cx="8686800" cy="838200"/>
          </a:xfrm>
        </p:spPr>
        <p:txBody>
          <a:bodyPr>
            <a:normAutofit fontScale="90000"/>
          </a:bodyPr>
          <a:lstStyle/>
          <a:p>
            <a:pPr algn="ctr" eaLnBrk="1" fontAlgn="auto" hangingPunct="1">
              <a:spcAft>
                <a:spcPts val="0"/>
              </a:spcAft>
              <a:defRPr/>
            </a:pPr>
            <a:r>
              <a:rPr lang="tr-TR" b="1" dirty="0"/>
              <a:t>7. AŞAMA</a:t>
            </a:r>
            <a:br>
              <a:rPr lang="tr-TR" b="1" dirty="0"/>
            </a:br>
            <a:r>
              <a:rPr lang="tr-TR" b="1" dirty="0"/>
              <a:t>Gizli derinlik testinin uygulanması</a:t>
            </a:r>
            <a:endParaRPr lang="tr-TR" dirty="0"/>
          </a:p>
        </p:txBody>
      </p:sp>
      <p:sp>
        <p:nvSpPr>
          <p:cNvPr id="3" name="2 İçerik Yer Tutucusu"/>
          <p:cNvSpPr>
            <a:spLocks noGrp="1"/>
          </p:cNvSpPr>
          <p:nvPr>
            <p:ph idx="1"/>
          </p:nvPr>
        </p:nvSpPr>
        <p:spPr>
          <a:xfrm>
            <a:off x="304800" y="1554163"/>
            <a:ext cx="8686800" cy="4946650"/>
          </a:xfrm>
        </p:spPr>
        <p:txBody>
          <a:bodyPr>
            <a:normAutofit lnSpcReduction="10000"/>
          </a:bodyPr>
          <a:lstStyle/>
          <a:p>
            <a:pPr eaLnBrk="1" fontAlgn="auto" hangingPunct="1">
              <a:spcAft>
                <a:spcPts val="0"/>
              </a:spcAft>
              <a:buFont typeface="Wingdings 2"/>
              <a:buChar char=""/>
              <a:defRPr/>
            </a:pPr>
            <a:r>
              <a:rPr lang="tr-TR" dirty="0"/>
              <a:t>Derin Hipnoz halinin tam oluştuğundan emin değilsek gizli derinlik testi yaparız. </a:t>
            </a:r>
          </a:p>
          <a:p>
            <a:pPr eaLnBrk="1" fontAlgn="auto" hangingPunct="1">
              <a:spcAft>
                <a:spcPts val="0"/>
              </a:spcAft>
              <a:buFont typeface="Wingdings 2"/>
              <a:buChar char=""/>
              <a:defRPr/>
            </a:pPr>
            <a:endParaRPr lang="tr-TR" dirty="0"/>
          </a:p>
          <a:p>
            <a:pPr eaLnBrk="1" fontAlgn="auto" hangingPunct="1">
              <a:spcAft>
                <a:spcPts val="0"/>
              </a:spcAft>
              <a:buFont typeface="Wingdings 2"/>
              <a:buChar char=""/>
              <a:defRPr/>
            </a:pPr>
            <a:r>
              <a:rPr lang="tr-TR" dirty="0" err="1"/>
              <a:t>Sujeden</a:t>
            </a:r>
            <a:r>
              <a:rPr lang="tr-TR" dirty="0"/>
              <a:t> 1,2,3 diye saydıktan sonra gözlerini açmasını ve başka bir işaret yaptığımızda gözlerini kapamasını isteriz. </a:t>
            </a:r>
          </a:p>
          <a:p>
            <a:pPr eaLnBrk="1" fontAlgn="auto" hangingPunct="1">
              <a:spcAft>
                <a:spcPts val="0"/>
              </a:spcAft>
              <a:buFont typeface="Wingdings 2"/>
              <a:buChar char=""/>
              <a:defRPr/>
            </a:pPr>
            <a:endParaRPr lang="tr-TR" dirty="0"/>
          </a:p>
          <a:p>
            <a:pPr eaLnBrk="1" fontAlgn="auto" hangingPunct="1">
              <a:spcAft>
                <a:spcPts val="0"/>
              </a:spcAft>
              <a:buFont typeface="Wingdings 2"/>
              <a:buChar char=""/>
              <a:defRPr/>
            </a:pPr>
            <a:r>
              <a:rPr lang="tr-TR" dirty="0" err="1"/>
              <a:t>Suje</a:t>
            </a:r>
            <a:r>
              <a:rPr lang="tr-TR" dirty="0"/>
              <a:t> hiç şaşırmadan talimatlarımıza ve tempomuza uyarsa </a:t>
            </a:r>
            <a:r>
              <a:rPr lang="tr-TR" dirty="0" err="1"/>
              <a:t>somnanbulistik</a:t>
            </a:r>
            <a:r>
              <a:rPr lang="tr-TR" dirty="0"/>
              <a:t> hal oluşmuş demektir. </a:t>
            </a:r>
          </a:p>
          <a:p>
            <a:pPr eaLnBrk="1" fontAlgn="auto" hangingPunct="1">
              <a:spcAft>
                <a:spcPts val="0"/>
              </a:spcAft>
              <a:buFont typeface="Wingdings 2"/>
              <a:buChar char=""/>
              <a:defRPr/>
            </a:pPr>
            <a:endParaRPr lang="tr-TR" dirty="0"/>
          </a:p>
        </p:txBody>
      </p:sp>
    </p:spTree>
    <p:extLst>
      <p:ext uri="{BB962C8B-B14F-4D97-AF65-F5344CB8AC3E}">
        <p14:creationId xmlns:p14="http://schemas.microsoft.com/office/powerpoint/2010/main" val="68448536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14290"/>
            <a:ext cx="8686800" cy="838200"/>
          </a:xfrm>
        </p:spPr>
        <p:txBody>
          <a:bodyPr/>
          <a:lstStyle/>
          <a:p>
            <a:pPr eaLnBrk="1" fontAlgn="auto" hangingPunct="1">
              <a:spcAft>
                <a:spcPts val="0"/>
              </a:spcAft>
              <a:defRPr/>
            </a:pPr>
            <a:r>
              <a:rPr lang="tr-TR" dirty="0"/>
              <a:t>7. Aşamada verilebilecek telkinler</a:t>
            </a:r>
          </a:p>
        </p:txBody>
      </p:sp>
      <p:sp>
        <p:nvSpPr>
          <p:cNvPr id="3" name="2 İçerik Yer Tutucusu"/>
          <p:cNvSpPr>
            <a:spLocks noGrp="1"/>
          </p:cNvSpPr>
          <p:nvPr>
            <p:ph idx="1"/>
          </p:nvPr>
        </p:nvSpPr>
        <p:spPr>
          <a:xfrm>
            <a:off x="0" y="990600"/>
            <a:ext cx="8972550" cy="5867400"/>
          </a:xfrm>
        </p:spPr>
        <p:txBody>
          <a:bodyPr>
            <a:normAutofit fontScale="62500" lnSpcReduction="20000"/>
          </a:bodyPr>
          <a:lstStyle/>
          <a:p>
            <a:pPr eaLnBrk="1" fontAlgn="auto" hangingPunct="1">
              <a:spcAft>
                <a:spcPts val="0"/>
              </a:spcAft>
              <a:buFont typeface="Wingdings 2"/>
              <a:buChar char=""/>
              <a:defRPr/>
            </a:pPr>
            <a:r>
              <a:rPr lang="tr-TR" sz="4100" i="1" dirty="0"/>
              <a:t>Şu ana kadar talimatlarımı gayet güzel izledin. Ama daha da derine gidebilirsin. </a:t>
            </a:r>
          </a:p>
          <a:p>
            <a:pPr eaLnBrk="1" fontAlgn="auto" hangingPunct="1">
              <a:spcAft>
                <a:spcPts val="0"/>
              </a:spcAft>
              <a:buFont typeface="Wingdings 2"/>
              <a:buChar char=""/>
              <a:defRPr/>
            </a:pPr>
            <a:endParaRPr lang="tr-TR" sz="4100" i="1" dirty="0"/>
          </a:p>
          <a:p>
            <a:pPr eaLnBrk="1" fontAlgn="auto" hangingPunct="1">
              <a:spcAft>
                <a:spcPts val="0"/>
              </a:spcAft>
              <a:buFont typeface="Wingdings 2"/>
              <a:buChar char=""/>
              <a:defRPr/>
            </a:pPr>
            <a:r>
              <a:rPr lang="tr-TR" sz="4100" i="1" dirty="0"/>
              <a:t>Senin daha da derine gitmeni istiyorum. </a:t>
            </a:r>
          </a:p>
          <a:p>
            <a:pPr eaLnBrk="1" fontAlgn="auto" hangingPunct="1">
              <a:spcAft>
                <a:spcPts val="0"/>
              </a:spcAft>
              <a:buFont typeface="Wingdings 2"/>
              <a:buChar char=""/>
              <a:defRPr/>
            </a:pPr>
            <a:endParaRPr lang="tr-TR" sz="4100" i="1" dirty="0"/>
          </a:p>
          <a:p>
            <a:pPr eaLnBrk="1" fontAlgn="auto" hangingPunct="1">
              <a:spcAft>
                <a:spcPts val="0"/>
              </a:spcAft>
              <a:buFont typeface="Wingdings 2"/>
              <a:buChar char=""/>
              <a:defRPr/>
            </a:pPr>
            <a:r>
              <a:rPr lang="tr-TR" sz="4100" i="1" dirty="0"/>
              <a:t>Bu nedenle birazdan ben 1’ den 3’ e kadar sayacağım.  Ben 3 deyince ama asla daha önce değil gözlerini hafifçe açacaksın.  </a:t>
            </a:r>
          </a:p>
          <a:p>
            <a:pPr eaLnBrk="1" fontAlgn="auto" hangingPunct="1">
              <a:spcAft>
                <a:spcPts val="0"/>
              </a:spcAft>
              <a:buFont typeface="Wingdings 2"/>
              <a:buChar char=""/>
              <a:defRPr/>
            </a:pPr>
            <a:endParaRPr lang="tr-TR" sz="4100" i="1" dirty="0"/>
          </a:p>
          <a:p>
            <a:pPr eaLnBrk="1" fontAlgn="auto" hangingPunct="1">
              <a:spcAft>
                <a:spcPts val="0"/>
              </a:spcAft>
              <a:buFont typeface="Wingdings 2"/>
              <a:buChar char=""/>
              <a:defRPr/>
            </a:pPr>
            <a:r>
              <a:rPr lang="tr-TR" sz="4100" i="1" dirty="0"/>
              <a:t>Ben elimi gözlerinin önüne getirip hafifçe parmaklarımı şaklatınca –ama asla daha önce değil- gözlerini kapatacaksın. </a:t>
            </a:r>
          </a:p>
          <a:p>
            <a:pPr eaLnBrk="1" fontAlgn="auto" hangingPunct="1">
              <a:spcAft>
                <a:spcPts val="0"/>
              </a:spcAft>
              <a:buFont typeface="Wingdings 2"/>
              <a:buChar char=""/>
              <a:defRPr/>
            </a:pPr>
            <a:endParaRPr lang="tr-TR" sz="4100" i="1" dirty="0"/>
          </a:p>
          <a:p>
            <a:pPr eaLnBrk="1" fontAlgn="auto" hangingPunct="1">
              <a:spcAft>
                <a:spcPts val="0"/>
              </a:spcAft>
              <a:buFont typeface="Wingdings 2"/>
              <a:buChar char=""/>
              <a:defRPr/>
            </a:pPr>
            <a:r>
              <a:rPr lang="tr-TR" sz="4100" i="1" dirty="0"/>
              <a:t>Gözlerini kapattığın anda kat kat daha derin hipnoza gireceksin. </a:t>
            </a:r>
            <a:endParaRPr lang="tr-TR" sz="4100" dirty="0"/>
          </a:p>
          <a:p>
            <a:pPr eaLnBrk="1" fontAlgn="auto" hangingPunct="1">
              <a:spcAft>
                <a:spcPts val="0"/>
              </a:spcAft>
              <a:buFont typeface="Wingdings 2"/>
              <a:buChar char=""/>
              <a:defRPr/>
            </a:pPr>
            <a:endParaRPr lang="tr-TR" sz="4100" dirty="0"/>
          </a:p>
          <a:p>
            <a:pPr eaLnBrk="1" fontAlgn="auto" hangingPunct="1">
              <a:spcAft>
                <a:spcPts val="0"/>
              </a:spcAft>
              <a:buFont typeface="Wingdings 2"/>
              <a:buChar char=""/>
              <a:defRPr/>
            </a:pPr>
            <a:endParaRPr lang="tr-TR" dirty="0"/>
          </a:p>
        </p:txBody>
      </p:sp>
    </p:spTree>
    <p:extLst>
      <p:ext uri="{BB962C8B-B14F-4D97-AF65-F5344CB8AC3E}">
        <p14:creationId xmlns:p14="http://schemas.microsoft.com/office/powerpoint/2010/main" val="339616509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pPr algn="ctr" eaLnBrk="1" fontAlgn="auto" hangingPunct="1">
              <a:spcAft>
                <a:spcPts val="0"/>
              </a:spcAft>
              <a:defRPr/>
            </a:pPr>
            <a:r>
              <a:rPr lang="tr-TR" dirty="0"/>
              <a:t>Dikkat edilecek noktalar</a:t>
            </a:r>
          </a:p>
        </p:txBody>
      </p:sp>
      <p:sp>
        <p:nvSpPr>
          <p:cNvPr id="3" name="2 İçerik Yer Tutucusu"/>
          <p:cNvSpPr>
            <a:spLocks noGrp="1"/>
          </p:cNvSpPr>
          <p:nvPr>
            <p:ph idx="1"/>
          </p:nvPr>
        </p:nvSpPr>
        <p:spPr>
          <a:xfrm>
            <a:off x="304800" y="1554163"/>
            <a:ext cx="8686800" cy="5018087"/>
          </a:xfrm>
        </p:spPr>
        <p:txBody>
          <a:bodyPr>
            <a:normAutofit/>
          </a:bodyPr>
          <a:lstStyle/>
          <a:p>
            <a:pPr eaLnBrk="1" fontAlgn="auto" hangingPunct="1">
              <a:spcAft>
                <a:spcPts val="0"/>
              </a:spcAft>
              <a:buClrTx/>
              <a:buFont typeface="Wingdings 2"/>
              <a:buChar char=""/>
              <a:defRPr/>
            </a:pPr>
            <a:r>
              <a:rPr lang="tr-TR" b="1" u="sng" dirty="0"/>
              <a:t>Sayıları nasıl sayacağız?</a:t>
            </a:r>
          </a:p>
          <a:p>
            <a:pPr eaLnBrk="1" fontAlgn="auto" hangingPunct="1">
              <a:spcAft>
                <a:spcPts val="0"/>
              </a:spcAft>
              <a:buFont typeface="Wingdings 2"/>
              <a:buChar char=""/>
              <a:defRPr/>
            </a:pPr>
            <a:r>
              <a:rPr lang="tr-TR" dirty="0"/>
              <a:t>Başlangıçta birkaç ritmik sayın. </a:t>
            </a:r>
          </a:p>
          <a:p>
            <a:pPr eaLnBrk="1" fontAlgn="auto" hangingPunct="1">
              <a:spcAft>
                <a:spcPts val="0"/>
              </a:spcAft>
              <a:buFont typeface="Wingdings 2"/>
              <a:buChar char=""/>
              <a:defRPr/>
            </a:pPr>
            <a:r>
              <a:rPr lang="tr-TR" dirty="0"/>
              <a:t>Daha sonra ise, sayılar arasında boşluk bırakın…</a:t>
            </a:r>
          </a:p>
          <a:p>
            <a:pPr eaLnBrk="1" fontAlgn="auto" hangingPunct="1">
              <a:spcAft>
                <a:spcPts val="0"/>
              </a:spcAft>
              <a:buFont typeface="Wingdings 2"/>
              <a:buNone/>
              <a:defRPr/>
            </a:pPr>
            <a:endParaRPr lang="tr-TR" dirty="0"/>
          </a:p>
          <a:p>
            <a:pPr eaLnBrk="1" fontAlgn="auto" hangingPunct="1">
              <a:spcAft>
                <a:spcPts val="0"/>
              </a:spcAft>
              <a:buFont typeface="Wingdings 2"/>
              <a:buNone/>
              <a:defRPr/>
            </a:pPr>
            <a:r>
              <a:rPr lang="tr-TR" dirty="0"/>
              <a:t>	</a:t>
            </a:r>
            <a:r>
              <a:rPr lang="tr-TR" dirty="0" err="1"/>
              <a:t>SUJEMİZ</a:t>
            </a:r>
            <a:r>
              <a:rPr lang="tr-TR" dirty="0"/>
              <a:t> TEMPOMUZA VE TALİMATLARIMIZA  UYUYOR MU?</a:t>
            </a:r>
          </a:p>
          <a:p>
            <a:pPr eaLnBrk="1" fontAlgn="auto" hangingPunct="1">
              <a:spcAft>
                <a:spcPts val="0"/>
              </a:spcAft>
              <a:buFont typeface="Wingdings 2"/>
              <a:buChar char=""/>
              <a:defRPr/>
            </a:pPr>
            <a:endParaRPr lang="tr-TR" dirty="0"/>
          </a:p>
          <a:p>
            <a:pPr eaLnBrk="1" fontAlgn="auto" hangingPunct="1">
              <a:spcAft>
                <a:spcPts val="0"/>
              </a:spcAft>
              <a:buFont typeface="Wingdings 2"/>
              <a:buChar char=""/>
              <a:defRPr/>
            </a:pPr>
            <a:r>
              <a:rPr lang="tr-TR" dirty="0"/>
              <a:t>TELKİNLERİ AYNEN ALIYOR MU?</a:t>
            </a:r>
          </a:p>
        </p:txBody>
      </p:sp>
    </p:spTree>
    <p:extLst>
      <p:ext uri="{BB962C8B-B14F-4D97-AF65-F5344CB8AC3E}">
        <p14:creationId xmlns:p14="http://schemas.microsoft.com/office/powerpoint/2010/main" val="312473737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0" y="571480"/>
            <a:ext cx="8972520" cy="838200"/>
          </a:xfrm>
        </p:spPr>
        <p:txBody>
          <a:bodyPr>
            <a:normAutofit fontScale="90000"/>
          </a:bodyPr>
          <a:lstStyle/>
          <a:p>
            <a:pPr algn="ctr" eaLnBrk="1" fontAlgn="auto" hangingPunct="1">
              <a:spcAft>
                <a:spcPts val="0"/>
              </a:spcAft>
              <a:defRPr/>
            </a:pPr>
            <a:r>
              <a:rPr lang="tr-TR" b="1" dirty="0"/>
              <a:t>8. Aşama</a:t>
            </a:r>
            <a:br>
              <a:rPr lang="tr-TR" b="1" dirty="0"/>
            </a:br>
            <a:r>
              <a:rPr lang="tr-TR" b="1" dirty="0"/>
              <a:t> Sujenin hipnozda olduğuna ikna edilmesi</a:t>
            </a:r>
            <a:br>
              <a:rPr lang="tr-TR" b="1" dirty="0"/>
            </a:br>
            <a:endParaRPr lang="tr-TR" dirty="0"/>
          </a:p>
        </p:txBody>
      </p:sp>
      <p:sp>
        <p:nvSpPr>
          <p:cNvPr id="39939" name="2 İçerik Yer Tutucusu"/>
          <p:cNvSpPr>
            <a:spLocks noGrp="1"/>
          </p:cNvSpPr>
          <p:nvPr>
            <p:ph idx="1"/>
          </p:nvPr>
        </p:nvSpPr>
        <p:spPr>
          <a:xfrm>
            <a:off x="457200" y="1928813"/>
            <a:ext cx="8686800" cy="4525962"/>
          </a:xfrm>
        </p:spPr>
        <p:txBody>
          <a:bodyPr/>
          <a:lstStyle/>
          <a:p>
            <a:pPr eaLnBrk="1" hangingPunct="1"/>
            <a:r>
              <a:rPr lang="tr-TR" dirty="0"/>
              <a:t>Göz kilitlemesi testi, </a:t>
            </a:r>
          </a:p>
          <a:p>
            <a:pPr eaLnBrk="1" hangingPunct="1"/>
            <a:r>
              <a:rPr lang="tr-TR" dirty="0"/>
              <a:t>Parmak kilitlemesi testi, </a:t>
            </a:r>
          </a:p>
          <a:p>
            <a:pPr eaLnBrk="1" hangingPunct="1"/>
            <a:r>
              <a:rPr lang="tr-TR" dirty="0"/>
              <a:t>Kol sertleştirme testi, </a:t>
            </a:r>
          </a:p>
          <a:p>
            <a:pPr eaLnBrk="1" hangingPunct="1"/>
            <a:r>
              <a:rPr lang="tr-TR" dirty="0"/>
              <a:t>Anestezi testi gibi </a:t>
            </a:r>
          </a:p>
          <a:p>
            <a:pPr eaLnBrk="1" hangingPunct="1"/>
            <a:r>
              <a:rPr lang="tr-TR" dirty="0"/>
              <a:t>Değişik ikna edici testlerle sujeyi derin hipnozda olduğuna ikna ederiz. </a:t>
            </a:r>
          </a:p>
          <a:p>
            <a:pPr eaLnBrk="1" hangingPunct="1"/>
            <a:endParaRPr lang="tr-TR" dirty="0"/>
          </a:p>
        </p:txBody>
      </p:sp>
    </p:spTree>
    <p:extLst>
      <p:ext uri="{BB962C8B-B14F-4D97-AF65-F5344CB8AC3E}">
        <p14:creationId xmlns:p14="http://schemas.microsoft.com/office/powerpoint/2010/main" val="348344099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85720" y="214290"/>
            <a:ext cx="8686800" cy="838200"/>
          </a:xfrm>
        </p:spPr>
        <p:txBody>
          <a:bodyPr/>
          <a:lstStyle/>
          <a:p>
            <a:pPr algn="ctr" eaLnBrk="1" fontAlgn="auto" hangingPunct="1">
              <a:spcAft>
                <a:spcPts val="0"/>
              </a:spcAft>
              <a:defRPr/>
            </a:pPr>
            <a:r>
              <a:rPr lang="tr-TR" dirty="0"/>
              <a:t>GÖZ KATALEPSİ TESTİ NASIL YAPILIR?</a:t>
            </a:r>
          </a:p>
        </p:txBody>
      </p:sp>
      <p:sp>
        <p:nvSpPr>
          <p:cNvPr id="3" name="2 İçerik Yer Tutucusu"/>
          <p:cNvSpPr>
            <a:spLocks noGrp="1"/>
          </p:cNvSpPr>
          <p:nvPr>
            <p:ph idx="1"/>
          </p:nvPr>
        </p:nvSpPr>
        <p:spPr>
          <a:xfrm>
            <a:off x="228600" y="1143000"/>
            <a:ext cx="8915400" cy="5303838"/>
          </a:xfrm>
        </p:spPr>
        <p:txBody>
          <a:bodyPr>
            <a:normAutofit/>
          </a:bodyPr>
          <a:lstStyle/>
          <a:p>
            <a:pPr eaLnBrk="1" fontAlgn="auto" hangingPunct="1">
              <a:spcAft>
                <a:spcPts val="0"/>
              </a:spcAft>
              <a:buFont typeface="Wingdings 2"/>
              <a:buNone/>
              <a:defRPr/>
            </a:pPr>
            <a:r>
              <a:rPr lang="tr-TR" i="1" dirty="0"/>
              <a:t>Şu anda mükemmel bir hipnoz halindesin.</a:t>
            </a:r>
          </a:p>
          <a:p>
            <a:pPr eaLnBrk="1" fontAlgn="auto" hangingPunct="1">
              <a:spcAft>
                <a:spcPts val="0"/>
              </a:spcAft>
              <a:buFont typeface="Wingdings 2"/>
              <a:buNone/>
              <a:defRPr/>
            </a:pPr>
            <a:r>
              <a:rPr lang="tr-TR" i="1" dirty="0"/>
              <a:t>Bilinçaltın verilen her türlü telkini otomatik olarak</a:t>
            </a:r>
          </a:p>
          <a:p>
            <a:pPr eaLnBrk="1" fontAlgn="auto" hangingPunct="1">
              <a:spcAft>
                <a:spcPts val="0"/>
              </a:spcAft>
              <a:buFont typeface="Wingdings 2"/>
              <a:buNone/>
              <a:defRPr/>
            </a:pPr>
            <a:r>
              <a:rPr lang="tr-TR" i="1" dirty="0"/>
              <a:t>alıyor, kabul ediyor ve yerine getiriyor. </a:t>
            </a:r>
          </a:p>
          <a:p>
            <a:pPr eaLnBrk="1" fontAlgn="auto" hangingPunct="1">
              <a:spcAft>
                <a:spcPts val="0"/>
              </a:spcAft>
              <a:buFont typeface="Wingdings 2"/>
              <a:buNone/>
              <a:defRPr/>
            </a:pPr>
            <a:r>
              <a:rPr lang="tr-TR" i="1" dirty="0"/>
              <a:t>Ne kadar derin bir hipnozda ve ne kadar farklı bir </a:t>
            </a:r>
          </a:p>
          <a:p>
            <a:pPr eaLnBrk="1" fontAlgn="auto" hangingPunct="1">
              <a:spcAft>
                <a:spcPts val="0"/>
              </a:spcAft>
              <a:buFont typeface="Wingdings 2"/>
              <a:buNone/>
              <a:defRPr/>
            </a:pPr>
            <a:r>
              <a:rPr lang="tr-TR" i="1" dirty="0"/>
              <a:t>durumda olduğunu sana göstereceğim. </a:t>
            </a:r>
          </a:p>
          <a:p>
            <a:pPr eaLnBrk="1" fontAlgn="auto" hangingPunct="1">
              <a:spcAft>
                <a:spcPts val="0"/>
              </a:spcAft>
              <a:buFont typeface="Wingdings 2"/>
              <a:buNone/>
              <a:defRPr/>
            </a:pPr>
            <a:r>
              <a:rPr lang="tr-TR" i="1" dirty="0"/>
              <a:t>Sen de bunu fark edeceksin. </a:t>
            </a:r>
            <a:r>
              <a:rPr lang="tr-TR" dirty="0"/>
              <a:t> </a:t>
            </a:r>
          </a:p>
          <a:p>
            <a:pPr eaLnBrk="1" fontAlgn="auto" hangingPunct="1">
              <a:spcAft>
                <a:spcPts val="0"/>
              </a:spcAft>
              <a:buFont typeface="Wingdings 2"/>
              <a:buNone/>
              <a:defRPr/>
            </a:pPr>
            <a:r>
              <a:rPr lang="tr-TR" i="1" dirty="0"/>
              <a:t>Ben birden beşe doğru sayarken göz kapaklarını </a:t>
            </a:r>
          </a:p>
          <a:p>
            <a:pPr eaLnBrk="1" fontAlgn="auto" hangingPunct="1">
              <a:spcAft>
                <a:spcPts val="0"/>
              </a:spcAft>
              <a:buFont typeface="Wingdings 2"/>
              <a:buNone/>
              <a:defRPr/>
            </a:pPr>
            <a:r>
              <a:rPr lang="tr-TR" i="1" dirty="0"/>
              <a:t>sıkıştırmaya ve kilitlemeye başlıyorsun. </a:t>
            </a:r>
            <a:endParaRPr lang="tr-TR" dirty="0"/>
          </a:p>
        </p:txBody>
      </p:sp>
    </p:spTree>
    <p:extLst>
      <p:ext uri="{BB962C8B-B14F-4D97-AF65-F5344CB8AC3E}">
        <p14:creationId xmlns:p14="http://schemas.microsoft.com/office/powerpoint/2010/main" val="72841017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74638"/>
            <a:ext cx="7924800" cy="334962"/>
          </a:xfrm>
        </p:spPr>
        <p:txBody>
          <a:bodyPr>
            <a:normAutofit fontScale="90000"/>
          </a:bodyPr>
          <a:lstStyle/>
          <a:p>
            <a:endParaRPr lang="tr-TR" dirty="0"/>
          </a:p>
        </p:txBody>
      </p:sp>
      <p:sp>
        <p:nvSpPr>
          <p:cNvPr id="3" name="Content Placeholder 2"/>
          <p:cNvSpPr>
            <a:spLocks noGrp="1"/>
          </p:cNvSpPr>
          <p:nvPr>
            <p:ph idx="1"/>
          </p:nvPr>
        </p:nvSpPr>
        <p:spPr>
          <a:xfrm>
            <a:off x="0" y="1371600"/>
            <a:ext cx="9144000" cy="5257800"/>
          </a:xfrm>
        </p:spPr>
        <p:txBody>
          <a:bodyPr/>
          <a:lstStyle/>
          <a:p>
            <a:pPr>
              <a:buNone/>
              <a:defRPr/>
            </a:pPr>
            <a:r>
              <a:rPr lang="tr-TR" i="1" dirty="0"/>
              <a:t>1. göz kapakların kilitleniyor ve sıkışıyor ( gözlerin sıkıştığını görün).</a:t>
            </a:r>
            <a:endParaRPr lang="tr-TR" dirty="0"/>
          </a:p>
          <a:p>
            <a:pPr>
              <a:buNone/>
              <a:defRPr/>
            </a:pPr>
            <a:r>
              <a:rPr lang="tr-TR" i="1" dirty="0"/>
              <a:t>2. daha kuvvetli kilitleniyor, </a:t>
            </a:r>
            <a:endParaRPr lang="tr-TR" dirty="0"/>
          </a:p>
          <a:p>
            <a:pPr>
              <a:buNone/>
              <a:defRPr/>
            </a:pPr>
            <a:r>
              <a:rPr lang="tr-TR" i="1" dirty="0"/>
              <a:t>3. en kuvvetli yapıştırıcı göz kapaklarına sürülmüş gibi kilitleniyor</a:t>
            </a:r>
            <a:endParaRPr lang="tr-TR" dirty="0"/>
          </a:p>
          <a:p>
            <a:pPr>
              <a:buNone/>
              <a:defRPr/>
            </a:pPr>
            <a:r>
              <a:rPr lang="tr-TR" i="1" dirty="0"/>
              <a:t>4. kilitleniyor ayrılamaz şekilde</a:t>
            </a:r>
            <a:endParaRPr lang="tr-TR" dirty="0"/>
          </a:p>
          <a:p>
            <a:pPr>
              <a:buNone/>
              <a:defRPr/>
            </a:pPr>
            <a:r>
              <a:rPr lang="tr-TR" i="1" dirty="0"/>
              <a:t>5. şu anda kapaklar ayrılamaz şekilde kilitlendi ve kapandı</a:t>
            </a:r>
            <a:endParaRPr lang="tr-TR" dirty="0"/>
          </a:p>
          <a:p>
            <a:pPr>
              <a:buFont typeface="Wingdings 2"/>
              <a:buChar char=""/>
              <a:defRPr/>
            </a:pPr>
            <a:endParaRPr lang="tr-TR" dirty="0"/>
          </a:p>
          <a:p>
            <a:endParaRPr lang="tr-TR" dirty="0"/>
          </a:p>
        </p:txBody>
      </p:sp>
    </p:spTree>
    <p:extLst>
      <p:ext uri="{BB962C8B-B14F-4D97-AF65-F5344CB8AC3E}">
        <p14:creationId xmlns:p14="http://schemas.microsoft.com/office/powerpoint/2010/main" val="411147587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pPr eaLnBrk="1" fontAlgn="auto" hangingPunct="1">
              <a:spcAft>
                <a:spcPts val="0"/>
              </a:spcAft>
              <a:defRPr/>
            </a:pPr>
            <a:endParaRPr lang="tr-TR" dirty="0"/>
          </a:p>
        </p:txBody>
      </p:sp>
      <p:sp>
        <p:nvSpPr>
          <p:cNvPr id="3" name="2 İçerik Yer Tutucusu"/>
          <p:cNvSpPr>
            <a:spLocks noGrp="1"/>
          </p:cNvSpPr>
          <p:nvPr>
            <p:ph idx="1"/>
          </p:nvPr>
        </p:nvSpPr>
        <p:spPr/>
        <p:txBody>
          <a:bodyPr>
            <a:normAutofit lnSpcReduction="10000"/>
          </a:bodyPr>
          <a:lstStyle/>
          <a:p>
            <a:pPr eaLnBrk="1" fontAlgn="auto" hangingPunct="1">
              <a:spcAft>
                <a:spcPts val="0"/>
              </a:spcAft>
              <a:buFont typeface="Wingdings 2"/>
              <a:buChar char=""/>
              <a:defRPr/>
            </a:pPr>
            <a:r>
              <a:rPr lang="tr-TR" i="1" dirty="0"/>
              <a:t>Onları açmaya çalışsan da onlar açılmayacak, aksine daha kuvvetli kilitlenecek ve seni daha derin bir gevşekliğe sokacak. Göz kapaklarının iyice kilitlendiğinden ve kapalı olduğundan emin olduğun zaman, bana tamam tatmin oldum de!”</a:t>
            </a:r>
            <a:endParaRPr lang="tr-TR" dirty="0"/>
          </a:p>
          <a:p>
            <a:pPr marL="0" indent="0" eaLnBrk="1" fontAlgn="auto" hangingPunct="1">
              <a:spcAft>
                <a:spcPts val="0"/>
              </a:spcAft>
              <a:buNone/>
              <a:defRPr/>
            </a:pPr>
            <a:endParaRPr lang="tr-TR" i="1" dirty="0"/>
          </a:p>
          <a:p>
            <a:pPr eaLnBrk="1" fontAlgn="auto" hangingPunct="1">
              <a:spcAft>
                <a:spcPts val="0"/>
              </a:spcAft>
              <a:buFont typeface="Wingdings 2"/>
              <a:buChar char=""/>
              <a:defRPr/>
            </a:pPr>
            <a:r>
              <a:rPr lang="tr-TR" i="1" dirty="0"/>
              <a:t>“Tamam göz kapaklarını unut, denemeyi bırak ve daha derin gevşekliğe git.”</a:t>
            </a:r>
            <a:endParaRPr lang="tr-TR" dirty="0"/>
          </a:p>
          <a:p>
            <a:pPr eaLnBrk="1" fontAlgn="auto" hangingPunct="1">
              <a:spcAft>
                <a:spcPts val="0"/>
              </a:spcAft>
              <a:buFont typeface="Wingdings 2"/>
              <a:buChar char=""/>
              <a:defRPr/>
            </a:pPr>
            <a:endParaRPr lang="tr-TR" dirty="0"/>
          </a:p>
        </p:txBody>
      </p:sp>
    </p:spTree>
    <p:extLst>
      <p:ext uri="{BB962C8B-B14F-4D97-AF65-F5344CB8AC3E}">
        <p14:creationId xmlns:p14="http://schemas.microsoft.com/office/powerpoint/2010/main" val="57512541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pPr algn="ctr" eaLnBrk="1" fontAlgn="auto" hangingPunct="1">
              <a:spcAft>
                <a:spcPts val="0"/>
              </a:spcAft>
              <a:defRPr/>
            </a:pPr>
            <a:r>
              <a:rPr lang="tr-TR" dirty="0"/>
              <a:t>Kişinin hipnozda olduğuna ikna olmamızı sağlayan noktalar</a:t>
            </a:r>
          </a:p>
        </p:txBody>
      </p:sp>
      <p:sp>
        <p:nvSpPr>
          <p:cNvPr id="3" name="2 İçerik Yer Tutucusu"/>
          <p:cNvSpPr>
            <a:spLocks noGrp="1"/>
          </p:cNvSpPr>
          <p:nvPr>
            <p:ph idx="1"/>
          </p:nvPr>
        </p:nvSpPr>
        <p:spPr>
          <a:xfrm>
            <a:off x="304800" y="1554163"/>
            <a:ext cx="8686800" cy="5160962"/>
          </a:xfrm>
        </p:spPr>
        <p:txBody>
          <a:bodyPr>
            <a:normAutofit fontScale="92500" lnSpcReduction="10000"/>
          </a:bodyPr>
          <a:lstStyle/>
          <a:p>
            <a:pPr eaLnBrk="1" fontAlgn="auto" hangingPunct="1">
              <a:spcAft>
                <a:spcPts val="0"/>
              </a:spcAft>
              <a:buFont typeface="Wingdings 2"/>
              <a:buChar char=""/>
              <a:defRPr/>
            </a:pPr>
            <a:r>
              <a:rPr lang="tr-TR" dirty="0"/>
              <a:t>1. Rakamların kaybolması</a:t>
            </a:r>
          </a:p>
          <a:p>
            <a:pPr eaLnBrk="1" fontAlgn="auto" hangingPunct="1">
              <a:spcAft>
                <a:spcPts val="0"/>
              </a:spcAft>
              <a:buFont typeface="Wingdings 2"/>
              <a:buChar char=""/>
              <a:defRPr/>
            </a:pPr>
            <a:endParaRPr lang="tr-TR" dirty="0"/>
          </a:p>
          <a:p>
            <a:pPr eaLnBrk="1" fontAlgn="auto" hangingPunct="1">
              <a:spcAft>
                <a:spcPts val="0"/>
              </a:spcAft>
              <a:buFont typeface="Wingdings 2"/>
              <a:buChar char=""/>
              <a:defRPr/>
            </a:pPr>
            <a:r>
              <a:rPr lang="tr-TR" dirty="0"/>
              <a:t>2. Göz açıp kapatma sisteminin çalışması</a:t>
            </a:r>
          </a:p>
          <a:p>
            <a:pPr eaLnBrk="1" fontAlgn="auto" hangingPunct="1">
              <a:spcAft>
                <a:spcPts val="0"/>
              </a:spcAft>
              <a:buFont typeface="Wingdings 2"/>
              <a:buChar char=""/>
              <a:defRPr/>
            </a:pPr>
            <a:endParaRPr lang="tr-TR" dirty="0"/>
          </a:p>
          <a:p>
            <a:pPr eaLnBrk="1" fontAlgn="auto" hangingPunct="1">
              <a:spcAft>
                <a:spcPts val="0"/>
              </a:spcAft>
              <a:buFont typeface="Wingdings 2"/>
              <a:buChar char=""/>
              <a:defRPr/>
            </a:pPr>
            <a:r>
              <a:rPr lang="tr-TR" dirty="0"/>
              <a:t>3. Analjezi  testi</a:t>
            </a:r>
          </a:p>
          <a:p>
            <a:pPr eaLnBrk="1" fontAlgn="auto" hangingPunct="1">
              <a:spcAft>
                <a:spcPts val="0"/>
              </a:spcAft>
              <a:buFont typeface="Wingdings 2"/>
              <a:buChar char=""/>
              <a:defRPr/>
            </a:pPr>
            <a:endParaRPr lang="tr-TR" dirty="0"/>
          </a:p>
          <a:p>
            <a:pPr eaLnBrk="1" fontAlgn="auto" hangingPunct="1">
              <a:spcAft>
                <a:spcPts val="0"/>
              </a:spcAft>
              <a:buFont typeface="Wingdings 2"/>
              <a:buChar char=""/>
              <a:defRPr/>
            </a:pPr>
            <a:r>
              <a:rPr lang="tr-TR" dirty="0"/>
              <a:t>Bizimde gözlemleyebileceğimiz testlerdir.</a:t>
            </a:r>
          </a:p>
          <a:p>
            <a:pPr eaLnBrk="1" fontAlgn="auto" hangingPunct="1">
              <a:spcAft>
                <a:spcPts val="0"/>
              </a:spcAft>
              <a:buFont typeface="Wingdings 2"/>
              <a:buChar char=""/>
              <a:defRPr/>
            </a:pPr>
            <a:endParaRPr lang="tr-TR" dirty="0"/>
          </a:p>
          <a:p>
            <a:pPr eaLnBrk="1" fontAlgn="auto" hangingPunct="1">
              <a:spcAft>
                <a:spcPts val="0"/>
              </a:spcAft>
              <a:buFont typeface="Wingdings 2"/>
              <a:buChar char=""/>
              <a:defRPr/>
            </a:pPr>
            <a:r>
              <a:rPr lang="tr-TR" i="1" dirty="0"/>
              <a:t>“Şu anda burnuna gül kokusu geliyor” </a:t>
            </a:r>
            <a:r>
              <a:rPr lang="tr-TR" dirty="0"/>
              <a:t>dersek bunu bizim dışarıdan test etme durumumuz olmaz.</a:t>
            </a:r>
          </a:p>
        </p:txBody>
      </p:sp>
    </p:spTree>
    <p:extLst>
      <p:ext uri="{BB962C8B-B14F-4D97-AF65-F5344CB8AC3E}">
        <p14:creationId xmlns:p14="http://schemas.microsoft.com/office/powerpoint/2010/main" val="1565010757"/>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pPr eaLnBrk="1" fontAlgn="auto" hangingPunct="1">
              <a:spcAft>
                <a:spcPts val="0"/>
              </a:spcAft>
              <a:defRPr/>
            </a:pPr>
            <a:r>
              <a:rPr lang="tr-TR" dirty="0"/>
              <a:t>Test yapmaya ne zaman başlarız?</a:t>
            </a:r>
          </a:p>
        </p:txBody>
      </p:sp>
      <p:sp>
        <p:nvSpPr>
          <p:cNvPr id="44035" name="2 İçerik Yer Tutucusu"/>
          <p:cNvSpPr>
            <a:spLocks noGrp="1"/>
          </p:cNvSpPr>
          <p:nvPr>
            <p:ph idx="1"/>
          </p:nvPr>
        </p:nvSpPr>
        <p:spPr>
          <a:xfrm>
            <a:off x="285750" y="1785938"/>
            <a:ext cx="8686800" cy="4525962"/>
          </a:xfrm>
        </p:spPr>
        <p:txBody>
          <a:bodyPr/>
          <a:lstStyle/>
          <a:p>
            <a:pPr eaLnBrk="1" hangingPunct="1"/>
            <a:r>
              <a:rPr lang="tr-TR"/>
              <a:t>Kendimiz kesinlikle ve kesinlikle kişinin hipnozda olduğuna ikna olduktan sonra test yapmalıyız.</a:t>
            </a:r>
          </a:p>
          <a:p>
            <a:pPr eaLnBrk="1" hangingPunct="1"/>
            <a:endParaRPr lang="tr-TR"/>
          </a:p>
          <a:p>
            <a:pPr eaLnBrk="1" hangingPunct="1"/>
            <a:r>
              <a:rPr lang="tr-TR"/>
              <a:t>İkna olmadan yapmaya başlamak zaten istenilen sonu vermeyecektir.</a:t>
            </a:r>
          </a:p>
          <a:p>
            <a:pPr eaLnBrk="1" hangingPunct="1"/>
            <a:endParaRPr lang="tr-TR"/>
          </a:p>
        </p:txBody>
      </p:sp>
    </p:spTree>
    <p:extLst>
      <p:ext uri="{BB962C8B-B14F-4D97-AF65-F5344CB8AC3E}">
        <p14:creationId xmlns:p14="http://schemas.microsoft.com/office/powerpoint/2010/main" val="161924731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pPr eaLnBrk="1" fontAlgn="auto" hangingPunct="1">
              <a:spcAft>
                <a:spcPts val="0"/>
              </a:spcAft>
              <a:defRPr/>
            </a:pPr>
            <a:r>
              <a:rPr lang="tr-TR" dirty="0"/>
              <a:t>Diğer testler</a:t>
            </a:r>
          </a:p>
        </p:txBody>
      </p:sp>
      <p:sp>
        <p:nvSpPr>
          <p:cNvPr id="3" name="2 İçerik Yer Tutucusu"/>
          <p:cNvSpPr>
            <a:spLocks noGrp="1"/>
          </p:cNvSpPr>
          <p:nvPr>
            <p:ph idx="1"/>
          </p:nvPr>
        </p:nvSpPr>
        <p:spPr>
          <a:xfrm>
            <a:off x="152400" y="1554163"/>
            <a:ext cx="8839200" cy="5075237"/>
          </a:xfrm>
        </p:spPr>
        <p:txBody>
          <a:bodyPr>
            <a:normAutofit/>
          </a:bodyPr>
          <a:lstStyle/>
          <a:p>
            <a:pPr eaLnBrk="1" fontAlgn="auto" hangingPunct="1">
              <a:spcAft>
                <a:spcPts val="0"/>
              </a:spcAft>
              <a:buFont typeface="Wingdings 2"/>
              <a:buChar char=""/>
              <a:defRPr/>
            </a:pPr>
            <a:r>
              <a:rPr lang="tr-TR" dirty="0"/>
              <a:t>Kol Ağırlaştırma Testi: Sol kolun ağırlaşıyor ve sen onu kaldırmak istesen bile kaldıramıyorsun.</a:t>
            </a:r>
          </a:p>
          <a:p>
            <a:pPr>
              <a:buFont typeface="Wingdings 2"/>
              <a:buChar char=""/>
              <a:defRPr/>
            </a:pPr>
            <a:r>
              <a:rPr lang="tr-TR" dirty="0"/>
              <a:t>Kol Hafifletme Testi </a:t>
            </a:r>
          </a:p>
          <a:p>
            <a:pPr eaLnBrk="1" fontAlgn="auto" hangingPunct="1">
              <a:spcAft>
                <a:spcPts val="0"/>
              </a:spcAft>
              <a:buFont typeface="Wingdings 2"/>
              <a:buChar char=""/>
              <a:defRPr/>
            </a:pPr>
            <a:r>
              <a:rPr lang="tr-TR" dirty="0"/>
              <a:t>En garantili test: </a:t>
            </a:r>
            <a:r>
              <a:rPr lang="tr-TR" b="1" u="sng" dirty="0"/>
              <a:t>Anestezidir. </a:t>
            </a:r>
            <a:r>
              <a:rPr lang="tr-TR" dirty="0"/>
              <a:t>Uyuşturma.</a:t>
            </a:r>
          </a:p>
          <a:p>
            <a:pPr eaLnBrk="1" fontAlgn="auto" hangingPunct="1">
              <a:spcAft>
                <a:spcPts val="0"/>
              </a:spcAft>
              <a:buFont typeface="Wingdings 2"/>
              <a:buChar char=""/>
              <a:defRPr/>
            </a:pPr>
            <a:r>
              <a:rPr lang="tr-TR" dirty="0"/>
              <a:t>Uyuşma telkini verilen bölgede hiçbir rahatsızlık, ağrı, acı duymuyorsun. Telkini verilerek, anestezi yaratılır. Ve </a:t>
            </a:r>
            <a:r>
              <a:rPr lang="tr-TR" dirty="0" err="1"/>
              <a:t>sujeye</a:t>
            </a:r>
            <a:r>
              <a:rPr lang="tr-TR" dirty="0"/>
              <a:t> test ettirilir.</a:t>
            </a:r>
          </a:p>
        </p:txBody>
      </p:sp>
    </p:spTree>
    <p:extLst>
      <p:ext uri="{BB962C8B-B14F-4D97-AF65-F5344CB8AC3E}">
        <p14:creationId xmlns:p14="http://schemas.microsoft.com/office/powerpoint/2010/main" val="267371757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85720" y="1000108"/>
            <a:ext cx="8686800" cy="838200"/>
          </a:xfrm>
        </p:spPr>
        <p:txBody>
          <a:bodyPr>
            <a:normAutofit fontScale="90000"/>
          </a:bodyPr>
          <a:lstStyle/>
          <a:p>
            <a:pPr algn="ctr" eaLnBrk="1" fontAlgn="auto" hangingPunct="1">
              <a:spcAft>
                <a:spcPts val="0"/>
              </a:spcAft>
              <a:defRPr/>
            </a:pPr>
            <a:r>
              <a:rPr lang="tr-TR" b="1" dirty="0"/>
              <a:t>9. Aşama</a:t>
            </a:r>
            <a:br>
              <a:rPr lang="tr-TR" b="1" dirty="0"/>
            </a:br>
            <a:r>
              <a:rPr lang="tr-TR" b="1" dirty="0"/>
              <a:t>Gerekiyorsa uygun telkinlerin verilmesi</a:t>
            </a:r>
            <a:br>
              <a:rPr lang="tr-TR" b="1" dirty="0"/>
            </a:br>
            <a:endParaRPr lang="tr-TR" dirty="0"/>
          </a:p>
        </p:txBody>
      </p:sp>
      <p:sp>
        <p:nvSpPr>
          <p:cNvPr id="46083" name="2 İçerik Yer Tutucusu"/>
          <p:cNvSpPr>
            <a:spLocks noGrp="1"/>
          </p:cNvSpPr>
          <p:nvPr>
            <p:ph idx="1"/>
          </p:nvPr>
        </p:nvSpPr>
        <p:spPr>
          <a:xfrm>
            <a:off x="285750" y="2428875"/>
            <a:ext cx="8686800" cy="3446463"/>
          </a:xfrm>
        </p:spPr>
        <p:txBody>
          <a:bodyPr/>
          <a:lstStyle/>
          <a:p>
            <a:pPr eaLnBrk="1" hangingPunct="1"/>
            <a:r>
              <a:rPr lang="tr-TR"/>
              <a:t>Kişide değişim sağlamak amacıyla, </a:t>
            </a:r>
          </a:p>
          <a:p>
            <a:pPr eaLnBrk="1" hangingPunct="1"/>
            <a:r>
              <a:rPr lang="tr-TR"/>
              <a:t>(bir alışkanlığın ortadan kaldırılması, zayıflama, motivasyon, stres giderilmesi gibi) kısa bir telkin kalıbının bilinçaltına güçlü bir şekilde verilmesi sağlanır. </a:t>
            </a:r>
          </a:p>
          <a:p>
            <a:pPr eaLnBrk="1" hangingPunct="1"/>
            <a:endParaRPr lang="tr-TR"/>
          </a:p>
        </p:txBody>
      </p:sp>
    </p:spTree>
    <p:extLst>
      <p:ext uri="{BB962C8B-B14F-4D97-AF65-F5344CB8AC3E}">
        <p14:creationId xmlns:p14="http://schemas.microsoft.com/office/powerpoint/2010/main" val="226876332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pPr eaLnBrk="1" fontAlgn="auto" hangingPunct="1">
              <a:spcAft>
                <a:spcPts val="0"/>
              </a:spcAft>
              <a:defRPr/>
            </a:pPr>
            <a:r>
              <a:rPr lang="tr-TR" b="1" dirty="0"/>
              <a:t>10. </a:t>
            </a:r>
            <a:r>
              <a:rPr lang="tr-TR" b="1" dirty="0" err="1"/>
              <a:t>Sujeyi</a:t>
            </a:r>
            <a:r>
              <a:rPr lang="tr-TR" b="1" dirty="0"/>
              <a:t> hipnozdan çıkarmak.</a:t>
            </a:r>
            <a:br>
              <a:rPr lang="tr-TR" b="1" dirty="0"/>
            </a:br>
            <a:endParaRPr lang="tr-TR" dirty="0"/>
          </a:p>
        </p:txBody>
      </p:sp>
      <p:sp>
        <p:nvSpPr>
          <p:cNvPr id="47107" name="2 İçerik Yer Tutucusu"/>
          <p:cNvSpPr>
            <a:spLocks noGrp="1"/>
          </p:cNvSpPr>
          <p:nvPr>
            <p:ph idx="1"/>
          </p:nvPr>
        </p:nvSpPr>
        <p:spPr/>
        <p:txBody>
          <a:bodyPr/>
          <a:lstStyle/>
          <a:p>
            <a:pPr eaLnBrk="1" hangingPunct="1"/>
            <a:r>
              <a:rPr lang="tr-TR"/>
              <a:t>	Basitçe 1 den 3 e doğru sayılır ve Sujeden gözlerini açarak hipnozdan çıkması istenir. </a:t>
            </a:r>
          </a:p>
          <a:p>
            <a:pPr eaLnBrk="1" hangingPunct="1"/>
            <a:endParaRPr lang="tr-TR"/>
          </a:p>
        </p:txBody>
      </p:sp>
      <p:pic>
        <p:nvPicPr>
          <p:cNvPr id="47108" name="3 Resim" descr="227550_f520.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71750" y="3500438"/>
            <a:ext cx="4143375" cy="306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5021887"/>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2.jpeg"/></Relationships>
</file>

<file path=ppt/theme/_rels/theme4.xml.rels><?xml version="1.0" encoding="UTF-8" standalone="yes"?>
<Relationships xmlns="http://schemas.openxmlformats.org/package/2006/relationships"><Relationship Id="rId1" Type="http://schemas.openxmlformats.org/officeDocument/2006/relationships/image" Target="../media/image3.jpeg"/></Relationships>
</file>

<file path=ppt/theme/_rels/theme5.xml.rels><?xml version="1.0" encoding="UTF-8" standalone="yes"?>
<Relationships xmlns="http://schemas.openxmlformats.org/package/2006/relationships"><Relationship Id="rId1" Type="http://schemas.openxmlformats.org/officeDocument/2006/relationships/image" Target="../media/image4.jpeg"/></Relationships>
</file>

<file path=ppt/theme/_rels/theme6.xml.rels><?xml version="1.0" encoding="UTF-8" standalone="yes"?>
<Relationships xmlns="http://schemas.openxmlformats.org/package/2006/relationships"><Relationship Id="rId1" Type="http://schemas.openxmlformats.org/officeDocument/2006/relationships/image" Target="../media/image7.jpeg"/></Relationships>
</file>

<file path=ppt/theme/_rels/theme7.xml.rels><?xml version="1.0" encoding="UTF-8" standalone="yes"?>
<Relationships xmlns="http://schemas.openxmlformats.org/package/2006/relationships"><Relationship Id="rId1" Type="http://schemas.openxmlformats.org/officeDocument/2006/relationships/image" Target="../media/image8.jpeg"/></Relationships>
</file>

<file path=ppt/theme/_rels/theme8.xml.rels><?xml version="1.0" encoding="UTF-8" standalone="yes"?>
<Relationships xmlns="http://schemas.openxmlformats.org/package/2006/relationships"><Relationship Id="rId1" Type="http://schemas.openxmlformats.org/officeDocument/2006/relationships/image" Target="../media/image7.jpeg"/></Relationships>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4.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5.xml><?xml version="1.0" encoding="utf-8"?>
<a:theme xmlns:a="http://schemas.openxmlformats.org/drawingml/2006/main" name="Couture">
  <a:themeElements>
    <a:clrScheme name="Couture">
      <a:dk1>
        <a:sysClr val="windowText" lastClr="000000"/>
      </a:dk1>
      <a:lt1>
        <a:sysClr val="window" lastClr="FFFFFF"/>
      </a:lt1>
      <a:dk2>
        <a:srgbClr val="37302A"/>
      </a:dk2>
      <a:lt2>
        <a:srgbClr val="D0CCB9"/>
      </a:lt2>
      <a:accent1>
        <a:srgbClr val="9E8E5C"/>
      </a:accent1>
      <a:accent2>
        <a:srgbClr val="A09781"/>
      </a:accent2>
      <a:accent3>
        <a:srgbClr val="85776D"/>
      </a:accent3>
      <a:accent4>
        <a:srgbClr val="AEAFA9"/>
      </a:accent4>
      <a:accent5>
        <a:srgbClr val="8D878B"/>
      </a:accent5>
      <a:accent6>
        <a:srgbClr val="6B6149"/>
      </a:accent6>
      <a:hlink>
        <a:srgbClr val="B6A272"/>
      </a:hlink>
      <a:folHlink>
        <a:srgbClr val="8A784F"/>
      </a:folHlink>
    </a:clrScheme>
    <a:fontScheme name="Black Tie">
      <a:maj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70000"/>
              </a:schemeClr>
            </a:gs>
            <a:gs pos="100000">
              <a:schemeClr val="phClr">
                <a:shade val="80000"/>
              </a:schemeClr>
            </a:gs>
          </a:gsLst>
          <a:path path="circle">
            <a:fillToRect l="50000" t="100000" r="100000" b="100000"/>
          </a:path>
        </a:gradFill>
        <a:blipFill rotWithShape="1">
          <a:blip xmlns:r="http://schemas.openxmlformats.org/officeDocument/2006/relationships" r:embed="rId1">
            <a:duotone>
              <a:schemeClr val="phClr">
                <a:shade val="30000"/>
                <a:satMod val="200000"/>
              </a:schemeClr>
              <a:schemeClr val="phClr">
                <a:tint val="20000"/>
              </a:schemeClr>
            </a:duotone>
          </a:blip>
          <a:stretch/>
        </a:blipFill>
      </a:bgFillStyleLst>
    </a:fmtScheme>
  </a:themeElements>
  <a:objectDefaults/>
  <a:extraClrSchemeLst/>
</a:theme>
</file>

<file path=ppt/theme/theme6.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7.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8.xml><?xml version="1.0" encoding="utf-8"?>
<a:theme xmlns:a="http://schemas.openxmlformats.org/drawingml/2006/main" name="1_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9.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1784</TotalTime>
  <Words>5514</Words>
  <Application>Microsoft Office PowerPoint</Application>
  <PresentationFormat>Ekran Gösterisi (4:3)</PresentationFormat>
  <Paragraphs>1023</Paragraphs>
  <Slides>177</Slides>
  <Notes>3</Notes>
  <HiddenSlides>0</HiddenSlides>
  <MMClips>0</MMClips>
  <ScaleCrop>false</ScaleCrop>
  <HeadingPairs>
    <vt:vector size="6" baseType="variant">
      <vt:variant>
        <vt:lpstr>Kullanılan Yazı Tipleri</vt:lpstr>
      </vt:variant>
      <vt:variant>
        <vt:i4>13</vt:i4>
      </vt:variant>
      <vt:variant>
        <vt:lpstr>Tema</vt:lpstr>
      </vt:variant>
      <vt:variant>
        <vt:i4>9</vt:i4>
      </vt:variant>
      <vt:variant>
        <vt:lpstr>Slayt Başlıkları</vt:lpstr>
      </vt:variant>
      <vt:variant>
        <vt:i4>177</vt:i4>
      </vt:variant>
    </vt:vector>
  </HeadingPairs>
  <TitlesOfParts>
    <vt:vector size="199" baseType="lpstr">
      <vt:lpstr>Arial</vt:lpstr>
      <vt:lpstr>Calibri</vt:lpstr>
      <vt:lpstr>Cambria</vt:lpstr>
      <vt:lpstr>Century Gothic</vt:lpstr>
      <vt:lpstr>Constantia</vt:lpstr>
      <vt:lpstr>Franklin Gothic Book</vt:lpstr>
      <vt:lpstr>Garamond</vt:lpstr>
      <vt:lpstr>Lucida Sans Unicode</vt:lpstr>
      <vt:lpstr>Trebuchet MS</vt:lpstr>
      <vt:lpstr>Verdana</vt:lpstr>
      <vt:lpstr>Wingdings</vt:lpstr>
      <vt:lpstr>Wingdings 2</vt:lpstr>
      <vt:lpstr>Wingdings 3</vt:lpstr>
      <vt:lpstr>1_Office Theme</vt:lpstr>
      <vt:lpstr>Austin</vt:lpstr>
      <vt:lpstr>Flow</vt:lpstr>
      <vt:lpstr>Adjacency</vt:lpstr>
      <vt:lpstr>Couture</vt:lpstr>
      <vt:lpstr>Concourse</vt:lpstr>
      <vt:lpstr>Opulent</vt:lpstr>
      <vt:lpstr>1_Concourse</vt:lpstr>
      <vt:lpstr>2_Office Theme</vt:lpstr>
      <vt:lpstr>TEMEL  HİPNOZ EĞİTİMİ</vt:lpstr>
      <vt:lpstr>MEVZUAT</vt:lpstr>
      <vt:lpstr>Temel Hipnoz Eğitimi</vt:lpstr>
      <vt:lpstr>PowerPoint Sunusu</vt:lpstr>
      <vt:lpstr>PowerPoint Sunusu</vt:lpstr>
      <vt:lpstr>PowerPoint Sunusu</vt:lpstr>
      <vt:lpstr>PowerPoint Sunusu</vt:lpstr>
      <vt:lpstr>Hipnoz nedir?</vt:lpstr>
      <vt:lpstr>PowerPoint Sunusu</vt:lpstr>
      <vt:lpstr>PowerPoint Sunusu</vt:lpstr>
      <vt:lpstr>PowerPoint Sunusu</vt:lpstr>
      <vt:lpstr>PowerPoint Sunusu</vt:lpstr>
      <vt:lpstr>PowerPoint Sunusu</vt:lpstr>
      <vt:lpstr>PowerPoint Sunusu</vt:lpstr>
      <vt:lpstr>PowerPoint Sunusu</vt:lpstr>
      <vt:lpstr>Sonuçta şöyle söyleyebiliriz: </vt:lpstr>
      <vt:lpstr>PowerPoint Sunusu</vt:lpstr>
      <vt:lpstr>PowerPoint Sunusu</vt:lpstr>
      <vt:lpstr>PowerPoint Sunusu</vt:lpstr>
      <vt:lpstr>PowerPoint Sunusu</vt:lpstr>
      <vt:lpstr>PowerPoint Sunusu</vt:lpstr>
      <vt:lpstr>Sonuç:</vt:lpstr>
      <vt:lpstr>PowerPoint Sunusu</vt:lpstr>
      <vt:lpstr>Hipnoz nedir?</vt:lpstr>
      <vt:lpstr>Sonuç Olarak</vt:lpstr>
      <vt:lpstr>27.10.2014 tarihli</vt:lpstr>
      <vt:lpstr>Hipnozun kullanım alanları</vt:lpstr>
      <vt:lpstr>PowerPoint Sunusu</vt:lpstr>
      <vt:lpstr>Psikolojide Hipnoz</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Hİpnozun bİleşenlerİ</vt:lpstr>
      <vt:lpstr>Hayal</vt:lpstr>
      <vt:lpstr>İnanç </vt:lpstr>
      <vt:lpstr>PowerPoint Sunusu</vt:lpstr>
      <vt:lpstr>PowerPoint Sunusu</vt:lpstr>
      <vt:lpstr>PowerPoint Sunusu</vt:lpstr>
      <vt:lpstr>Bir hipnoterapist  bu bileşenleri nasıl kullanmalı?</vt:lpstr>
      <vt:lpstr>Bilinçaltı Programlamanın 5 yöntemi</vt:lpstr>
      <vt:lpstr>Tekrar etmek:</vt:lpstr>
      <vt:lpstr>Otorite figürleri:</vt:lpstr>
      <vt:lpstr>Kimlik arzusu veya özdeşleşme :</vt:lpstr>
      <vt:lpstr>Gizli hipnoz:</vt:lpstr>
      <vt:lpstr>Duygu :</vt:lpstr>
      <vt:lpstr>PowerPoint Sunusu</vt:lpstr>
      <vt:lpstr>Hipnozun tarihçesi</vt:lpstr>
      <vt:lpstr>Hint ve Mısır Uyku tapınakları</vt:lpstr>
      <vt:lpstr>Hayvanlarda hipnotizma</vt:lpstr>
      <vt:lpstr>Paracelsus (1493-1541), </vt:lpstr>
      <vt:lpstr>Valentine Greatrakes</vt:lpstr>
      <vt:lpstr>Johann Joseph Gassner</vt:lpstr>
      <vt:lpstr>Father Maximilian Hell</vt:lpstr>
      <vt:lpstr>Franz Anton Mesmer </vt:lpstr>
      <vt:lpstr>Mesmerizm </vt:lpstr>
      <vt:lpstr>Mesmerizm </vt:lpstr>
      <vt:lpstr>Abbe Faria </vt:lpstr>
      <vt:lpstr>Abbe Faria </vt:lpstr>
      <vt:lpstr>Marquis de Puységur ve Somnanbulism</vt:lpstr>
      <vt:lpstr>James Braid (1795-1860) </vt:lpstr>
      <vt:lpstr>John Elliotson (1791-1868)</vt:lpstr>
      <vt:lpstr>James Esdaile (1805-1859) </vt:lpstr>
      <vt:lpstr>Jean-Martin Charcot  (1825-1893)</vt:lpstr>
      <vt:lpstr>Pierre Janet </vt:lpstr>
      <vt:lpstr>Hippolyte Bernheim </vt:lpstr>
      <vt:lpstr>Clark Hull (1884-1952)</vt:lpstr>
      <vt:lpstr>Kilometre taşları </vt:lpstr>
      <vt:lpstr>Kilometre taşları </vt:lpstr>
      <vt:lpstr>Kilometre taşları </vt:lpstr>
      <vt:lpstr>Kilometre taşları </vt:lpstr>
      <vt:lpstr>Hİpnozla İlgİlİ   yanlIş İnançlar </vt:lpstr>
      <vt:lpstr>1. Yanlış inanç: Hipnoz oluşumunda hipnotistin gücü etkilidir.</vt:lpstr>
      <vt:lpstr> 2. Yanlış inanç: Sadece belli insanlar hipnoz olur.  </vt:lpstr>
      <vt:lpstr>PowerPoint Sunusu</vt:lpstr>
      <vt:lpstr>3. Yanlış inanç: Hipnoz olanların zihni zayıftır.</vt:lpstr>
      <vt:lpstr>4. Yanlış inanç: Hipnoz başladıktan sonra artık kişi durumunu kontrol edemez.</vt:lpstr>
      <vt:lpstr>5. Yanlış inanç: Hipnozdaki kişi iradesi dışında bir şeyler söyler ya da yapar. </vt:lpstr>
      <vt:lpstr>6.Yanlış inanç: Hipnoz olmak sağlığınıza tehlike yaratabilir. </vt:lpstr>
      <vt:lpstr>7. Yanlış inanç: Hipnoz bağımlılık yapar</vt:lpstr>
      <vt:lpstr>8. Yanlış inanç: Bir kişi sürekli hipnozda kalabilir. </vt:lpstr>
      <vt:lpstr>9. Yanlış inanç: Bir kişi hipnozda bilinçdışı ya da uyku halindedir.</vt:lpstr>
      <vt:lpstr>10.Yanlış inanç: Hipnoz olmak için sıkıcı bir takım işlemlerden geçmek gerekir.</vt:lpstr>
      <vt:lpstr>PowerPoint Sunusu</vt:lpstr>
      <vt:lpstr>11. Yanlış inanç: Hipnoz olmak için gevşemek gerekir.</vt:lpstr>
      <vt:lpstr>12. Yanlış inanç: Hipnoz tedavi edicidir.</vt:lpstr>
      <vt:lpstr>13. Yanlış inanç: Hipnozla geçmişte yaşanmış her şey hatırlanabilir.  </vt:lpstr>
      <vt:lpstr>PowerPoint Sunusu</vt:lpstr>
      <vt:lpstr>Duyguları şöyle sınıflayabiliriz</vt:lpstr>
      <vt:lpstr>Zİhnİn KurallarI </vt:lpstr>
      <vt:lpstr>Bütün duygular ve fikirler  bir fiziksel reaksiyona neden olur. </vt:lpstr>
      <vt:lpstr>PowerPoint Sunusu</vt:lpstr>
      <vt:lpstr>Zihinde beklenen,  gerçekleşmeye meyillidir. </vt:lpstr>
      <vt:lpstr>PowerPoint Sunusu</vt:lpstr>
      <vt:lpstr>Hayal bilgiden daha güçlüdür.</vt:lpstr>
      <vt:lpstr>Çelişkili fikirler bir arada tutulamazlar</vt:lpstr>
      <vt:lpstr>PowerPoint Sunusu</vt:lpstr>
      <vt:lpstr>Başarılı Hipnoz Seansı  Nasıl oluşturulur</vt:lpstr>
      <vt:lpstr>Başarılı Hipnoz Seansı  Nasıl Oluşturulur</vt:lpstr>
      <vt:lpstr>Zihinsel beklenti</vt:lpstr>
      <vt:lpstr>Başarının 3 koşulu</vt:lpstr>
      <vt:lpstr>Pre-Talk</vt:lpstr>
      <vt:lpstr>Hipnozu engelleyen tek şey</vt:lpstr>
      <vt:lpstr>Korku</vt:lpstr>
      <vt:lpstr>Pre - talk</vt:lpstr>
      <vt:lpstr>Mental Attitudes</vt:lpstr>
      <vt:lpstr>Hipnozun Genel Tıpta Kullanım Alanları</vt:lpstr>
      <vt:lpstr>PowerPoint Sunusu</vt:lpstr>
      <vt:lpstr>Hipnozun Psikiyatride Kullanım Alanları</vt:lpstr>
      <vt:lpstr>Psikolojide Hipnozun Kullanım Alanları</vt:lpstr>
      <vt:lpstr>Eğitimde Hipnozun Kullanım Alanları</vt:lpstr>
      <vt:lpstr>Hipnozun sporda kullanım alanlarından bazıları</vt:lpstr>
      <vt:lpstr>PowerPoint Sunusu</vt:lpstr>
      <vt:lpstr>Telkin nedir?</vt:lpstr>
      <vt:lpstr>Telkinin etkisi ?</vt:lpstr>
      <vt:lpstr>Hipnotistin gücü</vt:lpstr>
      <vt:lpstr>Hipnotik bir telkin</vt:lpstr>
      <vt:lpstr> Telkine etken olanlar</vt:lpstr>
      <vt:lpstr>Hipnozun her aşamasında telkin vardır</vt:lpstr>
      <vt:lpstr> Telkinler sınıflandırılır </vt:lpstr>
      <vt:lpstr> Direkt - doğrudan telkinler</vt:lpstr>
      <vt:lpstr>Direkt telkinin uygun olduğu kişiler.</vt:lpstr>
      <vt:lpstr> Direkt telkin avantajları</vt:lpstr>
      <vt:lpstr>Direkt telkin dezavantajları</vt:lpstr>
      <vt:lpstr>İndirekt telkinler</vt:lpstr>
      <vt:lpstr>Değişik indirekt telkinler</vt:lpstr>
      <vt:lpstr>İndirek telkin avantajları</vt:lpstr>
      <vt:lpstr> İndirek telkin dezavantajları</vt:lpstr>
      <vt:lpstr>İndirek telkin dezavantajları</vt:lpstr>
      <vt:lpstr>PowerPoint Sunusu</vt:lpstr>
      <vt:lpstr>BİR KİŞİDE HİPNOZ DURUMU OLUŞTURMAK İÇİN UYGULANAN YÖNTEME  “HİPNOZ İNDÜKSİYONU” DENİR.</vt:lpstr>
      <vt:lpstr>YÖNTEMİN  ÜSTÜNLÜKLERİ</vt:lpstr>
      <vt:lpstr>Dave Elman kimdir?</vt:lpstr>
      <vt:lpstr>PowerPoint Sunusu</vt:lpstr>
      <vt:lpstr>HİPNOZA HAZIRLIK </vt:lpstr>
      <vt:lpstr>DAVE ELMAN HİPNOZ İNDÜKSİYONUNUN BÖLÜMLERİ VE AŞAMALARI</vt:lpstr>
      <vt:lpstr>1. BÖLÜM Bedensel gevşekliği oluşturmak</vt:lpstr>
      <vt:lpstr>1. aşama:  Gözlerin Kapatılması</vt:lpstr>
      <vt:lpstr>2. Aşamaya geçiş Telkinleri </vt:lpstr>
      <vt:lpstr>2. aşama:  KRİTİK faktörün  by-pass edilmesi </vt:lpstr>
      <vt:lpstr>2. AŞAMADA VERİLEBİLECEK TELKİNLER</vt:lpstr>
      <vt:lpstr>DERİNLEŞTİRME</vt:lpstr>
      <vt:lpstr>3. Aşama : Fiziksel gevşekliğin  derinleştirilmesi </vt:lpstr>
      <vt:lpstr>3. Aşamada verilebilecek telkinler</vt:lpstr>
      <vt:lpstr>3. Aşamada NELERE DİKKAT ETMELİYİZ? </vt:lpstr>
      <vt:lpstr>3. Aşamada NELERE DİKKAT ETMELİYİZ? </vt:lpstr>
      <vt:lpstr>4. aşama:  Fiziksel gevşekliğin test edilmesi </vt:lpstr>
      <vt:lpstr>4. Aşamada verilebilecek telkinler</vt:lpstr>
      <vt:lpstr>Zİhinsel gevşeklik oluşturma aşamasına geçiş telkinleri</vt:lpstr>
      <vt:lpstr>2. BÖLÜM ZİHİNSEL gevşekliği oluşturmak </vt:lpstr>
      <vt:lpstr>5. AŞAMA Zihinsel gevşeklİğİn sağlanmasI </vt:lpstr>
      <vt:lpstr>BU AŞAMADA NASIL TELKİN VERİLMELİ?</vt:lpstr>
      <vt:lpstr>BU AŞAMADA NASIL TELKİN VERİLMELİ?</vt:lpstr>
      <vt:lpstr>DİKKAT EDİLMESİ GEREKEN NOKTALAR</vt:lpstr>
      <vt:lpstr>DİKKAT EDİLMESİ GEREKEN NOKTALAR</vt:lpstr>
      <vt:lpstr>6. AŞAMA  Zihinsel gevşekliğin derinleştirilmesi </vt:lpstr>
      <vt:lpstr>6. Aşamada verilebilecek telkinler</vt:lpstr>
      <vt:lpstr>DİKKAT EDİLMESİ GEREKEN NOKTALAR</vt:lpstr>
      <vt:lpstr>3. BÖLÜM İKNA </vt:lpstr>
      <vt:lpstr>7. AŞAMA Gizli derinlik testinin uygulanması</vt:lpstr>
      <vt:lpstr>7. Aşamada verilebilecek telkinler</vt:lpstr>
      <vt:lpstr>Dikkat edilecek noktalar</vt:lpstr>
      <vt:lpstr>8. Aşama  Sujenin hipnozda olduğuna ikna edilmesi </vt:lpstr>
      <vt:lpstr>GÖZ KATALEPSİ TESTİ NASIL YAPILIR?</vt:lpstr>
      <vt:lpstr>PowerPoint Sunusu</vt:lpstr>
      <vt:lpstr>PowerPoint Sunusu</vt:lpstr>
      <vt:lpstr>Kişinin hipnozda olduğuna ikna olmamızı sağlayan noktalar</vt:lpstr>
      <vt:lpstr>Test yapmaya ne zaman başlarız?</vt:lpstr>
      <vt:lpstr>Diğer testler</vt:lpstr>
      <vt:lpstr>9. Aşama Gerekiyorsa uygun telkinlerin verilmesi </vt:lpstr>
      <vt:lpstr>10. Sujeyi hipnozdan çıkarmak.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Mehmet Karav (TR - Duzce)</dc:creator>
  <cp:lastModifiedBy>halil mehmet karav</cp:lastModifiedBy>
  <cp:revision>35</cp:revision>
  <dcterms:created xsi:type="dcterms:W3CDTF">2006-08-16T00:00:00Z</dcterms:created>
  <dcterms:modified xsi:type="dcterms:W3CDTF">2024-04-20T06:25:01Z</dcterms:modified>
</cp:coreProperties>
</file>