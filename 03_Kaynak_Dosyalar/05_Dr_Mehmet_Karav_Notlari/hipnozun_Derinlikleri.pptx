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7" r:id="rId6"/>
    <p:sldId id="266" r:id="rId7"/>
    <p:sldId id="260" r:id="rId8"/>
    <p:sldId id="268" r:id="rId9"/>
    <p:sldId id="269" r:id="rId10"/>
    <p:sldId id="261" r:id="rId11"/>
    <p:sldId id="270" r:id="rId12"/>
    <p:sldId id="271" r:id="rId13"/>
    <p:sldId id="262" r:id="rId14"/>
    <p:sldId id="263" r:id="rId15"/>
    <p:sldId id="264" r:id="rId16"/>
    <p:sldId id="265" r:id="rId1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804" y="4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CE52B7D-9F8B-406D-8C42-E2ED632CB40B}"/>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5D8B33A9-43FE-441D-AAFF-A07B15A8CE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35BC97C3-E8A5-406E-9669-72F7834720DF}"/>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C1298105-E245-4BD1-81B1-EACE0B986E77}"/>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ABA7AE8-AF05-4CB0-803F-CA612AD104B5}"/>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3394387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41F2FE-EDB2-4036-A4A9-961F2F9C5CB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FEE1A080-8AAB-420A-BDBA-0D99085FC091}"/>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BFCFCBA-2638-425C-95B9-2332859822B2}"/>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339CEFE8-397B-486F-B8DB-DDF04D491F7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B22A1C5-D175-4410-A2A4-A459A0305F45}"/>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168543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E7A90B0-9F24-4BC8-BAEC-3CCF6CB49AD6}"/>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58845F92-0973-4ADD-854D-0D5032F2F2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C4F92ADA-B002-4C7D-A3BC-5AA142036F44}"/>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551DF188-7171-4AFA-A7EC-B6C463CA871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1F48D806-5677-46D2-80AC-455EC11A2D5A}"/>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92919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573D4A3-DB39-47D2-A41E-167D2D37A4A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D0051E5-B2F8-4BE5-BAB4-53F905C1B4C2}"/>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053CB36C-C264-4859-BEA5-28BED7AF6939}"/>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32F6EC03-114F-4C19-861F-D3F8823446BF}"/>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6" name="Alt Bilgi Yer Tutucusu 5">
            <a:extLst>
              <a:ext uri="{FF2B5EF4-FFF2-40B4-BE49-F238E27FC236}">
                <a16:creationId xmlns:a16="http://schemas.microsoft.com/office/drawing/2014/main" id="{959DC5EF-9FCE-4A06-B1B9-639833381D03}"/>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88FF1ED-C801-452E-B13C-08D62296C1B1}"/>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2164659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C97EF0-1C0C-4BF1-A906-8926D1970D28}"/>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5CF68EF-3B94-4C60-9DF3-E317DE00A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A60C53ED-E91A-4DDB-8BAD-E324E74965C8}"/>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21613EA2-1811-4A7B-AC27-9873395C29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876957C9-6B28-4044-A7DC-317EF221FCA0}"/>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A03FE7AC-1A85-44A9-B6A5-CA5979E98865}"/>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8" name="Alt Bilgi Yer Tutucusu 7">
            <a:extLst>
              <a:ext uri="{FF2B5EF4-FFF2-40B4-BE49-F238E27FC236}">
                <a16:creationId xmlns:a16="http://schemas.microsoft.com/office/drawing/2014/main" id="{B3B6D182-2684-465A-B426-6D0CBAA9EC15}"/>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87631570-400C-47E0-8FC7-FF342D2E4739}"/>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4155768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730F09-4215-4BF9-A6E2-92791C094815}"/>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44D34C56-8BEC-41AE-8ACF-695C5DDE2014}"/>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4" name="Alt Bilgi Yer Tutucusu 3">
            <a:extLst>
              <a:ext uri="{FF2B5EF4-FFF2-40B4-BE49-F238E27FC236}">
                <a16:creationId xmlns:a16="http://schemas.microsoft.com/office/drawing/2014/main" id="{C16D520B-CCE6-4D7E-9CA2-949FCE432A4D}"/>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6B12E50A-C40A-4772-8B76-55AEE29EEA90}"/>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3702337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F9BD9AF3-1B04-4D2C-BAC3-0DF2DB0F78CD}"/>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3" name="Alt Bilgi Yer Tutucusu 2">
            <a:extLst>
              <a:ext uri="{FF2B5EF4-FFF2-40B4-BE49-F238E27FC236}">
                <a16:creationId xmlns:a16="http://schemas.microsoft.com/office/drawing/2014/main" id="{73C6D4BF-BC35-44F6-83DE-61B2254BCB76}"/>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51C20183-4090-4E5A-A8CE-03293314A23B}"/>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4040260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61A05A-DB25-470B-BEBC-4DA41545A21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FA4EB21-615A-4E21-86A1-06E2E83D71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D1BC338-D3B1-433E-8C8B-4F3BB093F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55D6A318-B167-4693-9E9B-F634F08881DB}"/>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6" name="Alt Bilgi Yer Tutucusu 5">
            <a:extLst>
              <a:ext uri="{FF2B5EF4-FFF2-40B4-BE49-F238E27FC236}">
                <a16:creationId xmlns:a16="http://schemas.microsoft.com/office/drawing/2014/main" id="{7D8741FE-13E2-4A4D-8806-6350BB235058}"/>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A957DCA3-4D8F-4676-9718-D699BCABA8AE}"/>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197880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2717E80-6DB2-4874-9149-41476B8DD9BF}"/>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61B1018-3D45-4DB4-B4F5-EC8CDC5979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D751B707-C32F-44A2-8124-ECFC64B22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EAD1F32-9C50-45B5-8AD1-540457F4A330}"/>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6" name="Alt Bilgi Yer Tutucusu 5">
            <a:extLst>
              <a:ext uri="{FF2B5EF4-FFF2-40B4-BE49-F238E27FC236}">
                <a16:creationId xmlns:a16="http://schemas.microsoft.com/office/drawing/2014/main" id="{9029A294-D251-4EE7-9A4B-8C2676DA4D3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3FBBE86C-7F32-4C91-9202-646F307E3037}"/>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4041927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2BEE6C-D15C-4D26-A8AC-3BB941CD864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9A55EF00-0B0B-409B-AB4A-4AE4B1B4469D}"/>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45B85D23-B470-4D6D-8D25-EF723C6F89A1}"/>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EE36B934-ADFE-4123-902F-FF269166820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7852B3C-4426-4402-8AAA-3D45D599CE0C}"/>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2495690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95E29D8A-D4B7-4CEF-B1F7-5FCBA694B6F9}"/>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F44831B1-80C6-45E3-8763-BA2C8853DD93}"/>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DC0692C-A862-48D8-891B-7B012D8FD2BF}"/>
              </a:ext>
            </a:extLst>
          </p:cNvPr>
          <p:cNvSpPr>
            <a:spLocks noGrp="1"/>
          </p:cNvSpPr>
          <p:nvPr>
            <p:ph type="dt" sz="half" idx="10"/>
          </p:nvPr>
        </p:nvSpPr>
        <p:spPr/>
        <p:txBody>
          <a:body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3DEF2DE2-098E-44D0-A1BC-4206B187356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F1D007C-3435-4AC3-8391-4DF4A0985A50}"/>
              </a:ext>
            </a:extLst>
          </p:cNvPr>
          <p:cNvSpPr>
            <a:spLocks noGrp="1"/>
          </p:cNvSpPr>
          <p:nvPr>
            <p:ph type="sldNum" sz="quarter" idx="12"/>
          </p:nvPr>
        </p:nvSpPr>
        <p:spPr/>
        <p:txBody>
          <a:bodyPr/>
          <a:lstStyle/>
          <a:p>
            <a:fld id="{5AC18981-AA5C-4C12-9B61-2CD66766E116}" type="slidenum">
              <a:rPr lang="tr-TR" smtClean="0"/>
              <a:t>‹#›</a:t>
            </a:fld>
            <a:endParaRPr lang="tr-TR"/>
          </a:p>
        </p:txBody>
      </p:sp>
    </p:spTree>
    <p:extLst>
      <p:ext uri="{BB962C8B-B14F-4D97-AF65-F5344CB8AC3E}">
        <p14:creationId xmlns:p14="http://schemas.microsoft.com/office/powerpoint/2010/main" val="329495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848ABC01-C257-4D18-A59F-2EB8DE13B5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93719F0C-F605-4DE1-8ABF-A9C9A77985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762910E-49A4-4061-B871-8A26B54DA3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4A62B0-42A2-4EDF-95B3-9F221A65F9B7}" type="datetimeFigureOut">
              <a:rPr lang="tr-TR" smtClean="0"/>
              <a:t>25.10.2024</a:t>
            </a:fld>
            <a:endParaRPr lang="tr-TR"/>
          </a:p>
        </p:txBody>
      </p:sp>
      <p:sp>
        <p:nvSpPr>
          <p:cNvPr id="5" name="Alt Bilgi Yer Tutucusu 4">
            <a:extLst>
              <a:ext uri="{FF2B5EF4-FFF2-40B4-BE49-F238E27FC236}">
                <a16:creationId xmlns:a16="http://schemas.microsoft.com/office/drawing/2014/main" id="{4741BD3F-655E-49D1-859E-FD91A0AEE3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67BB9E6A-08CE-401E-BA89-FE02AB0512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C18981-AA5C-4C12-9B61-2CD66766E116}" type="slidenum">
              <a:rPr lang="tr-TR" smtClean="0"/>
              <a:t>‹#›</a:t>
            </a:fld>
            <a:endParaRPr lang="tr-TR"/>
          </a:p>
        </p:txBody>
      </p:sp>
    </p:spTree>
    <p:extLst>
      <p:ext uri="{BB962C8B-B14F-4D97-AF65-F5344CB8AC3E}">
        <p14:creationId xmlns:p14="http://schemas.microsoft.com/office/powerpoint/2010/main" val="786059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899913-4BA3-4B07-9B93-6DACED0CF9A9}"/>
              </a:ext>
            </a:extLst>
          </p:cNvPr>
          <p:cNvSpPr>
            <a:spLocks noGrp="1"/>
          </p:cNvSpPr>
          <p:nvPr>
            <p:ph type="ctrTitle"/>
          </p:nvPr>
        </p:nvSpPr>
        <p:spPr/>
        <p:txBody>
          <a:bodyPr/>
          <a:lstStyle/>
          <a:p>
            <a:r>
              <a:rPr lang="tr-TR" sz="6000" b="1" dirty="0">
                <a:effectLst/>
                <a:latin typeface="Calibri" panose="020F0502020204030204" pitchFamily="34" charset="0"/>
                <a:ea typeface="Times New Roman" panose="02020603050405020304" pitchFamily="18" charset="0"/>
              </a:rPr>
              <a:t>Hipnozun Derinlikleri </a:t>
            </a:r>
            <a:br>
              <a:rPr lang="tr-TR" sz="6000" b="1" dirty="0">
                <a:effectLst/>
                <a:latin typeface="Arial" panose="020B0604020202020204" pitchFamily="34" charset="0"/>
                <a:ea typeface="Times New Roman" panose="02020603050405020304" pitchFamily="18" charset="0"/>
              </a:rPr>
            </a:br>
            <a:endParaRPr lang="tr-TR" dirty="0"/>
          </a:p>
        </p:txBody>
      </p:sp>
      <p:sp>
        <p:nvSpPr>
          <p:cNvPr id="3" name="Alt Başlık 2">
            <a:extLst>
              <a:ext uri="{FF2B5EF4-FFF2-40B4-BE49-F238E27FC236}">
                <a16:creationId xmlns:a16="http://schemas.microsoft.com/office/drawing/2014/main" id="{40223D82-C530-4921-9FFA-99ADD6CB4655}"/>
              </a:ext>
            </a:extLst>
          </p:cNvPr>
          <p:cNvSpPr>
            <a:spLocks noGrp="1"/>
          </p:cNvSpPr>
          <p:nvPr>
            <p:ph type="subTitle" idx="1"/>
          </p:nvPr>
        </p:nvSpPr>
        <p:spPr/>
        <p:txBody>
          <a:bodyPr/>
          <a:lstStyle/>
          <a:p>
            <a:endParaRPr lang="tr-TR"/>
          </a:p>
        </p:txBody>
      </p:sp>
    </p:spTree>
    <p:extLst>
      <p:ext uri="{BB962C8B-B14F-4D97-AF65-F5344CB8AC3E}">
        <p14:creationId xmlns:p14="http://schemas.microsoft.com/office/powerpoint/2010/main" val="1811634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434C410-069E-4CB6-8D6E-810C747753E8}"/>
              </a:ext>
            </a:extLst>
          </p:cNvPr>
          <p:cNvSpPr>
            <a:spLocks noGrp="1"/>
          </p:cNvSpPr>
          <p:nvPr>
            <p:ph type="title"/>
          </p:nvPr>
        </p:nvSpPr>
        <p:spPr/>
        <p:txBody>
          <a:bodyPr/>
          <a:lstStyle/>
          <a:p>
            <a:pPr algn="ctr"/>
            <a:r>
              <a:rPr lang="tr-TR" sz="4400" b="1" dirty="0">
                <a:effectLst/>
                <a:latin typeface="Calibri" panose="020F0502020204030204" pitchFamily="34" charset="0"/>
                <a:ea typeface="Times New Roman" panose="02020603050405020304" pitchFamily="18" charset="0"/>
              </a:rPr>
              <a:t>Hipnozun Derinlikleri </a:t>
            </a:r>
            <a:br>
              <a:rPr lang="tr-TR" sz="4400" b="1" dirty="0">
                <a:effectLst/>
                <a:latin typeface="Arial" panose="020B0604020202020204" pitchFamily="34" charset="0"/>
                <a:ea typeface="Times New Roman" panose="02020603050405020304" pitchFamily="18" charset="0"/>
              </a:rPr>
            </a:br>
            <a:endParaRPr lang="tr-TR" dirty="0"/>
          </a:p>
        </p:txBody>
      </p:sp>
      <p:sp>
        <p:nvSpPr>
          <p:cNvPr id="3" name="İçerik Yer Tutucusu 2">
            <a:extLst>
              <a:ext uri="{FF2B5EF4-FFF2-40B4-BE49-F238E27FC236}">
                <a16:creationId xmlns:a16="http://schemas.microsoft.com/office/drawing/2014/main" id="{C24FAD4B-E7C3-42B9-8D74-31BAFA677F0D}"/>
              </a:ext>
            </a:extLst>
          </p:cNvPr>
          <p:cNvSpPr>
            <a:spLocks noGrp="1"/>
          </p:cNvSpPr>
          <p:nvPr>
            <p:ph idx="1"/>
          </p:nvPr>
        </p:nvSpPr>
        <p:spPr>
          <a:xfrm>
            <a:off x="294640" y="1361440"/>
            <a:ext cx="11328400" cy="5131435"/>
          </a:xfrm>
        </p:spPr>
        <p:txBody>
          <a:bodyPr>
            <a:normAutofit/>
          </a:bodyPr>
          <a:lstStyle/>
          <a:p>
            <a:pPr algn="just">
              <a:spcBef>
                <a:spcPts val="300"/>
              </a:spcBef>
              <a:spcAft>
                <a:spcPts val="720"/>
              </a:spcAft>
            </a:pPr>
            <a:r>
              <a:rPr lang="tr-TR" sz="3200" dirty="0">
                <a:effectLst/>
                <a:latin typeface="Calibri" panose="020F0502020204030204" pitchFamily="34" charset="0"/>
                <a:ea typeface="Times New Roman" panose="02020603050405020304" pitchFamily="18" charset="0"/>
              </a:rPr>
              <a:t>Hipnozun kaç düzeyde derinliğe sahip olduğuna ilişkin görüşler farklılık göstermektedir. </a:t>
            </a:r>
          </a:p>
          <a:p>
            <a:pPr>
              <a:spcBef>
                <a:spcPts val="300"/>
              </a:spcBef>
              <a:spcAft>
                <a:spcPts val="720"/>
              </a:spcAft>
            </a:pPr>
            <a:r>
              <a:rPr lang="tr-TR" sz="3200" dirty="0">
                <a:effectLst/>
                <a:latin typeface="Calibri" panose="020F0502020204030204" pitchFamily="34" charset="0"/>
                <a:ea typeface="Times New Roman" panose="02020603050405020304" pitchFamily="18" charset="0"/>
              </a:rPr>
              <a:t>Dr. James Martin </a:t>
            </a:r>
            <a:r>
              <a:rPr lang="tr-TR" sz="3200" dirty="0" err="1">
                <a:effectLst/>
                <a:latin typeface="Calibri" panose="020F0502020204030204" pitchFamily="34" charset="0"/>
                <a:ea typeface="Times New Roman" panose="02020603050405020304" pitchFamily="18" charset="0"/>
              </a:rPr>
              <a:t>Charcot’un</a:t>
            </a:r>
            <a:r>
              <a:rPr lang="tr-TR" sz="3200" dirty="0">
                <a:effectLst/>
                <a:latin typeface="Calibri" panose="020F0502020204030204" pitchFamily="34" charset="0"/>
                <a:ea typeface="Times New Roman" panose="02020603050405020304" pitchFamily="18" charset="0"/>
              </a:rPr>
              <a:t> hipnozun 3 temel derinlik evresine ilişkin tanımları günümüzde de kabul edilmektedir. </a:t>
            </a:r>
          </a:p>
          <a:p>
            <a:pPr>
              <a:spcBef>
                <a:spcPts val="300"/>
              </a:spcBef>
              <a:spcAft>
                <a:spcPts val="720"/>
              </a:spcAft>
            </a:pPr>
            <a:r>
              <a:rPr lang="tr-TR" sz="3200" dirty="0">
                <a:effectLst/>
                <a:latin typeface="Calibri" panose="020F0502020204030204" pitchFamily="34" charset="0"/>
                <a:ea typeface="Times New Roman" panose="02020603050405020304" pitchFamily="18" charset="0"/>
              </a:rPr>
              <a:t>Diğer </a:t>
            </a:r>
            <a:r>
              <a:rPr lang="tr-TR" sz="3200" dirty="0" err="1">
                <a:effectLst/>
                <a:latin typeface="Calibri" panose="020F0502020204030204" pitchFamily="34" charset="0"/>
                <a:ea typeface="Times New Roman" panose="02020603050405020304" pitchFamily="18" charset="0"/>
              </a:rPr>
              <a:t>hipnoterapistler</a:t>
            </a:r>
            <a:r>
              <a:rPr lang="tr-TR" sz="3200" dirty="0">
                <a:effectLst/>
                <a:latin typeface="Calibri" panose="020F0502020204030204" pitchFamily="34" charset="0"/>
                <a:ea typeface="Times New Roman" panose="02020603050405020304" pitchFamily="18" charset="0"/>
              </a:rPr>
              <a:t> 4, 5, 6..gibi tanımlamalar yapsa da </a:t>
            </a:r>
          </a:p>
          <a:p>
            <a:pPr>
              <a:spcBef>
                <a:spcPts val="300"/>
              </a:spcBef>
              <a:spcAft>
                <a:spcPts val="720"/>
              </a:spcAft>
            </a:pPr>
            <a:r>
              <a:rPr lang="tr-TR" sz="3200" b="1" dirty="0" err="1">
                <a:effectLst/>
                <a:latin typeface="Calibri" panose="020F0502020204030204" pitchFamily="34" charset="0"/>
                <a:ea typeface="Times New Roman" panose="02020603050405020304" pitchFamily="18" charset="0"/>
              </a:rPr>
              <a:t>Charcot’un</a:t>
            </a:r>
            <a:r>
              <a:rPr lang="tr-TR" sz="3200" b="1" dirty="0">
                <a:effectLst/>
                <a:latin typeface="Calibri" panose="020F0502020204030204" pitchFamily="34" charset="0"/>
                <a:ea typeface="Times New Roman" panose="02020603050405020304" pitchFamily="18" charset="0"/>
              </a:rPr>
              <a:t> 3 temeli pratikte daha çok kabul görmektedir. </a:t>
            </a:r>
          </a:p>
          <a:p>
            <a:pPr>
              <a:spcBef>
                <a:spcPts val="300"/>
              </a:spcBef>
              <a:spcAft>
                <a:spcPts val="720"/>
              </a:spcAft>
            </a:pPr>
            <a:r>
              <a:rPr lang="tr-TR" sz="3200" b="1" dirty="0" err="1">
                <a:effectLst/>
                <a:latin typeface="Calibri" panose="020F0502020204030204" pitchFamily="34" charset="0"/>
                <a:ea typeface="Times New Roman" panose="02020603050405020304" pitchFamily="18" charset="0"/>
              </a:rPr>
              <a:t>Charcot’un</a:t>
            </a:r>
            <a:r>
              <a:rPr lang="tr-TR" sz="3200" b="1" dirty="0">
                <a:effectLst/>
                <a:latin typeface="Calibri" panose="020F0502020204030204" pitchFamily="34" charset="0"/>
                <a:ea typeface="Times New Roman" panose="02020603050405020304" pitchFamily="18" charset="0"/>
              </a:rPr>
              <a:t> bu evreleri LETARJİ, KATALEPSİ ve SOMNAMBULİZM’ </a:t>
            </a:r>
            <a:r>
              <a:rPr lang="tr-TR" sz="3200" b="1" dirty="0" err="1">
                <a:effectLst/>
                <a:latin typeface="Calibri" panose="020F0502020204030204" pitchFamily="34" charset="0"/>
                <a:ea typeface="Times New Roman" panose="02020603050405020304" pitchFamily="18" charset="0"/>
              </a:rPr>
              <a:t>dir</a:t>
            </a:r>
            <a:r>
              <a:rPr lang="tr-TR" sz="3200" b="1" dirty="0">
                <a:effectLst/>
                <a:latin typeface="Calibri" panose="020F0502020204030204" pitchFamily="34" charset="0"/>
                <a:ea typeface="Times New Roman" panose="02020603050405020304" pitchFamily="18" charset="0"/>
              </a:rPr>
              <a:t>. </a:t>
            </a:r>
          </a:p>
          <a:p>
            <a:pPr>
              <a:spcBef>
                <a:spcPts val="300"/>
              </a:spcBef>
              <a:spcAft>
                <a:spcPts val="720"/>
              </a:spcAft>
            </a:pPr>
            <a:r>
              <a:rPr lang="tr-TR" sz="3200" b="1" dirty="0">
                <a:effectLst/>
                <a:latin typeface="Calibri" panose="020F0502020204030204" pitchFamily="34" charset="0"/>
                <a:ea typeface="Times New Roman" panose="02020603050405020304" pitchFamily="18" charset="0"/>
              </a:rPr>
              <a:t>Bunlar  genellikle hafif, orta ve derin hipnoz olarak anılırlar. </a:t>
            </a:r>
            <a:endParaRPr lang="tr-TR" sz="32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419404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F8D2C33-31E0-496D-A20C-F42171511006}"/>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DEC4EE8C-5017-4923-9EBB-48BE0A77F6B1}"/>
              </a:ext>
            </a:extLst>
          </p:cNvPr>
          <p:cNvSpPr>
            <a:spLocks noGrp="1"/>
          </p:cNvSpPr>
          <p:nvPr>
            <p:ph idx="1"/>
          </p:nvPr>
        </p:nvSpPr>
        <p:spPr/>
        <p:txBody>
          <a:bodyPr>
            <a:normAutofit/>
          </a:bodyPr>
          <a:lstStyle/>
          <a:p>
            <a:pPr algn="just">
              <a:spcBef>
                <a:spcPts val="300"/>
              </a:spcBef>
              <a:spcAft>
                <a:spcPts val="720"/>
              </a:spcAft>
            </a:pPr>
            <a:r>
              <a:rPr lang="tr-TR" sz="2800" dirty="0">
                <a:effectLst/>
                <a:latin typeface="Calibri" panose="020F0502020204030204" pitchFamily="34" charset="0"/>
                <a:ea typeface="Times New Roman" panose="02020603050405020304" pitchFamily="18" charset="0"/>
              </a:rPr>
              <a:t>Gerald F. </a:t>
            </a:r>
            <a:r>
              <a:rPr lang="tr-TR" sz="2800" dirty="0" err="1">
                <a:effectLst/>
                <a:latin typeface="Calibri" panose="020F0502020204030204" pitchFamily="34" charset="0"/>
                <a:ea typeface="Times New Roman" panose="02020603050405020304" pitchFamily="18" charset="0"/>
              </a:rPr>
              <a:t>Kein</a:t>
            </a:r>
            <a:r>
              <a:rPr lang="tr-TR" sz="2800" dirty="0">
                <a:effectLst/>
                <a:latin typeface="Calibri" panose="020F0502020204030204" pitchFamily="34" charset="0"/>
                <a:ea typeface="Times New Roman" panose="02020603050405020304" pitchFamily="18" charset="0"/>
              </a:rPr>
              <a:t> derin hipnozdan daha hafif bir hipnoz evresini kabul etmez. </a:t>
            </a:r>
          </a:p>
          <a:p>
            <a:pPr algn="just">
              <a:spcBef>
                <a:spcPts val="300"/>
              </a:spcBef>
              <a:spcAft>
                <a:spcPts val="720"/>
              </a:spcAft>
            </a:pPr>
            <a:r>
              <a:rPr lang="tr-TR" sz="2800" dirty="0">
                <a:effectLst/>
                <a:latin typeface="Calibri" panose="020F0502020204030204" pitchFamily="34" charset="0"/>
                <a:ea typeface="Times New Roman" panose="02020603050405020304" pitchFamily="18" charset="0"/>
              </a:rPr>
              <a:t>Bu evrelerin derin hipnoz elde ederken geçilmesi zorunlu evreler olduğunu, </a:t>
            </a:r>
          </a:p>
          <a:p>
            <a:pPr algn="just">
              <a:spcBef>
                <a:spcPts val="300"/>
              </a:spcBef>
              <a:spcAft>
                <a:spcPts val="720"/>
              </a:spcAft>
            </a:pPr>
            <a:r>
              <a:rPr lang="tr-TR" sz="2800" dirty="0">
                <a:effectLst/>
                <a:latin typeface="Calibri" panose="020F0502020204030204" pitchFamily="34" charset="0"/>
                <a:ea typeface="Times New Roman" panose="02020603050405020304" pitchFamily="18" charset="0"/>
              </a:rPr>
              <a:t>bunun dışında başka bir işe yaramadığını, </a:t>
            </a:r>
          </a:p>
          <a:p>
            <a:pPr algn="just">
              <a:spcBef>
                <a:spcPts val="300"/>
              </a:spcBef>
              <a:spcAft>
                <a:spcPts val="720"/>
              </a:spcAft>
            </a:pPr>
            <a:r>
              <a:rPr lang="tr-TR" sz="2800" dirty="0">
                <a:effectLst/>
                <a:latin typeface="Calibri" panose="020F0502020204030204" pitchFamily="34" charset="0"/>
                <a:ea typeface="Times New Roman" panose="02020603050405020304" pitchFamily="18" charset="0"/>
              </a:rPr>
              <a:t>bu nedenle de bahsetmeye gerek olmadığını iddia eder. </a:t>
            </a:r>
            <a:endParaRPr lang="tr-TR" sz="28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2562563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97BED7A-E493-4661-AF34-5E8DF7F919D8}"/>
              </a:ext>
            </a:extLst>
          </p:cNvPr>
          <p:cNvSpPr>
            <a:spLocks noGrp="1"/>
          </p:cNvSpPr>
          <p:nvPr>
            <p:ph type="title"/>
          </p:nvPr>
        </p:nvSpPr>
        <p:spPr>
          <a:xfrm>
            <a:off x="1051560" y="365125"/>
            <a:ext cx="10515600" cy="1325563"/>
          </a:xfrm>
        </p:spPr>
        <p:txBody>
          <a:bodyPr/>
          <a:lstStyle/>
          <a:p>
            <a:r>
              <a:rPr lang="tr-TR" sz="4400" b="1" dirty="0">
                <a:effectLst/>
                <a:latin typeface="Calibri" panose="020F0502020204030204" pitchFamily="34" charset="0"/>
                <a:ea typeface="Times New Roman" panose="02020603050405020304" pitchFamily="18" charset="0"/>
              </a:rPr>
              <a:t>Hafif evre :</a:t>
            </a:r>
            <a:endParaRPr lang="tr-TR" dirty="0"/>
          </a:p>
        </p:txBody>
      </p:sp>
      <p:sp>
        <p:nvSpPr>
          <p:cNvPr id="3" name="İçerik Yer Tutucusu 2">
            <a:extLst>
              <a:ext uri="{FF2B5EF4-FFF2-40B4-BE49-F238E27FC236}">
                <a16:creationId xmlns:a16="http://schemas.microsoft.com/office/drawing/2014/main" id="{FE15755A-6257-44E9-81E0-B27A19B28EE4}"/>
              </a:ext>
            </a:extLst>
          </p:cNvPr>
          <p:cNvSpPr>
            <a:spLocks noGrp="1"/>
          </p:cNvSpPr>
          <p:nvPr>
            <p:ph idx="1"/>
          </p:nvPr>
        </p:nvSpPr>
        <p:spPr/>
        <p:txBody>
          <a:bodyPr>
            <a:normAutofit lnSpcReduction="10000"/>
          </a:bodyPr>
          <a:lstStyle/>
          <a:p>
            <a:pPr>
              <a:spcBef>
                <a:spcPts val="300"/>
              </a:spcBef>
              <a:spcAft>
                <a:spcPts val="720"/>
              </a:spcAft>
            </a:pPr>
            <a:r>
              <a:rPr lang="tr-TR" sz="2800" b="0" dirty="0">
                <a:effectLst/>
                <a:latin typeface="Calibri" panose="020F0502020204030204" pitchFamily="34" charset="0"/>
                <a:ea typeface="Times New Roman" panose="02020603050405020304" pitchFamily="18" charset="0"/>
              </a:rPr>
              <a:t>Hafif (uyuşuk) evrede kişi fiziksel rahatlama belirtileri verir, ağır nefes almaya başlar.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Tüm bedenine yayılmış bir ağırlık hisseder ve bununla birlikte konuşması, hareket etmesi ve düşünmesi yavaşlar. ( Bazıları bu durumu  kısmi uyuşma olarak da tanımlayabilir. )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Ayrıca 5 duyu organı algılarında artan bir farkındalık vardır.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Analitik bir </a:t>
            </a:r>
            <a:r>
              <a:rPr lang="tr-TR" sz="2800" b="0" dirty="0" err="1">
                <a:effectLst/>
                <a:latin typeface="Calibri" panose="020F0502020204030204" pitchFamily="34" charset="0"/>
                <a:ea typeface="Times New Roman" panose="02020603050405020304" pitchFamily="18" charset="0"/>
              </a:rPr>
              <a:t>suje</a:t>
            </a:r>
            <a:r>
              <a:rPr lang="tr-TR" sz="2800" b="0" dirty="0">
                <a:effectLst/>
                <a:latin typeface="Calibri" panose="020F0502020204030204" pitchFamily="34" charset="0"/>
                <a:ea typeface="Times New Roman" panose="02020603050405020304" pitchFamily="18" charset="0"/>
              </a:rPr>
              <a:t> arka fondaki seslerle ilgili veya nefesteki sarımsak veya alkol kokusu hakkında daha fazla bir farkındalık geliştirecektir.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Gözlerde ve uzuvlarda uyuşma hissi ile birlikte telkine yatkınlık durumu gözlenebilecektir.</a:t>
            </a:r>
            <a:endParaRPr lang="tr-TR" sz="2800" b="1" dirty="0">
              <a:effectLst/>
              <a:latin typeface="Arial" panose="020B0604020202020204" pitchFamily="34" charset="0"/>
              <a:ea typeface="Times New Roman" panose="02020603050405020304" pitchFamily="18" charset="0"/>
            </a:endParaRPr>
          </a:p>
          <a:p>
            <a:endParaRPr lang="tr-TR" dirty="0"/>
          </a:p>
        </p:txBody>
      </p:sp>
    </p:spTree>
    <p:extLst>
      <p:ext uri="{BB962C8B-B14F-4D97-AF65-F5344CB8AC3E}">
        <p14:creationId xmlns:p14="http://schemas.microsoft.com/office/powerpoint/2010/main" val="4194049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1C5311-362B-4459-A664-0AE03E3865FA}"/>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A82D00EF-46C4-4A15-BD27-E1B2204FDB72}"/>
              </a:ext>
            </a:extLst>
          </p:cNvPr>
          <p:cNvSpPr>
            <a:spLocks noGrp="1"/>
          </p:cNvSpPr>
          <p:nvPr>
            <p:ph idx="1"/>
          </p:nvPr>
        </p:nvSpPr>
        <p:spPr/>
        <p:txBody>
          <a:bodyPr/>
          <a:lstStyle/>
          <a:p>
            <a:r>
              <a:rPr lang="tr-TR" b="1" i="0" dirty="0" err="1">
                <a:solidFill>
                  <a:srgbClr val="666666"/>
                </a:solidFill>
                <a:effectLst/>
                <a:latin typeface="Lora" pitchFamily="2" charset="-94"/>
              </a:rPr>
              <a:t>Letarjik</a:t>
            </a:r>
            <a:r>
              <a:rPr lang="tr-TR" b="1" i="0" dirty="0">
                <a:solidFill>
                  <a:srgbClr val="666666"/>
                </a:solidFill>
                <a:effectLst/>
                <a:latin typeface="Lora" pitchFamily="2" charset="-94"/>
              </a:rPr>
              <a:t> Düzey</a:t>
            </a:r>
            <a:r>
              <a:rPr lang="tr-TR" b="0" i="0" dirty="0">
                <a:solidFill>
                  <a:srgbClr val="666666"/>
                </a:solidFill>
                <a:effectLst/>
                <a:latin typeface="Lora" pitchFamily="2" charset="-94"/>
              </a:rPr>
              <a:t> olarak da bilinir. Beynin çalışma hızı olarak beta beyin dalgasının sonraları alfa dalgasının başlangıç kısımlarına denk gelir. </a:t>
            </a:r>
            <a:endParaRPr lang="tr-TR" dirty="0">
              <a:solidFill>
                <a:srgbClr val="666666"/>
              </a:solidFill>
              <a:latin typeface="Lora" pitchFamily="2" charset="-94"/>
            </a:endParaRPr>
          </a:p>
          <a:p>
            <a:r>
              <a:rPr lang="tr-TR" b="0" i="0" dirty="0" err="1">
                <a:solidFill>
                  <a:srgbClr val="666666"/>
                </a:solidFill>
                <a:effectLst/>
                <a:latin typeface="Lora" pitchFamily="2" charset="-94"/>
              </a:rPr>
              <a:t>Uyuşukluluk</a:t>
            </a:r>
            <a:r>
              <a:rPr lang="tr-TR" b="0" i="0" dirty="0">
                <a:solidFill>
                  <a:srgbClr val="666666"/>
                </a:solidFill>
                <a:effectLst/>
                <a:latin typeface="Lora" pitchFamily="2" charset="-94"/>
              </a:rPr>
              <a:t> hali olarak başlar</a:t>
            </a:r>
            <a:r>
              <a:rPr lang="tr-TR" b="0" i="0">
                <a:solidFill>
                  <a:srgbClr val="666666"/>
                </a:solidFill>
                <a:effectLst/>
                <a:latin typeface="Lora" pitchFamily="2" charset="-94"/>
              </a:rPr>
              <a:t>. </a:t>
            </a:r>
          </a:p>
          <a:p>
            <a:r>
              <a:rPr lang="tr-TR" b="0" i="0">
                <a:solidFill>
                  <a:srgbClr val="666666"/>
                </a:solidFill>
                <a:effectLst/>
                <a:latin typeface="Lora" pitchFamily="2" charset="-94"/>
              </a:rPr>
              <a:t>Halüsinasyon </a:t>
            </a:r>
            <a:r>
              <a:rPr lang="tr-TR" b="0" i="0" dirty="0">
                <a:solidFill>
                  <a:srgbClr val="666666"/>
                </a:solidFill>
                <a:effectLst/>
                <a:latin typeface="Lora" pitchFamily="2" charset="-94"/>
              </a:rPr>
              <a:t>görmenin, zihinsel tasarlamanın ve  yaratıcılığın yüksek olduğu bir safhadır.</a:t>
            </a:r>
            <a:endParaRPr lang="tr-TR" dirty="0"/>
          </a:p>
        </p:txBody>
      </p:sp>
    </p:spTree>
    <p:extLst>
      <p:ext uri="{BB962C8B-B14F-4D97-AF65-F5344CB8AC3E}">
        <p14:creationId xmlns:p14="http://schemas.microsoft.com/office/powerpoint/2010/main" val="296029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A83F12-3B08-402F-A7CA-0E6F47B752EB}"/>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41CF6B78-88F3-4EA5-BAA1-B727A62EB805}"/>
              </a:ext>
            </a:extLst>
          </p:cNvPr>
          <p:cNvSpPr>
            <a:spLocks noGrp="1"/>
          </p:cNvSpPr>
          <p:nvPr>
            <p:ph idx="1"/>
          </p:nvPr>
        </p:nvSpPr>
        <p:spPr/>
        <p:txBody>
          <a:bodyPr/>
          <a:lstStyle/>
          <a:p>
            <a:pPr algn="l" fontAlgn="base">
              <a:buFont typeface="Arial" panose="020B0604020202020204" pitchFamily="34" charset="0"/>
              <a:buChar char="•"/>
            </a:pPr>
            <a:r>
              <a:rPr lang="tr-TR" b="0" i="0" dirty="0">
                <a:solidFill>
                  <a:srgbClr val="666666"/>
                </a:solidFill>
                <a:effectLst/>
                <a:latin typeface="Lora" panose="020B0604020202020204" pitchFamily="2" charset="-94"/>
              </a:rPr>
              <a:t>Göz kapağında titreşme</a:t>
            </a:r>
          </a:p>
          <a:p>
            <a:pPr algn="l" fontAlgn="base">
              <a:buFont typeface="Arial" panose="020B0604020202020204" pitchFamily="34" charset="0"/>
              <a:buChar char="•"/>
            </a:pPr>
            <a:r>
              <a:rPr lang="tr-TR" b="0" i="0" dirty="0">
                <a:solidFill>
                  <a:srgbClr val="666666"/>
                </a:solidFill>
                <a:effectLst/>
                <a:latin typeface="Lora" panose="020B0604020202020204" pitchFamily="2" charset="-94"/>
              </a:rPr>
              <a:t>Gözlerin kapanması</a:t>
            </a:r>
          </a:p>
          <a:p>
            <a:pPr algn="l" fontAlgn="base">
              <a:buFont typeface="Arial" panose="020B0604020202020204" pitchFamily="34" charset="0"/>
              <a:buChar char="•"/>
            </a:pPr>
            <a:r>
              <a:rPr lang="tr-TR" b="0" i="0" dirty="0">
                <a:solidFill>
                  <a:srgbClr val="666666"/>
                </a:solidFill>
                <a:effectLst/>
                <a:latin typeface="Lora" panose="020B0604020202020204" pitchFamily="2" charset="-94"/>
              </a:rPr>
              <a:t>Sebep-sonuç ilişkisinde kopukluklar</a:t>
            </a:r>
          </a:p>
          <a:p>
            <a:pPr algn="l" fontAlgn="base">
              <a:buFont typeface="Arial" panose="020B0604020202020204" pitchFamily="34" charset="0"/>
              <a:buChar char="•"/>
            </a:pPr>
            <a:r>
              <a:rPr lang="tr-TR" b="0" i="0" dirty="0">
                <a:solidFill>
                  <a:srgbClr val="666666"/>
                </a:solidFill>
                <a:effectLst/>
                <a:latin typeface="Lora" panose="020B0604020202020204" pitchFamily="2" charset="-94"/>
              </a:rPr>
              <a:t>Kısmi katalepsi (Göz kapağı katalepsisi, el, kol ya da bacaklarda katalepsi gibi) (Telkinle)</a:t>
            </a:r>
          </a:p>
          <a:p>
            <a:pPr algn="l" fontAlgn="base">
              <a:buFont typeface="Arial" panose="020B0604020202020204" pitchFamily="34" charset="0"/>
              <a:buChar char="•"/>
            </a:pPr>
            <a:r>
              <a:rPr lang="tr-TR" b="0" i="0" dirty="0">
                <a:solidFill>
                  <a:srgbClr val="666666"/>
                </a:solidFill>
                <a:effectLst/>
                <a:latin typeface="Lora" panose="020B0604020202020204" pitchFamily="2" charset="-94"/>
              </a:rPr>
              <a:t>Solunum yavaşlaması ve derinleşmesi</a:t>
            </a:r>
          </a:p>
          <a:p>
            <a:pPr algn="l" fontAlgn="base">
              <a:buFont typeface="Arial" panose="020B0604020202020204" pitchFamily="34" charset="0"/>
              <a:buChar char="•"/>
            </a:pPr>
            <a:r>
              <a:rPr lang="tr-TR" b="0" i="0" dirty="0">
                <a:solidFill>
                  <a:srgbClr val="666666"/>
                </a:solidFill>
                <a:effectLst/>
                <a:latin typeface="Lora" panose="020B0604020202020204" pitchFamily="2" charset="-94"/>
              </a:rPr>
              <a:t>Nabız yavaşlaması</a:t>
            </a:r>
          </a:p>
          <a:p>
            <a:endParaRPr lang="tr-TR" dirty="0"/>
          </a:p>
        </p:txBody>
      </p:sp>
    </p:spTree>
    <p:extLst>
      <p:ext uri="{BB962C8B-B14F-4D97-AF65-F5344CB8AC3E}">
        <p14:creationId xmlns:p14="http://schemas.microsoft.com/office/powerpoint/2010/main" val="2165683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63CDD8C-2C5B-4F74-96A0-5AD219BB655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96A08AA2-AD11-44BC-8182-B74B4129ADBC}"/>
              </a:ext>
            </a:extLst>
          </p:cNvPr>
          <p:cNvSpPr>
            <a:spLocks noGrp="1"/>
          </p:cNvSpPr>
          <p:nvPr>
            <p:ph idx="1"/>
          </p:nvPr>
        </p:nvSpPr>
        <p:spPr/>
        <p:txBody>
          <a:bodyPr>
            <a:normAutofit/>
          </a:bodyPr>
          <a:lstStyle/>
          <a:p>
            <a:pPr>
              <a:spcBef>
                <a:spcPts val="300"/>
              </a:spcBef>
              <a:spcAft>
                <a:spcPts val="720"/>
              </a:spcAft>
            </a:pPr>
            <a:r>
              <a:rPr lang="tr-TR" sz="2800" b="1" dirty="0">
                <a:effectLst/>
                <a:latin typeface="Calibri" panose="020F0502020204030204" pitchFamily="34" charset="0"/>
                <a:ea typeface="Times New Roman" panose="02020603050405020304" pitchFamily="18" charset="0"/>
              </a:rPr>
              <a:t>Orta</a:t>
            </a:r>
            <a:r>
              <a:rPr lang="tr-TR" sz="2800" b="0" dirty="0">
                <a:effectLst/>
                <a:latin typeface="Calibri" panose="020F0502020204030204" pitchFamily="34" charset="0"/>
                <a:ea typeface="Times New Roman" panose="02020603050405020304" pitchFamily="18" charset="0"/>
              </a:rPr>
              <a:t> : Orta düzey transta ( aynı zamanda kataleptik evre olarak da bilinir), illüzyon telkinlerine tepki verebilmektedir, gerçek olmayan bir şeyin görülmesi gibi veya var olan bir şeyin görünmez olması gibi ( negatif ve pozitif halüsinasyonlar).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Bu evrede aynı zamanda belirli kas gruplarında </a:t>
            </a:r>
            <a:r>
              <a:rPr lang="tr-TR" sz="2800" b="0" dirty="0" err="1">
                <a:effectLst/>
                <a:latin typeface="Calibri" panose="020F0502020204030204" pitchFamily="34" charset="0"/>
                <a:ea typeface="Times New Roman" panose="02020603050405020304" pitchFamily="18" charset="0"/>
              </a:rPr>
              <a:t>kinestetik</a:t>
            </a:r>
            <a:r>
              <a:rPr lang="tr-TR" sz="2800" b="0" dirty="0">
                <a:effectLst/>
                <a:latin typeface="Calibri" panose="020F0502020204030204" pitchFamily="34" charset="0"/>
                <a:ea typeface="Times New Roman" panose="02020603050405020304" pitchFamily="18" charset="0"/>
              </a:rPr>
              <a:t> illüzyon yaşayabilir, örneğin kolun kıvrılmaması gibi.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Kısmı anestezi de bu evrede yaşanabilir, ele iğne batırılması ama hissedilmemesi gibi.</a:t>
            </a:r>
            <a:endParaRPr lang="tr-TR" sz="2800" b="1" dirty="0">
              <a:effectLst/>
              <a:latin typeface="Arial" panose="020B0604020202020204" pitchFamily="34" charset="0"/>
              <a:ea typeface="Times New Roman" panose="02020603050405020304" pitchFamily="18" charset="0"/>
            </a:endParaRPr>
          </a:p>
          <a:p>
            <a:endParaRPr lang="tr-TR" dirty="0"/>
          </a:p>
        </p:txBody>
      </p:sp>
    </p:spTree>
    <p:extLst>
      <p:ext uri="{BB962C8B-B14F-4D97-AF65-F5344CB8AC3E}">
        <p14:creationId xmlns:p14="http://schemas.microsoft.com/office/powerpoint/2010/main" val="3086577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18B12A5-9736-41E0-BEBF-941156C3DD6B}"/>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1CA8BB4A-1B7A-44BF-816E-B741C255744C}"/>
              </a:ext>
            </a:extLst>
          </p:cNvPr>
          <p:cNvSpPr>
            <a:spLocks noGrp="1"/>
          </p:cNvSpPr>
          <p:nvPr>
            <p:ph idx="1"/>
          </p:nvPr>
        </p:nvSpPr>
        <p:spPr/>
        <p:txBody>
          <a:bodyPr/>
          <a:lstStyle/>
          <a:p>
            <a:r>
              <a:rPr lang="tr-TR" b="1" i="0" dirty="0">
                <a:solidFill>
                  <a:srgbClr val="666666"/>
                </a:solidFill>
                <a:effectLst/>
                <a:latin typeface="Lora" pitchFamily="2" charset="-94"/>
              </a:rPr>
              <a:t>Tam Kataleptik Düzey </a:t>
            </a:r>
            <a:r>
              <a:rPr lang="tr-TR" b="0" i="0" dirty="0">
                <a:solidFill>
                  <a:srgbClr val="666666"/>
                </a:solidFill>
                <a:effectLst/>
                <a:latin typeface="Lora" pitchFamily="2" charset="-94"/>
              </a:rPr>
              <a:t>olarak da bilinir. Beynin çalışma frekansı alfanın sonları </a:t>
            </a:r>
            <a:r>
              <a:rPr lang="tr-TR" b="0" i="0" dirty="0" err="1">
                <a:solidFill>
                  <a:srgbClr val="666666"/>
                </a:solidFill>
                <a:effectLst/>
                <a:latin typeface="Lora" pitchFamily="2" charset="-94"/>
              </a:rPr>
              <a:t>tethanın</a:t>
            </a:r>
            <a:r>
              <a:rPr lang="tr-TR" b="0" i="0" dirty="0">
                <a:solidFill>
                  <a:srgbClr val="666666"/>
                </a:solidFill>
                <a:effectLst/>
                <a:latin typeface="Lora" pitchFamily="2" charset="-94"/>
              </a:rPr>
              <a:t> baş kısımları arasındadır. Tüm vücutta hareketsizlik başlar. Fiziksel rahatlık çok yüksektir. Zihin dingin ve sakindir. Hatırlama gücü artmaya başlar.</a:t>
            </a:r>
            <a:endParaRPr lang="tr-TR" dirty="0"/>
          </a:p>
        </p:txBody>
      </p:sp>
    </p:spTree>
    <p:extLst>
      <p:ext uri="{BB962C8B-B14F-4D97-AF65-F5344CB8AC3E}">
        <p14:creationId xmlns:p14="http://schemas.microsoft.com/office/powerpoint/2010/main" val="1145521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3E24491-2D94-42BF-A719-8FE935223BCE}"/>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EDFFDFEC-E72B-4613-9CFE-BFDE794B895D}"/>
              </a:ext>
            </a:extLst>
          </p:cNvPr>
          <p:cNvSpPr>
            <a:spLocks noGrp="1"/>
          </p:cNvSpPr>
          <p:nvPr>
            <p:ph idx="1"/>
          </p:nvPr>
        </p:nvSpPr>
        <p:spPr/>
        <p:txBody>
          <a:bodyPr/>
          <a:lstStyle/>
          <a:p>
            <a:pPr algn="l" fontAlgn="base">
              <a:buFont typeface="Arial" panose="020B0604020202020204" pitchFamily="34" charset="0"/>
              <a:buChar char="•"/>
            </a:pPr>
            <a:r>
              <a:rPr lang="tr-TR" b="0" i="0" dirty="0">
                <a:solidFill>
                  <a:srgbClr val="666666"/>
                </a:solidFill>
                <a:effectLst/>
                <a:latin typeface="Lora" pitchFamily="2" charset="-94"/>
              </a:rPr>
              <a:t>Tam vücut katalepsisi</a:t>
            </a:r>
          </a:p>
          <a:p>
            <a:pPr algn="l" fontAlgn="base">
              <a:buFont typeface="Arial" panose="020B0604020202020204" pitchFamily="34" charset="0"/>
              <a:buChar char="•"/>
            </a:pPr>
            <a:r>
              <a:rPr lang="tr-TR" b="0" i="0" dirty="0">
                <a:solidFill>
                  <a:srgbClr val="666666"/>
                </a:solidFill>
                <a:effectLst/>
                <a:latin typeface="Lora" pitchFamily="2" charset="-94"/>
              </a:rPr>
              <a:t>Duyularda keskinleşme</a:t>
            </a:r>
          </a:p>
          <a:p>
            <a:pPr algn="l" fontAlgn="base">
              <a:buFont typeface="Arial" panose="020B0604020202020204" pitchFamily="34" charset="0"/>
              <a:buChar char="•"/>
            </a:pPr>
            <a:r>
              <a:rPr lang="tr-TR" b="0" i="0" dirty="0">
                <a:solidFill>
                  <a:srgbClr val="666666"/>
                </a:solidFill>
                <a:effectLst/>
                <a:latin typeface="Lora" pitchFamily="2" charset="-94"/>
              </a:rPr>
              <a:t>Zaman algısında bozulma</a:t>
            </a:r>
          </a:p>
          <a:p>
            <a:pPr algn="l" fontAlgn="base">
              <a:buFont typeface="Arial" panose="020B0604020202020204" pitchFamily="34" charset="0"/>
              <a:buChar char="•"/>
            </a:pPr>
            <a:r>
              <a:rPr lang="tr-TR" b="0" i="0" dirty="0">
                <a:solidFill>
                  <a:srgbClr val="666666"/>
                </a:solidFill>
                <a:effectLst/>
                <a:latin typeface="Lora" pitchFamily="2" charset="-94"/>
              </a:rPr>
              <a:t>Trans bozulmadan gözleri açabilme (Telkinle)</a:t>
            </a:r>
          </a:p>
          <a:p>
            <a:pPr algn="l" fontAlgn="base">
              <a:buFont typeface="Arial" panose="020B0604020202020204" pitchFamily="34" charset="0"/>
              <a:buChar char="•"/>
            </a:pPr>
            <a:r>
              <a:rPr lang="tr-TR" b="0" i="0" dirty="0">
                <a:solidFill>
                  <a:srgbClr val="666666"/>
                </a:solidFill>
                <a:effectLst/>
                <a:latin typeface="Lora" pitchFamily="2" charset="-94"/>
              </a:rPr>
              <a:t>Sabit ve donuk bakışlar</a:t>
            </a:r>
          </a:p>
          <a:p>
            <a:pPr algn="l" fontAlgn="base">
              <a:buFont typeface="Arial" panose="020B0604020202020204" pitchFamily="34" charset="0"/>
              <a:buChar char="•"/>
            </a:pPr>
            <a:r>
              <a:rPr lang="tr-TR" b="0" i="0" dirty="0">
                <a:solidFill>
                  <a:srgbClr val="666666"/>
                </a:solidFill>
                <a:effectLst/>
                <a:latin typeface="Lora" pitchFamily="2" charset="-94"/>
              </a:rPr>
              <a:t>Kısmi duyu kayıpları (Telkinle)</a:t>
            </a:r>
          </a:p>
          <a:p>
            <a:pPr algn="l" fontAlgn="base">
              <a:buFont typeface="Arial" panose="020B0604020202020204" pitchFamily="34" charset="0"/>
              <a:buChar char="•"/>
            </a:pPr>
            <a:r>
              <a:rPr lang="tr-TR" b="0" i="0" dirty="0">
                <a:solidFill>
                  <a:srgbClr val="666666"/>
                </a:solidFill>
                <a:effectLst/>
                <a:latin typeface="Lora" pitchFamily="2" charset="-94"/>
              </a:rPr>
              <a:t>Post </a:t>
            </a:r>
            <a:r>
              <a:rPr lang="tr-TR" b="0" i="0" dirty="0" err="1">
                <a:solidFill>
                  <a:srgbClr val="666666"/>
                </a:solidFill>
                <a:effectLst/>
                <a:latin typeface="Lora" pitchFamily="2" charset="-94"/>
              </a:rPr>
              <a:t>hipnotik</a:t>
            </a:r>
            <a:r>
              <a:rPr lang="tr-TR" b="0" i="0" dirty="0">
                <a:solidFill>
                  <a:srgbClr val="666666"/>
                </a:solidFill>
                <a:effectLst/>
                <a:latin typeface="Lora" pitchFamily="2" charset="-94"/>
              </a:rPr>
              <a:t> anestezi (Telkinle)</a:t>
            </a:r>
          </a:p>
          <a:p>
            <a:pPr algn="l" fontAlgn="base">
              <a:buFont typeface="Arial" panose="020B0604020202020204" pitchFamily="34" charset="0"/>
              <a:buChar char="•"/>
            </a:pPr>
            <a:r>
              <a:rPr lang="tr-TR" b="0" i="0" dirty="0">
                <a:solidFill>
                  <a:srgbClr val="666666"/>
                </a:solidFill>
                <a:effectLst/>
                <a:latin typeface="Lora" pitchFamily="2" charset="-94"/>
              </a:rPr>
              <a:t>Post </a:t>
            </a:r>
            <a:r>
              <a:rPr lang="tr-TR" b="0" i="0" dirty="0" err="1">
                <a:solidFill>
                  <a:srgbClr val="666666"/>
                </a:solidFill>
                <a:effectLst/>
                <a:latin typeface="Lora" pitchFamily="2" charset="-94"/>
              </a:rPr>
              <a:t>hipnotik</a:t>
            </a:r>
            <a:r>
              <a:rPr lang="tr-TR" b="0" i="0" dirty="0">
                <a:solidFill>
                  <a:srgbClr val="666666"/>
                </a:solidFill>
                <a:effectLst/>
                <a:latin typeface="Lora" pitchFamily="2" charset="-94"/>
              </a:rPr>
              <a:t> amnezi (Telkinle)</a:t>
            </a:r>
          </a:p>
          <a:p>
            <a:endParaRPr lang="tr-TR" dirty="0"/>
          </a:p>
        </p:txBody>
      </p:sp>
    </p:spTree>
    <p:extLst>
      <p:ext uri="{BB962C8B-B14F-4D97-AF65-F5344CB8AC3E}">
        <p14:creationId xmlns:p14="http://schemas.microsoft.com/office/powerpoint/2010/main" val="4055355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9FD87A-17B1-4AAB-803D-F4813141866F}"/>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136B22AC-F991-45C3-B0EE-706DEFFE944F}"/>
              </a:ext>
            </a:extLst>
          </p:cNvPr>
          <p:cNvSpPr>
            <a:spLocks noGrp="1"/>
          </p:cNvSpPr>
          <p:nvPr>
            <p:ph idx="1"/>
          </p:nvPr>
        </p:nvSpPr>
        <p:spPr/>
        <p:txBody>
          <a:bodyPr>
            <a:normAutofit lnSpcReduction="10000"/>
          </a:bodyPr>
          <a:lstStyle/>
          <a:p>
            <a:pPr>
              <a:spcBef>
                <a:spcPts val="300"/>
              </a:spcBef>
              <a:spcAft>
                <a:spcPts val="720"/>
              </a:spcAft>
            </a:pPr>
            <a:r>
              <a:rPr lang="tr-TR" sz="2800" b="1" dirty="0">
                <a:effectLst/>
                <a:latin typeface="Calibri" panose="020F0502020204030204" pitchFamily="34" charset="0"/>
                <a:ea typeface="Times New Roman" panose="02020603050405020304" pitchFamily="18" charset="0"/>
              </a:rPr>
              <a:t>Derin</a:t>
            </a:r>
            <a:r>
              <a:rPr lang="tr-TR" sz="2800" b="0" dirty="0">
                <a:effectLst/>
                <a:latin typeface="Calibri" panose="020F0502020204030204" pitchFamily="34" charset="0"/>
                <a:ea typeface="Times New Roman" panose="02020603050405020304" pitchFamily="18" charset="0"/>
              </a:rPr>
              <a:t>:  Derin (</a:t>
            </a:r>
            <a:r>
              <a:rPr lang="tr-TR" sz="2800" b="0" dirty="0" err="1">
                <a:effectLst/>
                <a:latin typeface="Calibri" panose="020F0502020204030204" pitchFamily="34" charset="0"/>
                <a:ea typeface="Times New Roman" panose="02020603050405020304" pitchFamily="18" charset="0"/>
              </a:rPr>
              <a:t>somnanbulism</a:t>
            </a:r>
            <a:r>
              <a:rPr lang="tr-TR" sz="2800" b="0" dirty="0">
                <a:effectLst/>
                <a:latin typeface="Calibri" panose="020F0502020204030204" pitchFamily="34" charset="0"/>
                <a:ea typeface="Times New Roman" panose="02020603050405020304" pitchFamily="18" charset="0"/>
              </a:rPr>
              <a:t>) aşamasında kişi transın düzeyini etkilemeden gözlerini açabilir, göz bebeklerini istem dışı döndürebilir ışığa tepki verebilir.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Göz bebekleri genişlemiştir.</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 Tam </a:t>
            </a:r>
            <a:r>
              <a:rPr lang="tr-TR" sz="2800" b="0" dirty="0" err="1">
                <a:effectLst/>
                <a:latin typeface="Calibri" panose="020F0502020204030204" pitchFamily="34" charset="0"/>
                <a:ea typeface="Times New Roman" panose="02020603050405020304" pitchFamily="18" charset="0"/>
              </a:rPr>
              <a:t>hipnotik</a:t>
            </a:r>
            <a:r>
              <a:rPr lang="tr-TR" sz="2800" b="0" dirty="0">
                <a:effectLst/>
                <a:latin typeface="Calibri" panose="020F0502020204030204" pitchFamily="34" charset="0"/>
                <a:ea typeface="Times New Roman" panose="02020603050405020304" pitchFamily="18" charset="0"/>
              </a:rPr>
              <a:t> anestezi ile birlikte amnezi ve hipnoz sonrası telkinler uygulanabilir ve eğer kabul edilirse transtan sonraki süreçte de etkileri devam eder. </a:t>
            </a:r>
          </a:p>
          <a:p>
            <a:pPr>
              <a:spcBef>
                <a:spcPts val="300"/>
              </a:spcBef>
              <a:spcAft>
                <a:spcPts val="720"/>
              </a:spcAft>
            </a:pPr>
            <a:r>
              <a:rPr lang="tr-TR" dirty="0" err="1">
                <a:latin typeface="Calibri" panose="020F0502020204030204" pitchFamily="34" charset="0"/>
                <a:ea typeface="Times New Roman" panose="02020603050405020304" pitchFamily="18" charset="0"/>
              </a:rPr>
              <a:t>Suje</a:t>
            </a:r>
            <a:r>
              <a:rPr lang="tr-TR" dirty="0">
                <a:latin typeface="Calibri" panose="020F0502020204030204" pitchFamily="34" charset="0"/>
                <a:ea typeface="Times New Roman" panose="02020603050405020304" pitchFamily="18" charset="0"/>
              </a:rPr>
              <a:t> </a:t>
            </a:r>
            <a:r>
              <a:rPr lang="tr-TR" sz="2800" b="0" dirty="0">
                <a:effectLst/>
                <a:latin typeface="Calibri" panose="020F0502020204030204" pitchFamily="34" charset="0"/>
                <a:ea typeface="Times New Roman" panose="02020603050405020304" pitchFamily="18" charset="0"/>
              </a:rPr>
              <a:t>her tür illüzyonu yaşayabilir. Regresyon ve unutulmuş hatıraların hatırlanması gibi  uygulamaların yapılabileceği derin bir evredir. </a:t>
            </a:r>
          </a:p>
          <a:p>
            <a:pPr>
              <a:spcBef>
                <a:spcPts val="300"/>
              </a:spcBef>
              <a:spcAft>
                <a:spcPts val="720"/>
              </a:spcAft>
            </a:pPr>
            <a:r>
              <a:rPr lang="tr-TR" sz="2800" b="0" dirty="0">
                <a:effectLst/>
                <a:latin typeface="Calibri" panose="020F0502020204030204" pitchFamily="34" charset="0"/>
                <a:ea typeface="Times New Roman" panose="02020603050405020304" pitchFamily="18" charset="0"/>
              </a:rPr>
              <a:t>Bu evrede verilen telkinler kişinin fiziksel fonksiyonlarını etkileyebilir.</a:t>
            </a:r>
            <a:endParaRPr lang="tr-TR" sz="2800" b="1" dirty="0">
              <a:effectLst/>
              <a:latin typeface="Arial" panose="020B0604020202020204" pitchFamily="34" charset="0"/>
              <a:ea typeface="Times New Roman" panose="02020603050405020304" pitchFamily="18" charset="0"/>
            </a:endParaRPr>
          </a:p>
          <a:p>
            <a:endParaRPr lang="tr-TR" dirty="0"/>
          </a:p>
        </p:txBody>
      </p:sp>
    </p:spTree>
    <p:extLst>
      <p:ext uri="{BB962C8B-B14F-4D97-AF65-F5344CB8AC3E}">
        <p14:creationId xmlns:p14="http://schemas.microsoft.com/office/powerpoint/2010/main" val="20392906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AEFE83A-A762-442A-9EA5-DA78851B0F43}"/>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5A357687-76AD-473C-9054-A8425BD9C89E}"/>
              </a:ext>
            </a:extLst>
          </p:cNvPr>
          <p:cNvSpPr>
            <a:spLocks noGrp="1"/>
          </p:cNvSpPr>
          <p:nvPr>
            <p:ph idx="1"/>
          </p:nvPr>
        </p:nvSpPr>
        <p:spPr/>
        <p:txBody>
          <a:bodyPr/>
          <a:lstStyle/>
          <a:p>
            <a:r>
              <a:rPr lang="tr-TR" b="1" i="0" dirty="0" err="1">
                <a:solidFill>
                  <a:srgbClr val="666666"/>
                </a:solidFill>
                <a:effectLst/>
                <a:latin typeface="Lora" pitchFamily="2" charset="-94"/>
              </a:rPr>
              <a:t>Somnanbülistik</a:t>
            </a:r>
            <a:r>
              <a:rPr lang="tr-TR" b="1" i="0" dirty="0">
                <a:solidFill>
                  <a:srgbClr val="666666"/>
                </a:solidFill>
                <a:effectLst/>
                <a:latin typeface="Lora" pitchFamily="2" charset="-94"/>
              </a:rPr>
              <a:t> Düzey </a:t>
            </a:r>
            <a:r>
              <a:rPr lang="tr-TR" b="0" i="0" dirty="0">
                <a:solidFill>
                  <a:srgbClr val="666666"/>
                </a:solidFill>
                <a:effectLst/>
                <a:latin typeface="Lora" pitchFamily="2" charset="-94"/>
              </a:rPr>
              <a:t>olarak da bilinir. Beynin Çalışma frekanslarında </a:t>
            </a:r>
            <a:r>
              <a:rPr lang="tr-TR" b="0" i="0" dirty="0" err="1">
                <a:solidFill>
                  <a:srgbClr val="666666"/>
                </a:solidFill>
                <a:effectLst/>
                <a:latin typeface="Lora" pitchFamily="2" charset="-94"/>
              </a:rPr>
              <a:t>tetha</a:t>
            </a:r>
            <a:r>
              <a:rPr lang="tr-TR" b="0" i="0" dirty="0">
                <a:solidFill>
                  <a:srgbClr val="666666"/>
                </a:solidFill>
                <a:effectLst/>
                <a:latin typeface="Lora" pitchFamily="2" charset="-94"/>
              </a:rPr>
              <a:t> seviyesinin ortaları ile delta seviyesinin başlangıcı arasındadır. Uyurgezerlik seviyesidir. Zeka ve karşılaştırma yeteneği artar. Çok yüksek odaklanma halindedir.</a:t>
            </a:r>
            <a:endParaRPr lang="tr-TR" dirty="0"/>
          </a:p>
        </p:txBody>
      </p:sp>
    </p:spTree>
    <p:extLst>
      <p:ext uri="{BB962C8B-B14F-4D97-AF65-F5344CB8AC3E}">
        <p14:creationId xmlns:p14="http://schemas.microsoft.com/office/powerpoint/2010/main" val="22836354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AB8DB18-9D08-4818-8F74-CFA7DC5562DC}"/>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FF4CA78D-ED89-4DD3-BBB7-9BDE8A178A8D}"/>
              </a:ext>
            </a:extLst>
          </p:cNvPr>
          <p:cNvSpPr>
            <a:spLocks noGrp="1"/>
          </p:cNvSpPr>
          <p:nvPr>
            <p:ph idx="1"/>
          </p:nvPr>
        </p:nvSpPr>
        <p:spPr/>
        <p:txBody>
          <a:bodyPr/>
          <a:lstStyle/>
          <a:p>
            <a:pPr algn="l" fontAlgn="base">
              <a:buFont typeface="Arial" panose="020B0604020202020204" pitchFamily="34" charset="0"/>
              <a:buChar char="•"/>
            </a:pPr>
            <a:r>
              <a:rPr lang="tr-TR" b="0" i="0" dirty="0">
                <a:solidFill>
                  <a:srgbClr val="666666"/>
                </a:solidFill>
                <a:effectLst/>
                <a:latin typeface="Lora" pitchFamily="2" charset="-94"/>
              </a:rPr>
              <a:t>Tam amnezi (Bir olayın silinmesi) (Telkinle)</a:t>
            </a:r>
          </a:p>
          <a:p>
            <a:pPr algn="l" fontAlgn="base">
              <a:buFont typeface="Arial" panose="020B0604020202020204" pitchFamily="34" charset="0"/>
              <a:buChar char="•"/>
            </a:pPr>
            <a:r>
              <a:rPr lang="tr-TR" b="0" i="0" dirty="0">
                <a:solidFill>
                  <a:srgbClr val="666666"/>
                </a:solidFill>
                <a:effectLst/>
                <a:latin typeface="Lora" pitchFamily="2" charset="-94"/>
              </a:rPr>
              <a:t>Tam anestezi (Ağrı hissinin kaybolması) (Telkinle)</a:t>
            </a:r>
          </a:p>
          <a:p>
            <a:pPr algn="l" fontAlgn="base">
              <a:buFont typeface="Arial" panose="020B0604020202020204" pitchFamily="34" charset="0"/>
              <a:buChar char="•"/>
            </a:pPr>
            <a:r>
              <a:rPr lang="tr-TR" b="0" i="0" dirty="0" err="1">
                <a:solidFill>
                  <a:srgbClr val="666666"/>
                </a:solidFill>
                <a:effectLst/>
                <a:latin typeface="Lora" pitchFamily="2" charset="-94"/>
              </a:rPr>
              <a:t>Ekminezi</a:t>
            </a:r>
            <a:r>
              <a:rPr lang="tr-TR" b="0" i="0" dirty="0">
                <a:solidFill>
                  <a:srgbClr val="666666"/>
                </a:solidFill>
                <a:effectLst/>
                <a:latin typeface="Lora" pitchFamily="2" charset="-94"/>
              </a:rPr>
              <a:t> (Derinlikli hatırlama)</a:t>
            </a:r>
          </a:p>
          <a:p>
            <a:pPr algn="l" fontAlgn="base">
              <a:buFont typeface="Arial" panose="020B0604020202020204" pitchFamily="34" charset="0"/>
              <a:buChar char="•"/>
            </a:pPr>
            <a:r>
              <a:rPr lang="tr-TR" b="0" i="0" dirty="0" err="1">
                <a:solidFill>
                  <a:srgbClr val="666666"/>
                </a:solidFill>
                <a:effectLst/>
                <a:latin typeface="Lora" pitchFamily="2" charset="-94"/>
              </a:rPr>
              <a:t>Hipermezi</a:t>
            </a:r>
            <a:r>
              <a:rPr lang="tr-TR" b="0" i="0" dirty="0">
                <a:solidFill>
                  <a:srgbClr val="666666"/>
                </a:solidFill>
                <a:effectLst/>
                <a:latin typeface="Lora" pitchFamily="2" charset="-94"/>
              </a:rPr>
              <a:t> (Zihinsel açıklığın yüksek olması)</a:t>
            </a:r>
          </a:p>
          <a:p>
            <a:pPr algn="l" fontAlgn="base">
              <a:buFont typeface="Arial" panose="020B0604020202020204" pitchFamily="34" charset="0"/>
              <a:buChar char="•"/>
            </a:pPr>
            <a:r>
              <a:rPr lang="tr-TR" b="0" i="0" dirty="0">
                <a:solidFill>
                  <a:srgbClr val="666666"/>
                </a:solidFill>
                <a:effectLst/>
                <a:latin typeface="Lora" pitchFamily="2" charset="-94"/>
              </a:rPr>
              <a:t>Yaş gerilemesi (Telkinle)</a:t>
            </a:r>
          </a:p>
          <a:p>
            <a:pPr algn="l" fontAlgn="base">
              <a:buFont typeface="Arial" panose="020B0604020202020204" pitchFamily="34" charset="0"/>
              <a:buChar char="•"/>
            </a:pPr>
            <a:r>
              <a:rPr lang="tr-TR" b="0" i="0" dirty="0">
                <a:solidFill>
                  <a:srgbClr val="666666"/>
                </a:solidFill>
                <a:effectLst/>
                <a:latin typeface="Lora" pitchFamily="2" charset="-94"/>
              </a:rPr>
              <a:t>Pozitif ve negatif halüsinasyonlar (Telkinle)</a:t>
            </a:r>
          </a:p>
          <a:p>
            <a:endParaRPr lang="tr-TR" dirty="0"/>
          </a:p>
        </p:txBody>
      </p:sp>
    </p:spTree>
    <p:extLst>
      <p:ext uri="{BB962C8B-B14F-4D97-AF65-F5344CB8AC3E}">
        <p14:creationId xmlns:p14="http://schemas.microsoft.com/office/powerpoint/2010/main" val="37395138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8C3C7D4-D971-4FDA-866C-3A6AAC550A6D}"/>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B6437F55-855D-4857-9FFC-2CEF292E14FC}"/>
              </a:ext>
            </a:extLst>
          </p:cNvPr>
          <p:cNvSpPr>
            <a:spLocks noGrp="1"/>
          </p:cNvSpPr>
          <p:nvPr>
            <p:ph idx="1"/>
          </p:nvPr>
        </p:nvSpPr>
        <p:spPr/>
        <p:txBody>
          <a:bodyPr>
            <a:normAutofit fontScale="92500" lnSpcReduction="10000"/>
          </a:bodyPr>
          <a:lstStyle/>
          <a:p>
            <a:pPr algn="just">
              <a:spcBef>
                <a:spcPts val="300"/>
              </a:spcBef>
              <a:spcAft>
                <a:spcPts val="720"/>
              </a:spcAft>
            </a:pPr>
            <a:r>
              <a:rPr lang="tr-TR" sz="2800" b="1" dirty="0" err="1">
                <a:effectLst/>
                <a:latin typeface="Calibri" panose="020F0502020204030204" pitchFamily="34" charset="0"/>
                <a:ea typeface="Times New Roman" panose="02020603050405020304" pitchFamily="18" charset="0"/>
              </a:rPr>
              <a:t>Somnanbulismin</a:t>
            </a:r>
            <a:r>
              <a:rPr lang="tr-TR" sz="2800" b="1" dirty="0">
                <a:effectLst/>
                <a:latin typeface="Calibri" panose="020F0502020204030204" pitchFamily="34" charset="0"/>
                <a:ea typeface="Times New Roman" panose="02020603050405020304" pitchFamily="18" charset="0"/>
              </a:rPr>
              <a:t> Ötesi</a:t>
            </a:r>
            <a:endParaRPr lang="tr-TR" sz="2800" b="1" dirty="0">
              <a:effectLst/>
              <a:latin typeface="Arial" panose="020B0604020202020204" pitchFamily="34" charset="0"/>
              <a:ea typeface="Times New Roman" panose="02020603050405020304" pitchFamily="18" charset="0"/>
            </a:endParaRPr>
          </a:p>
          <a:p>
            <a:pPr>
              <a:spcBef>
                <a:spcPts val="300"/>
              </a:spcBef>
              <a:spcAft>
                <a:spcPts val="720"/>
              </a:spcAft>
            </a:pPr>
            <a:r>
              <a:rPr lang="tr-TR" sz="2800" dirty="0" err="1">
                <a:effectLst/>
                <a:latin typeface="Calibri" panose="020F0502020204030204" pitchFamily="34" charset="0"/>
                <a:ea typeface="Times New Roman" panose="02020603050405020304" pitchFamily="18" charset="0"/>
              </a:rPr>
              <a:t>Dave</a:t>
            </a:r>
            <a:r>
              <a:rPr lang="tr-TR" sz="2800" dirty="0">
                <a:effectLst/>
                <a:latin typeface="Calibri" panose="020F0502020204030204" pitchFamily="34" charset="0"/>
                <a:ea typeface="Times New Roman" panose="02020603050405020304" pitchFamily="18" charset="0"/>
              </a:rPr>
              <a:t> Elman </a:t>
            </a:r>
            <a:r>
              <a:rPr lang="tr-TR" sz="2800" dirty="0" err="1">
                <a:effectLst/>
                <a:latin typeface="Calibri" panose="020F0502020204030204" pitchFamily="34" charset="0"/>
                <a:ea typeface="Times New Roman" panose="02020603050405020304" pitchFamily="18" charset="0"/>
              </a:rPr>
              <a:t>somnanbulizmin</a:t>
            </a:r>
            <a:r>
              <a:rPr lang="tr-TR" sz="2800" dirty="0">
                <a:effectLst/>
                <a:latin typeface="Calibri" panose="020F0502020204030204" pitchFamily="34" charset="0"/>
                <a:ea typeface="Times New Roman" panose="02020603050405020304" pitchFamily="18" charset="0"/>
              </a:rPr>
              <a:t> de ötesinde bir evre olduğundan, </a:t>
            </a:r>
            <a:r>
              <a:rPr lang="tr-TR" sz="2800" dirty="0" err="1">
                <a:effectLst/>
                <a:latin typeface="Calibri" panose="020F0502020204030204" pitchFamily="34" charset="0"/>
                <a:ea typeface="Times New Roman" panose="02020603050405020304" pitchFamily="18" charset="0"/>
              </a:rPr>
              <a:t>Hypnotherapy</a:t>
            </a:r>
            <a:r>
              <a:rPr lang="tr-TR" sz="2800" dirty="0">
                <a:effectLst/>
                <a:latin typeface="Calibri" panose="020F0502020204030204" pitchFamily="34" charset="0"/>
                <a:ea typeface="Times New Roman" panose="02020603050405020304" pitchFamily="18" charset="0"/>
              </a:rPr>
              <a:t> kitabında bahsetmiş ve bu evreye </a:t>
            </a:r>
            <a:r>
              <a:rPr lang="tr-TR" sz="2800" b="1" dirty="0" err="1">
                <a:effectLst/>
                <a:latin typeface="Calibri" panose="020F0502020204030204" pitchFamily="34" charset="0"/>
                <a:ea typeface="Times New Roman" panose="02020603050405020304" pitchFamily="18" charset="0"/>
              </a:rPr>
              <a:t>Esdaile</a:t>
            </a:r>
            <a:r>
              <a:rPr lang="tr-TR" sz="2800" b="1" dirty="0">
                <a:effectLst/>
                <a:latin typeface="Calibri" panose="020F0502020204030204" pitchFamily="34" charset="0"/>
                <a:ea typeface="Times New Roman" panose="02020603050405020304" pitchFamily="18" charset="0"/>
              </a:rPr>
              <a:t> evresi</a:t>
            </a:r>
            <a:r>
              <a:rPr lang="tr-TR" sz="2800" dirty="0">
                <a:effectLst/>
                <a:latin typeface="Calibri" panose="020F0502020204030204" pitchFamily="34" charset="0"/>
                <a:ea typeface="Times New Roman" panose="02020603050405020304" pitchFamily="18" charset="0"/>
              </a:rPr>
              <a:t> adını vermiştir. </a:t>
            </a:r>
          </a:p>
          <a:p>
            <a:pPr>
              <a:spcBef>
                <a:spcPts val="300"/>
              </a:spcBef>
              <a:spcAft>
                <a:spcPts val="720"/>
              </a:spcAft>
            </a:pPr>
            <a:r>
              <a:rPr lang="tr-TR" sz="2800" dirty="0" err="1">
                <a:effectLst/>
                <a:latin typeface="Calibri" panose="020F0502020204030204" pitchFamily="34" charset="0"/>
                <a:ea typeface="Times New Roman" panose="02020603050405020304" pitchFamily="18" charset="0"/>
              </a:rPr>
              <a:t>Esdaile</a:t>
            </a:r>
            <a:r>
              <a:rPr lang="tr-TR" sz="2800" dirty="0">
                <a:effectLst/>
                <a:latin typeface="Calibri" panose="020F0502020204030204" pitchFamily="34" charset="0"/>
                <a:ea typeface="Times New Roman" panose="02020603050405020304" pitchFamily="18" charset="0"/>
              </a:rPr>
              <a:t> evresine giren kişiler telkinleri duyarlar ama bunlara yanıt veremezler.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Yani konuşmak istese konuşamaz, kolunu oynatmak istese oynatamaz.  </a:t>
            </a:r>
            <a:r>
              <a:rPr lang="tr-TR" dirty="0" err="1">
                <a:latin typeface="Calibri" panose="020F0502020204030204" pitchFamily="34" charset="0"/>
                <a:ea typeface="Times New Roman" panose="02020603050405020304" pitchFamily="18" charset="0"/>
              </a:rPr>
              <a:t>S</a:t>
            </a:r>
            <a:r>
              <a:rPr lang="tr-TR" sz="2800" dirty="0" err="1">
                <a:effectLst/>
                <a:latin typeface="Calibri" panose="020F0502020204030204" pitchFamily="34" charset="0"/>
                <a:ea typeface="Times New Roman" panose="02020603050405020304" pitchFamily="18" charset="0"/>
              </a:rPr>
              <a:t>ujenizi</a:t>
            </a:r>
            <a:r>
              <a:rPr lang="tr-TR" sz="2800" dirty="0">
                <a:effectLst/>
                <a:latin typeface="Calibri" panose="020F0502020204030204" pitchFamily="34" charset="0"/>
                <a:ea typeface="Times New Roman" panose="02020603050405020304" pitchFamily="18" charset="0"/>
              </a:rPr>
              <a:t> bu evreden uyandırmanız çok güçtür.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Böyle bir  durumda, ona “</a:t>
            </a:r>
            <a:r>
              <a:rPr lang="tr-TR" sz="2800" i="1" dirty="0">
                <a:effectLst/>
                <a:latin typeface="Calibri" panose="020F0502020204030204" pitchFamily="34" charset="0"/>
                <a:ea typeface="Times New Roman" panose="02020603050405020304" pitchFamily="18" charset="0"/>
              </a:rPr>
              <a:t>eğer bu güzel, huzurlu, güvenli derinliğe tekrar gitmek istiyorlarsa, uyanmanın ZORUNLU olduğunu”</a:t>
            </a:r>
            <a:r>
              <a:rPr lang="tr-TR" sz="2800" dirty="0">
                <a:effectLst/>
                <a:latin typeface="Calibri" panose="020F0502020204030204" pitchFamily="34" charset="0"/>
                <a:ea typeface="Times New Roman" panose="02020603050405020304" pitchFamily="18" charset="0"/>
              </a:rPr>
              <a:t> söyleyin.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Ve  kararlı bir şekilde sesinizi yükseltin, yükseldikçe hızlanın.</a:t>
            </a:r>
            <a:endParaRPr lang="tr-TR" sz="28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1140575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CAD1C29-E9A6-4519-BF73-A3812F3BA44E}"/>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4E978893-0483-4E8B-9D63-973C21FC644C}"/>
              </a:ext>
            </a:extLst>
          </p:cNvPr>
          <p:cNvSpPr>
            <a:spLocks noGrp="1"/>
          </p:cNvSpPr>
          <p:nvPr>
            <p:ph idx="1"/>
          </p:nvPr>
        </p:nvSpPr>
        <p:spPr/>
        <p:txBody>
          <a:bodyPr>
            <a:normAutofit/>
          </a:bodyPr>
          <a:lstStyle/>
          <a:p>
            <a:pPr>
              <a:spcBef>
                <a:spcPts val="300"/>
              </a:spcBef>
              <a:spcAft>
                <a:spcPts val="720"/>
              </a:spcAft>
            </a:pPr>
            <a:r>
              <a:rPr lang="tr-TR" sz="2800" dirty="0" err="1">
                <a:effectLst/>
                <a:latin typeface="Calibri" panose="020F0502020204030204" pitchFamily="34" charset="0"/>
                <a:ea typeface="Times New Roman" panose="02020603050405020304" pitchFamily="18" charset="0"/>
              </a:rPr>
              <a:t>Elman’a</a:t>
            </a:r>
            <a:r>
              <a:rPr lang="tr-TR" sz="2800" dirty="0">
                <a:effectLst/>
                <a:latin typeface="Calibri" panose="020F0502020204030204" pitchFamily="34" charset="0"/>
                <a:ea typeface="Times New Roman" panose="02020603050405020304" pitchFamily="18" charset="0"/>
              </a:rPr>
              <a:t> göre, 2-3 bin insandan biri hipnoz indüksiyonu sırasında kendiliğinden bu evreye girebilir.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Bu o kadar keyifli bir durumdur ki gerçekten uyanmak istemezler.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Ama ben bir daha bu evreye gidemeyeceğini söylediğimde gelmek zorunda hisseder.. </a:t>
            </a:r>
          </a:p>
          <a:p>
            <a:pPr>
              <a:spcBef>
                <a:spcPts val="300"/>
              </a:spcBef>
              <a:spcAft>
                <a:spcPts val="720"/>
              </a:spcAft>
            </a:pPr>
            <a:r>
              <a:rPr lang="tr-TR" sz="2800" dirty="0">
                <a:effectLst/>
                <a:latin typeface="Calibri" panose="020F0502020204030204" pitchFamily="34" charset="0"/>
                <a:ea typeface="Times New Roman" panose="02020603050405020304" pitchFamily="18" charset="0"/>
              </a:rPr>
              <a:t>Böyle keyifli bir durumu bir daha yaşayamama korkusu kişileri bu durumdan çıkartıcı bir etki yaratmaktadır.</a:t>
            </a:r>
            <a:endParaRPr lang="tr-TR" sz="28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3723127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E24C658-B9C8-4F99-A78D-9452BA3939AA}"/>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614CCD2B-F04B-4853-9268-24129A5BECCD}"/>
              </a:ext>
            </a:extLst>
          </p:cNvPr>
          <p:cNvSpPr>
            <a:spLocks noGrp="1"/>
          </p:cNvSpPr>
          <p:nvPr>
            <p:ph idx="1"/>
          </p:nvPr>
        </p:nvSpPr>
        <p:spPr/>
        <p:txBody>
          <a:bodyPr>
            <a:normAutofit/>
          </a:bodyPr>
          <a:lstStyle/>
          <a:p>
            <a:pPr>
              <a:spcBef>
                <a:spcPts val="300"/>
              </a:spcBef>
              <a:spcAft>
                <a:spcPts val="720"/>
              </a:spcAft>
            </a:pPr>
            <a:r>
              <a:rPr lang="tr-TR" sz="2800" dirty="0">
                <a:effectLst/>
                <a:latin typeface="Calibri" panose="020F0502020204030204" pitchFamily="34" charset="0"/>
                <a:ea typeface="Times New Roman" panose="02020603050405020304" pitchFamily="18" charset="0"/>
              </a:rPr>
              <a:t>Hipnozla ilgili bilimsel araştırma yapmadığınız sürece, derinliklerle ilgili sizin için en uygun test yöntemine karar verebilir ona göre davranabilirsiniz. Deneyim kazandıkça, transın hangi düzeyinde olduğunu rahatlıkla anlayabileceksiniz. Verilen telkinlerin sonuçları, transın derinliğinin ölçülmesinden çok daha önemlidir. Müşteri merkezli </a:t>
            </a:r>
            <a:r>
              <a:rPr lang="tr-TR" sz="2800" dirty="0" err="1">
                <a:effectLst/>
                <a:latin typeface="Calibri" panose="020F0502020204030204" pitchFamily="34" charset="0"/>
                <a:ea typeface="Times New Roman" panose="02020603050405020304" pitchFamily="18" charset="0"/>
              </a:rPr>
              <a:t>hipnoterapide</a:t>
            </a:r>
            <a:r>
              <a:rPr lang="tr-TR" sz="2800" dirty="0">
                <a:effectLst/>
                <a:latin typeface="Calibri" panose="020F0502020204030204" pitchFamily="34" charset="0"/>
                <a:ea typeface="Times New Roman" panose="02020603050405020304" pitchFamily="18" charset="0"/>
              </a:rPr>
              <a:t> bu çok önem kazansa da, bir kişinin terapiden en iyi sonucu alabilmesi için </a:t>
            </a:r>
            <a:r>
              <a:rPr lang="tr-TR" sz="2800" dirty="0" err="1">
                <a:effectLst/>
                <a:latin typeface="Calibri" panose="020F0502020204030204" pitchFamily="34" charset="0"/>
                <a:ea typeface="Times New Roman" panose="02020603050405020304" pitchFamily="18" charset="0"/>
              </a:rPr>
              <a:t>somnanbulism</a:t>
            </a:r>
            <a:r>
              <a:rPr lang="tr-TR" sz="2800" dirty="0">
                <a:effectLst/>
                <a:latin typeface="Calibri" panose="020F0502020204030204" pitchFamily="34" charset="0"/>
                <a:ea typeface="Times New Roman" panose="02020603050405020304" pitchFamily="18" charset="0"/>
              </a:rPr>
              <a:t> aşamasında olması gerekmekte ve </a:t>
            </a:r>
            <a:r>
              <a:rPr lang="tr-TR" sz="2800" dirty="0" err="1">
                <a:effectLst/>
                <a:latin typeface="Calibri" panose="020F0502020204030204" pitchFamily="34" charset="0"/>
                <a:ea typeface="Times New Roman" panose="02020603050405020304" pitchFamily="18" charset="0"/>
              </a:rPr>
              <a:t>hipnoterapistin</a:t>
            </a:r>
            <a:r>
              <a:rPr lang="tr-TR" sz="2800" dirty="0">
                <a:effectLst/>
                <a:latin typeface="Calibri" panose="020F0502020204030204" pitchFamily="34" charset="0"/>
                <a:ea typeface="Times New Roman" panose="02020603050405020304" pitchFamily="18" charset="0"/>
              </a:rPr>
              <a:t> de derinliklerin ölçümünde yetenekli olması gerekmektedir.</a:t>
            </a:r>
            <a:endParaRPr lang="tr-TR" sz="28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3346119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C094B4-1814-475E-8C42-0BB90AB67EE9}"/>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798BA7B4-9688-4FD4-950B-37DCE8F3C488}"/>
              </a:ext>
            </a:extLst>
          </p:cNvPr>
          <p:cNvSpPr>
            <a:spLocks noGrp="1"/>
          </p:cNvSpPr>
          <p:nvPr>
            <p:ph idx="1"/>
          </p:nvPr>
        </p:nvSpPr>
        <p:spPr/>
        <p:txBody>
          <a:bodyPr>
            <a:normAutofit fontScale="85000" lnSpcReduction="20000"/>
          </a:bodyPr>
          <a:lstStyle/>
          <a:p>
            <a:r>
              <a:rPr lang="tr-TR" sz="3600" dirty="0">
                <a:effectLst/>
                <a:latin typeface="Calibri" panose="020F0502020204030204" pitchFamily="34" charset="0"/>
                <a:ea typeface="Times New Roman" panose="02020603050405020304" pitchFamily="18" charset="0"/>
              </a:rPr>
              <a:t>Bazı kitaplar, bazı </a:t>
            </a:r>
            <a:r>
              <a:rPr lang="tr-TR" sz="3600" dirty="0" err="1">
                <a:effectLst/>
                <a:latin typeface="Calibri" panose="020F0502020204030204" pitchFamily="34" charset="0"/>
                <a:ea typeface="Times New Roman" panose="02020603050405020304" pitchFamily="18" charset="0"/>
              </a:rPr>
              <a:t>sujelerin</a:t>
            </a:r>
            <a:r>
              <a:rPr lang="tr-TR" sz="3600" dirty="0">
                <a:effectLst/>
                <a:latin typeface="Calibri" panose="020F0502020204030204" pitchFamily="34" charset="0"/>
                <a:ea typeface="Times New Roman" panose="02020603050405020304" pitchFamily="18" charset="0"/>
              </a:rPr>
              <a:t> hipnoza karşı duyarsız olduklarından bahsetmektedirler</a:t>
            </a:r>
            <a:r>
              <a:rPr lang="tr-TR" sz="3600">
                <a:effectLst/>
                <a:latin typeface="Calibri" panose="020F0502020204030204" pitchFamily="34" charset="0"/>
                <a:ea typeface="Times New Roman" panose="02020603050405020304" pitchFamily="18" charset="0"/>
              </a:rPr>
              <a:t>.  </a:t>
            </a:r>
          </a:p>
          <a:p>
            <a:r>
              <a:rPr lang="tr-TR" sz="3600">
                <a:effectLst/>
                <a:latin typeface="Calibri" panose="020F0502020204030204" pitchFamily="34" charset="0"/>
                <a:ea typeface="Times New Roman" panose="02020603050405020304" pitchFamily="18" charset="0"/>
              </a:rPr>
              <a:t>Bir </a:t>
            </a:r>
            <a:r>
              <a:rPr lang="tr-TR" sz="3600" dirty="0">
                <a:effectLst/>
                <a:latin typeface="Calibri" panose="020F0502020204030204" pitchFamily="34" charset="0"/>
                <a:ea typeface="Times New Roman" panose="02020603050405020304" pitchFamily="18" charset="0"/>
              </a:rPr>
              <a:t>neden olmadan hipnoza karşı bir duyarsızlık olabilecekse bu, </a:t>
            </a:r>
            <a:r>
              <a:rPr lang="tr-TR" sz="3600" dirty="0" err="1">
                <a:effectLst/>
                <a:latin typeface="Calibri" panose="020F0502020204030204" pitchFamily="34" charset="0"/>
                <a:ea typeface="Times New Roman" panose="02020603050405020304" pitchFamily="18" charset="0"/>
              </a:rPr>
              <a:t>sujenizin</a:t>
            </a:r>
            <a:r>
              <a:rPr lang="tr-TR" sz="3600" dirty="0">
                <a:effectLst/>
                <a:latin typeface="Calibri" panose="020F0502020204030204" pitchFamily="34" charset="0"/>
                <a:ea typeface="Times New Roman" panose="02020603050405020304" pitchFamily="18" charset="0"/>
              </a:rPr>
              <a:t> mutlaka duyarsız olduğu anlamına gelmez. Bir kişinin derinleşememesinin ardında bir çok neden olabilir.   </a:t>
            </a:r>
            <a:r>
              <a:rPr lang="tr-TR" sz="3600" dirty="0" err="1">
                <a:effectLst/>
                <a:latin typeface="Calibri" panose="020F0502020204030204" pitchFamily="34" charset="0"/>
                <a:ea typeface="Times New Roman" panose="02020603050405020304" pitchFamily="18" charset="0"/>
              </a:rPr>
              <a:t>hipnoterapistin</a:t>
            </a:r>
            <a:r>
              <a:rPr lang="tr-TR" sz="3600" dirty="0">
                <a:effectLst/>
                <a:latin typeface="Calibri" panose="020F0502020204030204" pitchFamily="34" charset="0"/>
                <a:ea typeface="Times New Roman" panose="02020603050405020304" pitchFamily="18" charset="0"/>
              </a:rPr>
              <a:t> sanatsal yeteneğinin yetersizliği, </a:t>
            </a:r>
            <a:r>
              <a:rPr lang="tr-TR" sz="3600" dirty="0" err="1">
                <a:effectLst/>
                <a:latin typeface="Calibri" panose="020F0502020204030204" pitchFamily="34" charset="0"/>
                <a:ea typeface="Times New Roman" panose="02020603050405020304" pitchFamily="18" charset="0"/>
              </a:rPr>
              <a:t>sujenin</a:t>
            </a:r>
            <a:r>
              <a:rPr lang="tr-TR" sz="3600" dirty="0">
                <a:effectLst/>
                <a:latin typeface="Calibri" panose="020F0502020204030204" pitchFamily="34" charset="0"/>
                <a:ea typeface="Times New Roman" panose="02020603050405020304" pitchFamily="18" charset="0"/>
              </a:rPr>
              <a:t> hipnozu anlamamış olması, </a:t>
            </a:r>
            <a:r>
              <a:rPr lang="tr-TR" sz="3600" dirty="0" err="1">
                <a:effectLst/>
                <a:latin typeface="Calibri" panose="020F0502020204030204" pitchFamily="34" charset="0"/>
                <a:ea typeface="Times New Roman" panose="02020603050405020304" pitchFamily="18" charset="0"/>
              </a:rPr>
              <a:t>hipnotiste</a:t>
            </a:r>
            <a:r>
              <a:rPr lang="tr-TR" sz="3600" dirty="0">
                <a:effectLst/>
                <a:latin typeface="Calibri" panose="020F0502020204030204" pitchFamily="34" charset="0"/>
                <a:ea typeface="Times New Roman" panose="02020603050405020304" pitchFamily="18" charset="0"/>
              </a:rPr>
              <a:t> karşı güven ilişkisinin oluşmaması gibi daha önce bahsettiğimiz nedenler olabilir. Ayrıca ilginç bir neden daha vardır, </a:t>
            </a:r>
            <a:r>
              <a:rPr lang="tr-TR" sz="3600" dirty="0" err="1">
                <a:effectLst/>
                <a:latin typeface="Calibri" panose="020F0502020204030204" pitchFamily="34" charset="0"/>
                <a:ea typeface="Times New Roman" panose="02020603050405020304" pitchFamily="18" charset="0"/>
              </a:rPr>
              <a:t>sujenin</a:t>
            </a:r>
            <a:r>
              <a:rPr lang="tr-TR" sz="3600" dirty="0">
                <a:effectLst/>
                <a:latin typeface="Calibri" panose="020F0502020204030204" pitchFamily="34" charset="0"/>
                <a:ea typeface="Times New Roman" panose="02020603050405020304" pitchFamily="18" charset="0"/>
              </a:rPr>
              <a:t> </a:t>
            </a:r>
            <a:r>
              <a:rPr lang="tr-TR" sz="3600" dirty="0" err="1">
                <a:effectLst/>
                <a:latin typeface="Calibri" panose="020F0502020204030204" pitchFamily="34" charset="0"/>
                <a:ea typeface="Times New Roman" panose="02020603050405020304" pitchFamily="18" charset="0"/>
              </a:rPr>
              <a:t>hipnotik</a:t>
            </a:r>
            <a:r>
              <a:rPr lang="tr-TR" sz="3600" dirty="0">
                <a:effectLst/>
                <a:latin typeface="Calibri" panose="020F0502020204030204" pitchFamily="34" charset="0"/>
                <a:ea typeface="Times New Roman" panose="02020603050405020304" pitchFamily="18" charset="0"/>
              </a:rPr>
              <a:t> mühür kurbanı olması. Başka bir </a:t>
            </a:r>
            <a:r>
              <a:rPr lang="tr-TR" sz="3600" dirty="0" err="1">
                <a:effectLst/>
                <a:latin typeface="Calibri" panose="020F0502020204030204" pitchFamily="34" charset="0"/>
                <a:ea typeface="Times New Roman" panose="02020603050405020304" pitchFamily="18" charset="0"/>
              </a:rPr>
              <a:t>hipnotistin</a:t>
            </a:r>
            <a:r>
              <a:rPr lang="tr-TR" sz="3600" dirty="0">
                <a:effectLst/>
                <a:latin typeface="Calibri" panose="020F0502020204030204" pitchFamily="34" charset="0"/>
                <a:ea typeface="Times New Roman" panose="02020603050405020304" pitchFamily="18" charset="0"/>
              </a:rPr>
              <a:t>, o kişiyi hiç kimsenin hipnoz etmemesi için telkinler vermiş olmasıdır. Daha da kötüsü süje bu telkini hatırlamıyor olabilir.</a:t>
            </a:r>
            <a:endParaRPr lang="tr-TR" sz="3600" dirty="0">
              <a:effectLst/>
              <a:latin typeface="Times New Roman" panose="02020603050405020304" pitchFamily="18" charset="0"/>
              <a:ea typeface="Times New Roman" panose="02020603050405020304" pitchFamily="18" charset="0"/>
            </a:endParaRPr>
          </a:p>
          <a:p>
            <a:endParaRPr lang="tr-TR" dirty="0"/>
          </a:p>
        </p:txBody>
      </p:sp>
    </p:spTree>
    <p:extLst>
      <p:ext uri="{BB962C8B-B14F-4D97-AF65-F5344CB8AC3E}">
        <p14:creationId xmlns:p14="http://schemas.microsoft.com/office/powerpoint/2010/main" val="320056297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TotalTime>
  <Words>881</Words>
  <Application>Microsoft Office PowerPoint</Application>
  <PresentationFormat>Geniş ekran</PresentationFormat>
  <Paragraphs>64</Paragraphs>
  <Slides>16</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16</vt:i4>
      </vt:variant>
    </vt:vector>
  </HeadingPairs>
  <TitlesOfParts>
    <vt:vector size="22" baseType="lpstr">
      <vt:lpstr>Arial</vt:lpstr>
      <vt:lpstr>Calibri</vt:lpstr>
      <vt:lpstr>Calibri Light</vt:lpstr>
      <vt:lpstr>Lora</vt:lpstr>
      <vt:lpstr>Times New Roman</vt:lpstr>
      <vt:lpstr>Office Teması</vt:lpstr>
      <vt:lpstr>Hipnozun Derinlikleri  </vt:lpstr>
      <vt:lpstr>Hipnozun Derinlikleri  </vt:lpstr>
      <vt:lpstr>PowerPoint Sunusu</vt:lpstr>
      <vt:lpstr>Hafif evre :</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mkarav68@yahoo.com</dc:creator>
  <cp:lastModifiedBy>mehmet KARAV</cp:lastModifiedBy>
  <cp:revision>4</cp:revision>
  <dcterms:created xsi:type="dcterms:W3CDTF">2021-11-16T21:21:37Z</dcterms:created>
  <dcterms:modified xsi:type="dcterms:W3CDTF">2024-10-25T19:53:36Z</dcterms:modified>
</cp:coreProperties>
</file>