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84" r:id="rId2"/>
    <p:sldMasterId id="2147483720" r:id="rId3"/>
    <p:sldMasterId id="2147483732" r:id="rId4"/>
    <p:sldMasterId id="2147483744" r:id="rId5"/>
    <p:sldMasterId id="2147483756" r:id="rId6"/>
  </p:sldMasterIdLst>
  <p:notesMasterIdLst>
    <p:notesMasterId r:id="rId104"/>
  </p:notesMasterIdLst>
  <p:sldIdLst>
    <p:sldId id="330" r:id="rId7"/>
    <p:sldId id="331" r:id="rId8"/>
    <p:sldId id="346" r:id="rId9"/>
    <p:sldId id="347" r:id="rId10"/>
    <p:sldId id="421" r:id="rId11"/>
    <p:sldId id="348" r:id="rId12"/>
    <p:sldId id="349" r:id="rId13"/>
    <p:sldId id="422" r:id="rId14"/>
    <p:sldId id="350" r:id="rId15"/>
    <p:sldId id="423" r:id="rId16"/>
    <p:sldId id="351" r:id="rId17"/>
    <p:sldId id="257" r:id="rId18"/>
    <p:sldId id="358" r:id="rId19"/>
    <p:sldId id="359" r:id="rId20"/>
    <p:sldId id="360" r:id="rId21"/>
    <p:sldId id="361" r:id="rId22"/>
    <p:sldId id="362" r:id="rId23"/>
    <p:sldId id="363" r:id="rId24"/>
    <p:sldId id="364" r:id="rId25"/>
    <p:sldId id="365" r:id="rId26"/>
    <p:sldId id="366" r:id="rId27"/>
    <p:sldId id="367" r:id="rId28"/>
    <p:sldId id="368" r:id="rId29"/>
    <p:sldId id="369" r:id="rId30"/>
    <p:sldId id="370" r:id="rId31"/>
    <p:sldId id="371" r:id="rId32"/>
    <p:sldId id="258" r:id="rId33"/>
    <p:sldId id="259" r:id="rId34"/>
    <p:sldId id="260" r:id="rId35"/>
    <p:sldId id="261" r:id="rId36"/>
    <p:sldId id="262" r:id="rId37"/>
    <p:sldId id="263" r:id="rId38"/>
    <p:sldId id="264" r:id="rId39"/>
    <p:sldId id="265" r:id="rId40"/>
    <p:sldId id="266" r:id="rId41"/>
    <p:sldId id="352" r:id="rId42"/>
    <p:sldId id="353" r:id="rId43"/>
    <p:sldId id="354" r:id="rId44"/>
    <p:sldId id="356" r:id="rId45"/>
    <p:sldId id="357" r:id="rId46"/>
    <p:sldId id="267" r:id="rId47"/>
    <p:sldId id="268" r:id="rId48"/>
    <p:sldId id="269" r:id="rId49"/>
    <p:sldId id="270" r:id="rId50"/>
    <p:sldId id="271" r:id="rId51"/>
    <p:sldId id="272" r:id="rId52"/>
    <p:sldId id="273" r:id="rId53"/>
    <p:sldId id="424" r:id="rId54"/>
    <p:sldId id="274" r:id="rId55"/>
    <p:sldId id="275" r:id="rId56"/>
    <p:sldId id="276" r:id="rId57"/>
    <p:sldId id="279" r:id="rId58"/>
    <p:sldId id="280" r:id="rId59"/>
    <p:sldId id="281" r:id="rId60"/>
    <p:sldId id="282" r:id="rId61"/>
    <p:sldId id="283" r:id="rId62"/>
    <p:sldId id="284" r:id="rId63"/>
    <p:sldId id="285" r:id="rId64"/>
    <p:sldId id="286" r:id="rId65"/>
    <p:sldId id="287" r:id="rId66"/>
    <p:sldId id="288" r:id="rId67"/>
    <p:sldId id="289" r:id="rId68"/>
    <p:sldId id="290" r:id="rId69"/>
    <p:sldId id="291" r:id="rId70"/>
    <p:sldId id="420" r:id="rId71"/>
    <p:sldId id="293" r:id="rId72"/>
    <p:sldId id="294" r:id="rId73"/>
    <p:sldId id="295" r:id="rId74"/>
    <p:sldId id="296" r:id="rId75"/>
    <p:sldId id="297" r:id="rId76"/>
    <p:sldId id="298" r:id="rId77"/>
    <p:sldId id="299" r:id="rId78"/>
    <p:sldId id="300" r:id="rId79"/>
    <p:sldId id="301" r:id="rId80"/>
    <p:sldId id="304" r:id="rId81"/>
    <p:sldId id="418" r:id="rId82"/>
    <p:sldId id="306" r:id="rId83"/>
    <p:sldId id="307" r:id="rId84"/>
    <p:sldId id="308" r:id="rId85"/>
    <p:sldId id="309" r:id="rId86"/>
    <p:sldId id="310" r:id="rId87"/>
    <p:sldId id="311" r:id="rId88"/>
    <p:sldId id="312" r:id="rId89"/>
    <p:sldId id="313" r:id="rId90"/>
    <p:sldId id="314" r:id="rId91"/>
    <p:sldId id="315" r:id="rId92"/>
    <p:sldId id="419" r:id="rId93"/>
    <p:sldId id="316" r:id="rId94"/>
    <p:sldId id="317" r:id="rId95"/>
    <p:sldId id="318" r:id="rId96"/>
    <p:sldId id="319" r:id="rId97"/>
    <p:sldId id="320" r:id="rId98"/>
    <p:sldId id="322" r:id="rId99"/>
    <p:sldId id="324" r:id="rId100"/>
    <p:sldId id="325" r:id="rId101"/>
    <p:sldId id="326" r:id="rId102"/>
    <p:sldId id="327" r:id="rId10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140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2006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0.xml"/><Relationship Id="rId21" Type="http://schemas.openxmlformats.org/officeDocument/2006/relationships/slide" Target="slides/slide15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63" Type="http://schemas.openxmlformats.org/officeDocument/2006/relationships/slide" Target="slides/slide57.xml"/><Relationship Id="rId68" Type="http://schemas.openxmlformats.org/officeDocument/2006/relationships/slide" Target="slides/slide62.xml"/><Relationship Id="rId84" Type="http://schemas.openxmlformats.org/officeDocument/2006/relationships/slide" Target="slides/slide78.xml"/><Relationship Id="rId89" Type="http://schemas.openxmlformats.org/officeDocument/2006/relationships/slide" Target="slides/slide83.xml"/><Relationship Id="rId16" Type="http://schemas.openxmlformats.org/officeDocument/2006/relationships/slide" Target="slides/slide10.xml"/><Relationship Id="rId107" Type="http://schemas.openxmlformats.org/officeDocument/2006/relationships/theme" Target="theme/theme1.xml"/><Relationship Id="rId11" Type="http://schemas.openxmlformats.org/officeDocument/2006/relationships/slide" Target="slides/slide5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53" Type="http://schemas.openxmlformats.org/officeDocument/2006/relationships/slide" Target="slides/slide47.xml"/><Relationship Id="rId58" Type="http://schemas.openxmlformats.org/officeDocument/2006/relationships/slide" Target="slides/slide52.xml"/><Relationship Id="rId74" Type="http://schemas.openxmlformats.org/officeDocument/2006/relationships/slide" Target="slides/slide68.xml"/><Relationship Id="rId79" Type="http://schemas.openxmlformats.org/officeDocument/2006/relationships/slide" Target="slides/slide73.xml"/><Relationship Id="rId102" Type="http://schemas.openxmlformats.org/officeDocument/2006/relationships/slide" Target="slides/slide96.xml"/><Relationship Id="rId5" Type="http://schemas.openxmlformats.org/officeDocument/2006/relationships/slideMaster" Target="slideMasters/slideMaster5.xml"/><Relationship Id="rId90" Type="http://schemas.openxmlformats.org/officeDocument/2006/relationships/slide" Target="slides/slide84.xml"/><Relationship Id="rId95" Type="http://schemas.openxmlformats.org/officeDocument/2006/relationships/slide" Target="slides/slide89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64" Type="http://schemas.openxmlformats.org/officeDocument/2006/relationships/slide" Target="slides/slide58.xml"/><Relationship Id="rId69" Type="http://schemas.openxmlformats.org/officeDocument/2006/relationships/slide" Target="slides/slide63.xml"/><Relationship Id="rId80" Type="http://schemas.openxmlformats.org/officeDocument/2006/relationships/slide" Target="slides/slide74.xml"/><Relationship Id="rId85" Type="http://schemas.openxmlformats.org/officeDocument/2006/relationships/slide" Target="slides/slide79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59" Type="http://schemas.openxmlformats.org/officeDocument/2006/relationships/slide" Target="slides/slide53.xml"/><Relationship Id="rId103" Type="http://schemas.openxmlformats.org/officeDocument/2006/relationships/slide" Target="slides/slide97.xml"/><Relationship Id="rId108" Type="http://schemas.openxmlformats.org/officeDocument/2006/relationships/tableStyles" Target="tableStyles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slide" Target="slides/slide48.xml"/><Relationship Id="rId62" Type="http://schemas.openxmlformats.org/officeDocument/2006/relationships/slide" Target="slides/slide56.xml"/><Relationship Id="rId70" Type="http://schemas.openxmlformats.org/officeDocument/2006/relationships/slide" Target="slides/slide64.xml"/><Relationship Id="rId75" Type="http://schemas.openxmlformats.org/officeDocument/2006/relationships/slide" Target="slides/slide69.xml"/><Relationship Id="rId83" Type="http://schemas.openxmlformats.org/officeDocument/2006/relationships/slide" Target="slides/slide77.xml"/><Relationship Id="rId88" Type="http://schemas.openxmlformats.org/officeDocument/2006/relationships/slide" Target="slides/slide82.xml"/><Relationship Id="rId91" Type="http://schemas.openxmlformats.org/officeDocument/2006/relationships/slide" Target="slides/slide85.xml"/><Relationship Id="rId96" Type="http://schemas.openxmlformats.org/officeDocument/2006/relationships/slide" Target="slides/slide90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slide" Target="slides/slide51.xml"/><Relationship Id="rId106" Type="http://schemas.openxmlformats.org/officeDocument/2006/relationships/viewProps" Target="viewProps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slide" Target="slides/slide54.xml"/><Relationship Id="rId65" Type="http://schemas.openxmlformats.org/officeDocument/2006/relationships/slide" Target="slides/slide59.xml"/><Relationship Id="rId73" Type="http://schemas.openxmlformats.org/officeDocument/2006/relationships/slide" Target="slides/slide67.xml"/><Relationship Id="rId78" Type="http://schemas.openxmlformats.org/officeDocument/2006/relationships/slide" Target="slides/slide72.xml"/><Relationship Id="rId81" Type="http://schemas.openxmlformats.org/officeDocument/2006/relationships/slide" Target="slides/slide75.xml"/><Relationship Id="rId86" Type="http://schemas.openxmlformats.org/officeDocument/2006/relationships/slide" Target="slides/slide80.xml"/><Relationship Id="rId94" Type="http://schemas.openxmlformats.org/officeDocument/2006/relationships/slide" Target="slides/slide88.xml"/><Relationship Id="rId99" Type="http://schemas.openxmlformats.org/officeDocument/2006/relationships/slide" Target="slides/slide93.xml"/><Relationship Id="rId101" Type="http://schemas.openxmlformats.org/officeDocument/2006/relationships/slide" Target="slides/slide9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9" Type="http://schemas.openxmlformats.org/officeDocument/2006/relationships/slide" Target="slides/slide33.xml"/><Relationship Id="rId34" Type="http://schemas.openxmlformats.org/officeDocument/2006/relationships/slide" Target="slides/slide28.xml"/><Relationship Id="rId50" Type="http://schemas.openxmlformats.org/officeDocument/2006/relationships/slide" Target="slides/slide44.xml"/><Relationship Id="rId55" Type="http://schemas.openxmlformats.org/officeDocument/2006/relationships/slide" Target="slides/slide49.xml"/><Relationship Id="rId76" Type="http://schemas.openxmlformats.org/officeDocument/2006/relationships/slide" Target="slides/slide70.xml"/><Relationship Id="rId97" Type="http://schemas.openxmlformats.org/officeDocument/2006/relationships/slide" Target="slides/slide91.xml"/><Relationship Id="rId104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71" Type="http://schemas.openxmlformats.org/officeDocument/2006/relationships/slide" Target="slides/slide65.xml"/><Relationship Id="rId92" Type="http://schemas.openxmlformats.org/officeDocument/2006/relationships/slide" Target="slides/slide86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3.xml"/><Relationship Id="rId24" Type="http://schemas.openxmlformats.org/officeDocument/2006/relationships/slide" Target="slides/slide18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66" Type="http://schemas.openxmlformats.org/officeDocument/2006/relationships/slide" Target="slides/slide60.xml"/><Relationship Id="rId87" Type="http://schemas.openxmlformats.org/officeDocument/2006/relationships/slide" Target="slides/slide81.xml"/><Relationship Id="rId61" Type="http://schemas.openxmlformats.org/officeDocument/2006/relationships/slide" Target="slides/slide55.xml"/><Relationship Id="rId82" Type="http://schemas.openxmlformats.org/officeDocument/2006/relationships/slide" Target="slides/slide76.xml"/><Relationship Id="rId19" Type="http://schemas.openxmlformats.org/officeDocument/2006/relationships/slide" Target="slides/slide13.xml"/><Relationship Id="rId14" Type="http://schemas.openxmlformats.org/officeDocument/2006/relationships/slide" Target="slides/slide8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56" Type="http://schemas.openxmlformats.org/officeDocument/2006/relationships/slide" Target="slides/slide50.xml"/><Relationship Id="rId77" Type="http://schemas.openxmlformats.org/officeDocument/2006/relationships/slide" Target="slides/slide71.xml"/><Relationship Id="rId100" Type="http://schemas.openxmlformats.org/officeDocument/2006/relationships/slide" Target="slides/slide94.xml"/><Relationship Id="rId105" Type="http://schemas.openxmlformats.org/officeDocument/2006/relationships/presProps" Target="presProps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72" Type="http://schemas.openxmlformats.org/officeDocument/2006/relationships/slide" Target="slides/slide66.xml"/><Relationship Id="rId93" Type="http://schemas.openxmlformats.org/officeDocument/2006/relationships/slide" Target="slides/slide87.xml"/><Relationship Id="rId98" Type="http://schemas.openxmlformats.org/officeDocument/2006/relationships/slide" Target="slides/slide92.xml"/><Relationship Id="rId3" Type="http://schemas.openxmlformats.org/officeDocument/2006/relationships/slideMaster" Target="slideMasters/slideMaster3.xml"/><Relationship Id="rId25" Type="http://schemas.openxmlformats.org/officeDocument/2006/relationships/slide" Target="slides/slide19.xml"/><Relationship Id="rId46" Type="http://schemas.openxmlformats.org/officeDocument/2006/relationships/slide" Target="slides/slide40.xml"/><Relationship Id="rId67" Type="http://schemas.openxmlformats.org/officeDocument/2006/relationships/slide" Target="slides/slide6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E47520-2F2D-44CA-AE01-FF8E9E80D75A}" type="datetimeFigureOut">
              <a:rPr lang="tr-TR" smtClean="0"/>
              <a:pPr/>
              <a:t>1.10.2022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C75991-1726-457A-93C0-2C46ED07D15C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207819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1 Slayt Görüntüsü Yer Tutucusu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1" name="2 Not Yer Tutucusu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tr-TR"/>
          </a:p>
        </p:txBody>
      </p:sp>
      <p:sp>
        <p:nvSpPr>
          <p:cNvPr id="27652" name="3 Slayt Numarası Yer Tutucusu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8C7F2C7E-42C2-45D4-BCBE-AAC0D63D9AA6}" type="slidenum">
              <a:rPr lang="tr-TR" smtClean="0"/>
              <a:pPr/>
              <a:t>1</a:t>
            </a:fld>
            <a:endParaRPr lang="tr-T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1 Slayt Görüntüsü Yer Tutucusu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675" name="2 Not Yer Tutucusu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tr-TR"/>
          </a:p>
        </p:txBody>
      </p:sp>
      <p:sp>
        <p:nvSpPr>
          <p:cNvPr id="28676" name="3 Slayt Numarası Yer Tutucusu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EE841DC7-2326-4869-A6AF-7A2772F399E2}" type="slidenum">
              <a:rPr lang="tr-TR" sz="1200"/>
              <a:pPr algn="r"/>
              <a:t>2</a:t>
            </a:fld>
            <a:endParaRPr lang="tr-TR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649096" y="-21511"/>
            <a:ext cx="3505200" cy="23128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33365" y="2708476"/>
            <a:ext cx="3313355" cy="170216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3365" y="4421080"/>
            <a:ext cx="3309803" cy="12606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38744" y="1516828"/>
            <a:ext cx="2133600" cy="750981"/>
          </a:xfrm>
        </p:spPr>
        <p:txBody>
          <a:bodyPr anchor="b"/>
          <a:lstStyle>
            <a:lvl1pPr algn="l">
              <a:defRPr sz="2400"/>
            </a:lvl1pPr>
          </a:lstStyle>
          <a:p>
            <a:fld id="{1D8BD707-D9CF-40AE-B4C6-C98DA3205C09}" type="datetimeFigureOut">
              <a:rPr lang="en-US" smtClean="0"/>
              <a:pPr/>
              <a:t>10/1/2022</a:t>
            </a:fld>
            <a:endParaRPr lang="en-US"/>
          </a:p>
        </p:txBody>
      </p:sp>
      <p:sp>
        <p:nvSpPr>
          <p:cNvPr id="50" name="Rectangle 49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03520" y="5719966"/>
            <a:ext cx="2831592" cy="365125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9096" y="5719966"/>
            <a:ext cx="643666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9" name="Rectangle 88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8645" y="2900829"/>
            <a:ext cx="6637468" cy="1362075"/>
          </a:xfrm>
        </p:spPr>
        <p:txBody>
          <a:bodyPr anchor="b"/>
          <a:lstStyle>
            <a:lvl1pPr algn="l">
              <a:defRPr sz="4000" b="0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645" y="4267200"/>
            <a:ext cx="6637467" cy="1520413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042416" y="2313432"/>
            <a:ext cx="3419856" cy="34930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313431"/>
            <a:ext cx="3419856" cy="34930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2111" y="2316009"/>
            <a:ext cx="305714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721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1837" y="2316010"/>
            <a:ext cx="30557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2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4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7" name="Freeform 46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 58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reeform 69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10/1/2022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894" y="856527"/>
            <a:ext cx="3090440" cy="5150734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9833" y="2657434"/>
            <a:ext cx="3304572" cy="1463153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6592" y="4136994"/>
            <a:ext cx="3298784" cy="151790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5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7" name="Rectangle 8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6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7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8" name="Rectangle 77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Freeform 45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 62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Hexagon 69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Hexagon 70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Hexagon 71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 72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 73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4" name="Rectangle 93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4424" y="2660904"/>
            <a:ext cx="3300984" cy="146304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5208" y="693795"/>
            <a:ext cx="3359623" cy="5468112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4630" y="4133088"/>
            <a:ext cx="3300573" cy="151956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30147"/>
            <a:ext cx="1484453" cy="4780344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296" y="1030147"/>
            <a:ext cx="5423704" cy="47803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10/1/2022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10/1/2022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10/1/2022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10/1/2022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10/1/2022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495800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695825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296728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22030" y="1371600"/>
            <a:ext cx="82296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10/1/2022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3331698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609600"/>
            <a:ext cx="70866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0200" y="2507786"/>
            <a:ext cx="70866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24800" y="6416675"/>
            <a:ext cx="7620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535112"/>
            <a:ext cx="4041775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524000"/>
            <a:ext cx="3008313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609600"/>
            <a:ext cx="54864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28800" y="1831975"/>
            <a:ext cx="54864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en-US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Click icon to add picture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28800" y="1166787"/>
            <a:ext cx="54864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04800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457200" y="333487"/>
            <a:ext cx="8229600" cy="618564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4561242" y="-21511"/>
            <a:ext cx="3679116" cy="699244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EFEFE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EFEFE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2471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10/1/2022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10/1/2022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1D8BD707-D9CF-40AE-B4C6-C98DA3205C09}" type="datetimeFigureOut">
              <a:rPr lang="en-US" smtClean="0"/>
              <a:pPr/>
              <a:t>10/1/2022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8457760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ctr" defTabSz="914400" rtl="0" eaLnBrk="1" latinLnBrk="0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emf"/><Relationship Id="rId4" Type="http://schemas.openxmlformats.org/officeDocument/2006/relationships/image" Target="../media/image25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1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D48D53-874E-4CBC-8FB5-601D949CA18F}" type="slidenum">
              <a:rPr lang="tr-TR"/>
              <a:pPr>
                <a:defRPr/>
              </a:pPr>
              <a:t>1</a:t>
            </a:fld>
            <a:endParaRPr lang="tr-TR"/>
          </a:p>
        </p:txBody>
      </p:sp>
      <p:sp>
        <p:nvSpPr>
          <p:cNvPr id="10251" name="12 Dikdörtgen"/>
          <p:cNvSpPr>
            <a:spLocks noChangeArrowheads="1"/>
          </p:cNvSpPr>
          <p:nvPr/>
        </p:nvSpPr>
        <p:spPr bwMode="auto">
          <a:xfrm>
            <a:off x="468313" y="2492375"/>
            <a:ext cx="8072437" cy="32316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tr-TR" sz="7200" b="1" dirty="0">
                <a:latin typeface="Arial" charset="0"/>
              </a:rPr>
              <a:t>Duyguların Gizli Dili</a:t>
            </a:r>
          </a:p>
          <a:p>
            <a:pPr algn="ctr"/>
            <a:endParaRPr lang="tr-TR" sz="6000" b="1" dirty="0">
              <a:latin typeface="Arial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1 Slayt Numarası Yer Tutucusu"/>
          <p:cNvSpPr txBox="1">
            <a:spLocks noGrp="1"/>
          </p:cNvSpPr>
          <p:nvPr/>
        </p:nvSpPr>
        <p:spPr>
          <a:xfrm>
            <a:off x="8229600" y="6473825"/>
            <a:ext cx="758825" cy="247650"/>
          </a:xfrm>
          <a:prstGeom prst="rect">
            <a:avLst/>
          </a:prstGeom>
          <a:noFill/>
        </p:spPr>
        <p:txBody>
          <a:bodyPr/>
          <a:lstStyle/>
          <a:p>
            <a:pPr algn="r">
              <a:defRPr/>
            </a:pPr>
            <a:fld id="{31A648B4-81D0-484C-BB66-F57E645CA4DC}" type="slidenum">
              <a:rPr lang="tr-TR" sz="1200">
                <a:solidFill>
                  <a:schemeClr val="accent1">
                    <a:shade val="75000"/>
                  </a:schemeClr>
                </a:solidFill>
              </a:rPr>
              <a:pPr algn="r">
                <a:defRPr/>
              </a:pPr>
              <a:t>2</a:t>
            </a:fld>
            <a:endParaRPr lang="tr-TR" sz="1200">
              <a:solidFill>
                <a:schemeClr val="accent1">
                  <a:shade val="75000"/>
                </a:schemeClr>
              </a:solidFill>
            </a:endParaRPr>
          </a:p>
        </p:txBody>
      </p:sp>
      <p:sp>
        <p:nvSpPr>
          <p:cNvPr id="11275" name="8 Dikdörtgen"/>
          <p:cNvSpPr>
            <a:spLocks noChangeArrowheads="1"/>
          </p:cNvSpPr>
          <p:nvPr/>
        </p:nvSpPr>
        <p:spPr bwMode="auto">
          <a:xfrm>
            <a:off x="457200" y="609600"/>
            <a:ext cx="8531225" cy="68326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endParaRPr lang="tr-TR" sz="5400" b="1" dirty="0"/>
          </a:p>
          <a:p>
            <a:r>
              <a:rPr lang="tr-TR" sz="5400" b="1" dirty="0"/>
              <a:t>Duygu; </a:t>
            </a:r>
            <a:r>
              <a:rPr lang="tr-TR" sz="5400" dirty="0"/>
              <a:t>Hislerin Genel Adı</a:t>
            </a:r>
          </a:p>
          <a:p>
            <a:endParaRPr lang="tr-TR" sz="5400" b="1" dirty="0"/>
          </a:p>
          <a:p>
            <a:r>
              <a:rPr lang="tr-TR" sz="5400" b="1" dirty="0"/>
              <a:t>His; </a:t>
            </a:r>
            <a:r>
              <a:rPr lang="tr-TR" sz="5400" dirty="0"/>
              <a:t>Bedende hissedilen herhangi bir şey</a:t>
            </a:r>
          </a:p>
          <a:p>
            <a:pPr algn="ctr"/>
            <a:endParaRPr lang="tr-TR" sz="5400" dirty="0"/>
          </a:p>
          <a:p>
            <a:pPr algn="ctr"/>
            <a:endParaRPr lang="tr-TR" sz="5400" b="1" dirty="0"/>
          </a:p>
          <a:p>
            <a:pPr algn="ctr">
              <a:buFont typeface="Wingdings" pitchFamily="2" charset="2"/>
              <a:buNone/>
            </a:pPr>
            <a:r>
              <a:rPr lang="tr-TR" sz="6000" b="1" dirty="0">
                <a:latin typeface="Arial" charset="0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5029200"/>
          </a:xfrm>
        </p:spPr>
        <p:txBody>
          <a:bodyPr>
            <a:normAutofit/>
          </a:bodyPr>
          <a:lstStyle/>
          <a:p>
            <a:endParaRPr lang="tr-TR" sz="3200" dirty="0">
              <a:latin typeface="Arial" pitchFamily="34" charset="0"/>
              <a:cs typeface="Arial" pitchFamily="34" charset="0"/>
            </a:endParaRPr>
          </a:p>
          <a:p>
            <a:r>
              <a:rPr lang="tr-TR" sz="3200" dirty="0">
                <a:latin typeface="Arial" pitchFamily="34" charset="0"/>
                <a:cs typeface="Arial" pitchFamily="34" charset="0"/>
              </a:rPr>
              <a:t>Tüm duygular iyidir</a:t>
            </a:r>
          </a:p>
          <a:p>
            <a:r>
              <a:rPr lang="tr-TR" sz="3200" dirty="0">
                <a:latin typeface="Arial" pitchFamily="34" charset="0"/>
                <a:cs typeface="Arial" pitchFamily="34" charset="0"/>
              </a:rPr>
              <a:t>Zihin - beden çatışmasının habercisidirler</a:t>
            </a:r>
          </a:p>
          <a:p>
            <a:r>
              <a:rPr lang="tr-TR" sz="3200" dirty="0">
                <a:latin typeface="Arial" pitchFamily="34" charset="0"/>
                <a:cs typeface="Arial" pitchFamily="34" charset="0"/>
              </a:rPr>
              <a:t>Bir ihtiyacın doyurulması gerektiğini bildirirler</a:t>
            </a:r>
          </a:p>
          <a:p>
            <a:r>
              <a:rPr lang="tr-TR" sz="3200" dirty="0">
                <a:latin typeface="Arial" pitchFamily="34" charset="0"/>
                <a:cs typeface="Arial" pitchFamily="34" charset="0"/>
              </a:rPr>
              <a:t>Kötü duygu, acı yaratan duygudur. </a:t>
            </a:r>
          </a:p>
          <a:p>
            <a:r>
              <a:rPr lang="tr-TR" sz="3200" dirty="0">
                <a:latin typeface="Arial" pitchFamily="34" charset="0"/>
                <a:cs typeface="Arial" pitchFamily="34" charset="0"/>
              </a:rPr>
              <a:t>Ama her duygu bilgi sağlar, harekete geçmemiz için uyarır.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62000"/>
            <a:ext cx="9144000" cy="6019800"/>
          </a:xfrm>
        </p:spPr>
        <p:txBody>
          <a:bodyPr>
            <a:normAutofit/>
          </a:bodyPr>
          <a:lstStyle/>
          <a:p>
            <a:endParaRPr lang="tr-TR" sz="3600" dirty="0"/>
          </a:p>
          <a:p>
            <a:r>
              <a:rPr lang="tr-TR" sz="3600" dirty="0"/>
              <a:t>Temel ihtiyaçlarımız genetik olarak değişmeyen ihtiyaçlardır. </a:t>
            </a:r>
          </a:p>
          <a:p>
            <a:r>
              <a:rPr lang="tr-TR" sz="3600" dirty="0"/>
              <a:t>Yani yaşamak için gerekli olanlar: yiyecek, su, barınma ve korunma.</a:t>
            </a:r>
            <a:r>
              <a:rPr lang="tr-TR" sz="3600" dirty="0">
                <a:latin typeface="Arial" charset="0"/>
              </a:rPr>
              <a:t> </a:t>
            </a:r>
          </a:p>
          <a:p>
            <a:r>
              <a:rPr lang="tr-TR" sz="3600" u="sng" dirty="0"/>
              <a:t>Kişileri rahatsız eden sekonder karşılanmamış ihtiyaçlardır. </a:t>
            </a:r>
          </a:p>
          <a:p>
            <a:pPr marL="109728" indent="0">
              <a:buNone/>
            </a:pPr>
            <a:endParaRPr lang="tr-TR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274638"/>
            <a:ext cx="7924800" cy="411162"/>
          </a:xfrm>
        </p:spPr>
        <p:txBody>
          <a:bodyPr>
            <a:normAutofit fontScale="90000"/>
          </a:bodyPr>
          <a:lstStyle/>
          <a:p>
            <a:endParaRPr lang="tr-TR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sz="3600" dirty="0"/>
              <a:t>Kendini değersiz görme, yetersiz ilişki, başarı düzeyinin yetersiz olması gibi sorunlardır.</a:t>
            </a:r>
          </a:p>
          <a:p>
            <a:endParaRPr lang="tr-TR" sz="3600" b="1" dirty="0"/>
          </a:p>
          <a:p>
            <a:r>
              <a:rPr lang="tr-TR" sz="3600" b="1" dirty="0"/>
              <a:t>Bilinçaltı sekonder ihtiyaçlara temel ihtiyaç muamelesi yaptıkça sorun çıkmaya başlar.</a:t>
            </a:r>
          </a:p>
          <a:p>
            <a:endParaRPr lang="tr-TR" sz="3600" dirty="0">
              <a:latin typeface="Arial" charset="0"/>
            </a:endParaRPr>
          </a:p>
          <a:p>
            <a:endParaRPr lang="tr-TR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669315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sz="3200" dirty="0"/>
              <a:t>Duygularla ilgili tüm fiziksel değişiklikleri yaratan bilinçaltıdır.</a:t>
            </a:r>
          </a:p>
          <a:p>
            <a:endParaRPr lang="tr-TR" sz="3200" dirty="0"/>
          </a:p>
          <a:p>
            <a:r>
              <a:rPr lang="tr-TR" sz="3200" dirty="0"/>
              <a:t>Duygularımızın kaynağı da bilinçaltıdır. </a:t>
            </a:r>
          </a:p>
          <a:p>
            <a:endParaRPr lang="tr-TR" sz="3200" dirty="0"/>
          </a:p>
          <a:p>
            <a:r>
              <a:rPr lang="tr-TR" sz="3200" dirty="0"/>
              <a:t>Yaşanmış olaylar, bilinçaltında duyguların oluşmasına neden olur.</a:t>
            </a:r>
            <a:endParaRPr lang="tr-TR" sz="3200" dirty="0">
              <a:latin typeface="Arial" charset="0"/>
            </a:endParaRPr>
          </a:p>
          <a:p>
            <a:endParaRPr lang="tr-TR" sz="32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tr-TR" sz="3600" dirty="0"/>
          </a:p>
          <a:p>
            <a:r>
              <a:rPr lang="tr-TR" sz="3600" dirty="0"/>
              <a:t>Duygu saf bir motivasyondur. </a:t>
            </a:r>
          </a:p>
          <a:p>
            <a:r>
              <a:rPr lang="tr-TR" sz="3600" dirty="0"/>
              <a:t>Harekete geçirici psikolojik bir baskıdır. </a:t>
            </a:r>
          </a:p>
          <a:p>
            <a:r>
              <a:rPr lang="tr-TR" sz="3600" b="1" dirty="0"/>
              <a:t>Eğer bu his bastırılırsa, o duygunun içindeki enerji bastırılmış olur.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 sz="3600" dirty="0"/>
          </a:p>
          <a:p>
            <a:r>
              <a:rPr lang="tr-TR" sz="3600" dirty="0"/>
              <a:t>Belli bir ruhsal durum, o anda yaşanan fiziksel değişikliklerle beraber bilinçaltında kodlanarak kaydedilir. </a:t>
            </a:r>
          </a:p>
          <a:p>
            <a:r>
              <a:rPr lang="tr-TR" sz="3600" dirty="0"/>
              <a:t>Aynı emosyonel ( hissi) durumda aynı fiziksel olaylar tekrar edilir.</a:t>
            </a:r>
            <a:endParaRPr lang="tr-TR" sz="3600" dirty="0">
              <a:latin typeface="Arial" charset="0"/>
            </a:endParaRPr>
          </a:p>
          <a:p>
            <a:endParaRPr lang="tr-TR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712106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382000" cy="4876800"/>
          </a:xfrm>
        </p:spPr>
        <p:txBody>
          <a:bodyPr>
            <a:normAutofit/>
          </a:bodyPr>
          <a:lstStyle/>
          <a:p>
            <a:r>
              <a:rPr lang="tr-TR" sz="3600" b="1" dirty="0"/>
              <a:t>Eski bir olayla aynı frekansı gösteren bir olay olduğunda, emosyonel sistem rezonans yapar</a:t>
            </a:r>
          </a:p>
          <a:p>
            <a:pPr>
              <a:buNone/>
            </a:pPr>
            <a:r>
              <a:rPr lang="tr-TR" sz="3600" b="1" dirty="0"/>
              <a:t>   ( Titreşir )</a:t>
            </a:r>
          </a:p>
          <a:p>
            <a:r>
              <a:rPr lang="tr-TR" sz="3600" dirty="0"/>
              <a:t>Geçmişten gelen ve karşılanmamış ihtiyaçları temsil eden duygular, kişinin içinde sürekli bir kazanın kaynamasına neden olur.</a:t>
            </a:r>
          </a:p>
          <a:p>
            <a:pPr>
              <a:buNone/>
            </a:pPr>
            <a:endParaRPr lang="tr-TR" b="1" dirty="0"/>
          </a:p>
          <a:p>
            <a:pPr>
              <a:buNone/>
            </a:pPr>
            <a:endParaRPr lang="tr-TR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81328"/>
            <a:ext cx="8686800" cy="4525963"/>
          </a:xfrm>
        </p:spPr>
        <p:txBody>
          <a:bodyPr/>
          <a:lstStyle/>
          <a:p>
            <a:endParaRPr lang="tr-TR" sz="3600" dirty="0"/>
          </a:p>
          <a:p>
            <a:r>
              <a:rPr lang="tr-TR" sz="3600" dirty="0"/>
              <a:t>Geçmişi temizlemek geleceği düzeltmek demektir. </a:t>
            </a:r>
          </a:p>
          <a:p>
            <a:endParaRPr lang="tr-TR" sz="3600" dirty="0"/>
          </a:p>
          <a:p>
            <a:r>
              <a:rPr lang="tr-TR" sz="3600" dirty="0"/>
              <a:t>Bu olunca, sadece şimdiyi yaşamaya başlarız</a:t>
            </a:r>
            <a:endParaRPr lang="tr-TR" sz="3600" dirty="0">
              <a:latin typeface="Arial" charset="0"/>
            </a:endParaRPr>
          </a:p>
          <a:p>
            <a:endParaRPr lang="tr-TR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930822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525963"/>
          </a:xfrm>
        </p:spPr>
        <p:txBody>
          <a:bodyPr>
            <a:noAutofit/>
          </a:bodyPr>
          <a:lstStyle/>
          <a:p>
            <a:r>
              <a:rPr lang="tr-TR" sz="3600" b="1" u="sng" dirty="0"/>
              <a:t>Duyguyu bastırmak </a:t>
            </a:r>
          </a:p>
          <a:p>
            <a:endParaRPr lang="tr-TR" sz="3600" b="1" dirty="0"/>
          </a:p>
          <a:p>
            <a:r>
              <a:rPr lang="tr-TR" sz="3600" b="1" dirty="0"/>
              <a:t>o yanan benzin göstergesinin üzerine </a:t>
            </a:r>
          </a:p>
          <a:p>
            <a:endParaRPr lang="tr-TR" sz="3600" b="1" dirty="0"/>
          </a:p>
          <a:p>
            <a:r>
              <a:rPr lang="tr-TR" sz="3600" b="1" dirty="0"/>
              <a:t>siyah bir bant yapıştırmakla, </a:t>
            </a:r>
          </a:p>
          <a:p>
            <a:endParaRPr lang="tr-TR" sz="3600" b="1" dirty="0"/>
          </a:p>
          <a:p>
            <a:r>
              <a:rPr lang="tr-TR" sz="3600" b="1" dirty="0"/>
              <a:t>ampulü gevşetmekle eşdeğerdir. </a:t>
            </a:r>
            <a:endParaRPr lang="tr-TR" sz="3600" b="1" dirty="0">
              <a:latin typeface="Arial" charset="0"/>
            </a:endParaRPr>
          </a:p>
          <a:p>
            <a:endParaRPr lang="tr-TR" sz="36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8077200" cy="715962"/>
          </a:xfrm>
        </p:spPr>
        <p:txBody>
          <a:bodyPr>
            <a:normAutofit fontScale="90000"/>
          </a:bodyPr>
          <a:lstStyle/>
          <a:p>
            <a:endParaRPr lang="tr-TR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tr-TR" sz="5400" dirty="0"/>
              <a:t>E.F.T.</a:t>
            </a:r>
          </a:p>
        </p:txBody>
      </p:sp>
      <p:sp>
        <p:nvSpPr>
          <p:cNvPr id="48131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457200" y="2362200"/>
            <a:ext cx="8686800" cy="3962400"/>
          </a:xfrm>
        </p:spPr>
        <p:txBody>
          <a:bodyPr/>
          <a:lstStyle/>
          <a:p>
            <a:endParaRPr lang="tr-TR" dirty="0"/>
          </a:p>
          <a:p>
            <a:r>
              <a:rPr lang="tr-TR" sz="4000" dirty="0"/>
              <a:t>Emotional Freedom Technique</a:t>
            </a:r>
          </a:p>
          <a:p>
            <a:endParaRPr lang="tr-TR" sz="4000" dirty="0"/>
          </a:p>
          <a:p>
            <a:r>
              <a:rPr lang="tr-TR" sz="4000" dirty="0"/>
              <a:t>Duygusal Özgürleşme Tekniği </a:t>
            </a:r>
          </a:p>
        </p:txBody>
      </p:sp>
    </p:spTree>
    <p:extLst>
      <p:ext uri="{BB962C8B-B14F-4D97-AF65-F5344CB8AC3E}">
        <p14:creationId xmlns:p14="http://schemas.microsoft.com/office/powerpoint/2010/main" val="12545032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defRPr/>
            </a:pPr>
            <a:endParaRPr lang="tr-TR"/>
          </a:p>
        </p:txBody>
      </p:sp>
      <p:pic>
        <p:nvPicPr>
          <p:cNvPr id="34819" name="Picture 10" descr="EFTLogo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133350">
            <a:solidFill>
              <a:srgbClr val="20B2E0"/>
            </a:solidFill>
            <a:miter lim="800000"/>
            <a:headEnd/>
            <a:tailEnd/>
          </a:ln>
        </p:spPr>
      </p:pic>
      <p:sp>
        <p:nvSpPr>
          <p:cNvPr id="41995" name="Rectangle 11"/>
          <p:cNvSpPr>
            <a:spLocks noGrp="1" noRot="1" noChangeArrowheads="1"/>
          </p:cNvSpPr>
          <p:nvPr>
            <p:ph type="title" idx="4294967295"/>
          </p:nvPr>
        </p:nvSpPr>
        <p:spPr>
          <a:xfrm>
            <a:off x="-228600" y="152400"/>
            <a:ext cx="9601200" cy="1143000"/>
          </a:xfrm>
          <a:noFill/>
        </p:spPr>
        <p:txBody>
          <a:bodyPr>
            <a:normAutofit fontScale="90000"/>
          </a:bodyPr>
          <a:lstStyle/>
          <a:p>
            <a:pPr eaLnBrk="1" hangingPunct="1"/>
            <a:r>
              <a:rPr lang="tr-TR" sz="7000" i="1">
                <a:solidFill>
                  <a:srgbClr val="FF0000"/>
                </a:solidFill>
                <a:latin typeface="Century Gothic" pitchFamily="34" charset="0"/>
              </a:rPr>
              <a:t>E</a:t>
            </a:r>
            <a:r>
              <a:rPr lang="tr-TR" sz="4300" i="1">
                <a:solidFill>
                  <a:srgbClr val="20B2E0"/>
                </a:solidFill>
                <a:latin typeface="Century Gothic" pitchFamily="34" charset="0"/>
              </a:rPr>
              <a:t>motional</a:t>
            </a:r>
            <a:r>
              <a:rPr lang="tr-TR" sz="4000" i="1">
                <a:solidFill>
                  <a:srgbClr val="20B2E0"/>
                </a:solidFill>
                <a:latin typeface="Century Gothic" pitchFamily="34" charset="0"/>
              </a:rPr>
              <a:t> </a:t>
            </a:r>
            <a:r>
              <a:rPr lang="tr-TR" sz="7000" i="1">
                <a:solidFill>
                  <a:srgbClr val="FF0000"/>
                </a:solidFill>
                <a:latin typeface="Century Gothic" pitchFamily="34" charset="0"/>
              </a:rPr>
              <a:t>F</a:t>
            </a:r>
            <a:r>
              <a:rPr lang="tr-TR" sz="4300" i="1">
                <a:solidFill>
                  <a:srgbClr val="20B2E0"/>
                </a:solidFill>
                <a:latin typeface="Century Gothic" pitchFamily="34" charset="0"/>
              </a:rPr>
              <a:t>reedom</a:t>
            </a:r>
            <a:r>
              <a:rPr lang="tr-TR" sz="5800" i="1">
                <a:solidFill>
                  <a:srgbClr val="20B2E0"/>
                </a:solidFill>
                <a:latin typeface="Century Gothic" pitchFamily="34" charset="0"/>
              </a:rPr>
              <a:t> </a:t>
            </a:r>
            <a:r>
              <a:rPr lang="tr-TR" sz="7000" i="1">
                <a:solidFill>
                  <a:srgbClr val="FF0000"/>
                </a:solidFill>
                <a:latin typeface="Century Gothic" pitchFamily="34" charset="0"/>
              </a:rPr>
              <a:t>T</a:t>
            </a:r>
            <a:r>
              <a:rPr lang="tr-TR" sz="4300" i="1">
                <a:solidFill>
                  <a:srgbClr val="20B2E0"/>
                </a:solidFill>
                <a:latin typeface="Century Gothic" pitchFamily="34" charset="0"/>
              </a:rPr>
              <a:t>echniques</a:t>
            </a:r>
          </a:p>
        </p:txBody>
      </p:sp>
      <p:sp>
        <p:nvSpPr>
          <p:cNvPr id="34821" name="Text Box 5"/>
          <p:cNvSpPr txBox="1">
            <a:spLocks noChangeArrowheads="1"/>
          </p:cNvSpPr>
          <p:nvPr/>
        </p:nvSpPr>
        <p:spPr bwMode="auto">
          <a:xfrm>
            <a:off x="0" y="5791200"/>
            <a:ext cx="8763000" cy="7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tr-TR" sz="45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Duygusal Özgürlük Tekniği</a:t>
            </a: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352800" y="1219200"/>
            <a:ext cx="5486400" cy="9525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tr-TR" sz="6000" dirty="0">
                <a:solidFill>
                  <a:schemeClr val="accent1">
                    <a:lumMod val="40000"/>
                    <a:lumOff val="60000"/>
                  </a:schemeClr>
                </a:solidFill>
                <a:latin typeface="Britannic Bold" pitchFamily="34" charset="0"/>
              </a:rPr>
              <a:t>Nedir?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2971800"/>
            <a:ext cx="8229600" cy="3505200"/>
          </a:xfrm>
        </p:spPr>
        <p:txBody>
          <a:bodyPr/>
          <a:lstStyle/>
          <a:p>
            <a:pPr eaLnBrk="1" hangingPunct="1">
              <a:buClr>
                <a:srgbClr val="85E0FF"/>
              </a:buClr>
              <a:buSzPct val="82000"/>
            </a:pPr>
            <a:r>
              <a:rPr lang="tr-TR" b="1" dirty="0">
                <a:latin typeface="Century Gothic" pitchFamily="34" charset="0"/>
              </a:rPr>
              <a:t>İğnesiz Akupunktur.</a:t>
            </a:r>
          </a:p>
          <a:p>
            <a:pPr eaLnBrk="1" hangingPunct="1">
              <a:buClr>
                <a:srgbClr val="85E0FF"/>
              </a:buClr>
              <a:buSzPct val="82000"/>
            </a:pPr>
            <a:r>
              <a:rPr lang="tr-TR" b="1" dirty="0">
                <a:latin typeface="Century Gothic" pitchFamily="34" charset="0"/>
              </a:rPr>
              <a:t>Enerji Temelli bir tekniktir</a:t>
            </a:r>
          </a:p>
          <a:p>
            <a:pPr>
              <a:buClr>
                <a:srgbClr val="85E0FF"/>
              </a:buClr>
              <a:buSzPct val="82000"/>
            </a:pPr>
            <a:r>
              <a:rPr lang="tr-TR" b="1" dirty="0">
                <a:latin typeface="Century Gothic" pitchFamily="34" charset="0"/>
              </a:rPr>
              <a:t>Bedendeki akupunktur noktalarına vuruşlarla uygulanır.</a:t>
            </a:r>
          </a:p>
          <a:p>
            <a:pPr eaLnBrk="1" hangingPunct="1">
              <a:buClr>
                <a:srgbClr val="85E0FF"/>
              </a:buClr>
              <a:buSzPct val="82000"/>
            </a:pPr>
            <a:r>
              <a:rPr lang="tr-TR" b="1" dirty="0">
                <a:latin typeface="Century Gothic" pitchFamily="34" charset="0"/>
              </a:rPr>
              <a:t>Vuruşlarla, bedende tıkanmış olumsuz enerji harekete geçirilir ve boşaltılır. </a:t>
            </a:r>
          </a:p>
          <a:p>
            <a:pPr eaLnBrk="1" hangingPunct="1"/>
            <a:endParaRPr lang="tr-TR" dirty="0">
              <a:latin typeface="Century Gothic" pitchFamily="34" charset="0"/>
            </a:endParaRPr>
          </a:p>
        </p:txBody>
      </p:sp>
      <p:pic>
        <p:nvPicPr>
          <p:cNvPr id="4100" name="Picture 4" descr="EFTLogo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00200" y="304800"/>
            <a:ext cx="2895600" cy="1981200"/>
          </a:xfrm>
          <a:prstGeom prst="rect">
            <a:avLst/>
          </a:prstGeom>
          <a:noFill/>
          <a:ln w="79375">
            <a:solidFill>
              <a:schemeClr val="accent1">
                <a:lumMod val="40000"/>
                <a:lumOff val="60000"/>
              </a:schemeClr>
            </a:solidFill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-76200" y="2514600"/>
            <a:ext cx="9220200" cy="4343400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None/>
            </a:pPr>
            <a:r>
              <a:rPr lang="tr-TR" dirty="0">
                <a:latin typeface="Century Gothic" pitchFamily="34" charset="0"/>
              </a:rPr>
              <a:t>	* Doğrudan sorunu yaratan; </a:t>
            </a:r>
          </a:p>
          <a:p>
            <a:r>
              <a:rPr lang="tr-TR" dirty="0">
                <a:latin typeface="Century Gothic" pitchFamily="34" charset="0"/>
              </a:rPr>
              <a:t>düşüncelere </a:t>
            </a:r>
          </a:p>
          <a:p>
            <a:r>
              <a:rPr lang="tr-TR" dirty="0">
                <a:latin typeface="Century Gothic" pitchFamily="34" charset="0"/>
              </a:rPr>
              <a:t>duygulara </a:t>
            </a:r>
          </a:p>
          <a:p>
            <a:r>
              <a:rPr lang="tr-TR" dirty="0">
                <a:latin typeface="Century Gothic" pitchFamily="34" charset="0"/>
              </a:rPr>
              <a:t>davranış modellerine odaklanarak yapılır.</a:t>
            </a:r>
          </a:p>
          <a:p>
            <a:pPr>
              <a:buFont typeface="Wingdings" pitchFamily="2" charset="2"/>
              <a:buNone/>
            </a:pPr>
            <a:endParaRPr lang="tr-TR" b="1" dirty="0">
              <a:latin typeface="Century Gothic" pitchFamily="34" charset="0"/>
            </a:endParaRPr>
          </a:p>
          <a:p>
            <a:pPr>
              <a:buFont typeface="Wingdings" pitchFamily="2" charset="2"/>
              <a:buNone/>
            </a:pPr>
            <a:r>
              <a:rPr lang="tr-TR" b="1" dirty="0">
                <a:latin typeface="Century Gothic" pitchFamily="34" charset="0"/>
              </a:rPr>
              <a:t>	*</a:t>
            </a:r>
            <a:r>
              <a:rPr lang="tr-TR" dirty="0">
                <a:latin typeface="Century Gothic" pitchFamily="34" charset="0"/>
              </a:rPr>
              <a:t>Bedendeki bazı özel noktalara vuruş yapılarak, bilinçaltı düzeyde değişim yaratmayı sağlayan bir tekniktir.</a:t>
            </a:r>
          </a:p>
          <a:p>
            <a:endParaRPr lang="tr-TR" dirty="0">
              <a:latin typeface="Century Gothic" pitchFamily="34" charset="0"/>
            </a:endParaRPr>
          </a:p>
        </p:txBody>
      </p:sp>
      <p:pic>
        <p:nvPicPr>
          <p:cNvPr id="5123" name="Picture 4" descr="ef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52800" y="152400"/>
            <a:ext cx="2743200" cy="1981200"/>
          </a:xfrm>
          <a:prstGeom prst="rect">
            <a:avLst/>
          </a:prstGeom>
          <a:noFill/>
          <a:ln w="69850">
            <a:solidFill>
              <a:schemeClr val="tx2"/>
            </a:solidFill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429000" y="685800"/>
            <a:ext cx="5486400" cy="952500"/>
          </a:xfrm>
        </p:spPr>
        <p:txBody>
          <a:bodyPr/>
          <a:lstStyle/>
          <a:p>
            <a:pPr eaLnBrk="1" hangingPunct="1"/>
            <a:r>
              <a:rPr lang="tr-TR">
                <a:solidFill>
                  <a:srgbClr val="85E0FF"/>
                </a:solidFill>
                <a:latin typeface="Century Gothic" pitchFamily="34" charset="0"/>
              </a:rPr>
              <a:t>Dayandığı Temel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2133600"/>
            <a:ext cx="9144000" cy="4572000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buClr>
                <a:srgbClr val="85E0FF"/>
              </a:buClr>
              <a:buSzPct val="100000"/>
              <a:buFont typeface="Wingdings" pitchFamily="2" charset="2"/>
              <a:buChar char="q"/>
            </a:pPr>
            <a:r>
              <a:rPr lang="tr-TR" dirty="0">
                <a:latin typeface="Century Gothic" pitchFamily="34" charset="0"/>
              </a:rPr>
              <a:t> Olumsuz duygu, düşünce, inançlar,      bakış açıları bedendeki enerjinin doğal akışını olumsuz etkiler ve bedendeki enerji akışı tıkanır.</a:t>
            </a:r>
          </a:p>
          <a:p>
            <a:pPr eaLnBrk="1" hangingPunct="1">
              <a:spcBef>
                <a:spcPts val="600"/>
              </a:spcBef>
              <a:spcAft>
                <a:spcPts val="600"/>
              </a:spcAft>
              <a:buClr>
                <a:srgbClr val="85E0FF"/>
              </a:buClr>
              <a:buSzPct val="100000"/>
              <a:buFont typeface="Wingdings" pitchFamily="2" charset="2"/>
              <a:buChar char="q"/>
            </a:pPr>
            <a:r>
              <a:rPr lang="tr-TR" dirty="0">
                <a:latin typeface="Century Gothic" pitchFamily="34" charset="0"/>
              </a:rPr>
              <a:t> Meridyenler üzerindeki bazı temel noktalara vuruş yaparken, olumsuz duyguyu titreştirirsek, o tıkanıklık açılır ve zihinden o olumsuzluk temizlenmeye başlar.</a:t>
            </a:r>
            <a:r>
              <a:rPr lang="tr-TR" dirty="0">
                <a:effectLst/>
              </a:rPr>
              <a:t> </a:t>
            </a:r>
            <a:endParaRPr lang="tr-TR" dirty="0">
              <a:latin typeface="Century Gothic" pitchFamily="34" charset="0"/>
            </a:endParaRPr>
          </a:p>
          <a:p>
            <a:pPr eaLnBrk="1" hangingPunct="1">
              <a:spcBef>
                <a:spcPts val="600"/>
              </a:spcBef>
              <a:spcAft>
                <a:spcPts val="600"/>
              </a:spcAft>
              <a:buClr>
                <a:srgbClr val="85E0FF"/>
              </a:buClr>
              <a:buSzPct val="100000"/>
              <a:buFont typeface="Wingdings" pitchFamily="2" charset="2"/>
              <a:buChar char="q"/>
            </a:pPr>
            <a:endParaRPr lang="tr-TR" sz="3000" b="1" dirty="0">
              <a:latin typeface="Century Gothic" pitchFamily="34" charset="0"/>
            </a:endParaRPr>
          </a:p>
          <a:p>
            <a:pPr eaLnBrk="1" hangingPunct="1"/>
            <a:endParaRPr lang="tr-TR" sz="3000" dirty="0">
              <a:latin typeface="Century Gothic" pitchFamily="34" charset="0"/>
            </a:endParaRPr>
          </a:p>
          <a:p>
            <a:pPr eaLnBrk="1" hangingPunct="1"/>
            <a:endParaRPr lang="tr-TR" sz="2800" dirty="0">
              <a:latin typeface="Century Gothic" pitchFamily="34" charset="0"/>
            </a:endParaRPr>
          </a:p>
        </p:txBody>
      </p:sp>
      <p:pic>
        <p:nvPicPr>
          <p:cNvPr id="6148" name="Picture 4" descr="EFTLogo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95400" y="381000"/>
            <a:ext cx="2057400" cy="1524000"/>
          </a:xfrm>
          <a:prstGeom prst="rect">
            <a:avLst/>
          </a:prstGeom>
          <a:noFill/>
          <a:ln w="60325">
            <a:solidFill>
              <a:schemeClr val="tx2"/>
            </a:solidFill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2362200"/>
            <a:ext cx="8458200" cy="4114800"/>
          </a:xfrm>
        </p:spPr>
        <p:txBody>
          <a:bodyPr/>
          <a:lstStyle/>
          <a:p>
            <a:pPr eaLnBrk="1" hangingPunct="1">
              <a:spcBef>
                <a:spcPts val="600"/>
              </a:spcBef>
              <a:spcAft>
                <a:spcPts val="600"/>
              </a:spcAft>
              <a:buClr>
                <a:srgbClr val="85E0FF"/>
              </a:buClr>
              <a:buFont typeface="Wingdings" pitchFamily="2" charset="2"/>
              <a:buChar char="q"/>
            </a:pPr>
            <a:r>
              <a:rPr lang="tr-TR" dirty="0">
                <a:latin typeface="Century Gothic" pitchFamily="34" charset="0"/>
              </a:rPr>
              <a:t>Bedende enerjinin akmasını sağlayan meridyenler vardır.</a:t>
            </a:r>
          </a:p>
          <a:p>
            <a:pPr eaLnBrk="1" hangingPunct="1">
              <a:spcBef>
                <a:spcPts val="600"/>
              </a:spcBef>
              <a:spcAft>
                <a:spcPts val="600"/>
              </a:spcAft>
              <a:buClr>
                <a:srgbClr val="85E0FF"/>
              </a:buClr>
              <a:buFont typeface="Wingdings" pitchFamily="2" charset="2"/>
              <a:buChar char="q"/>
            </a:pPr>
            <a:r>
              <a:rPr lang="tr-TR" dirty="0">
                <a:latin typeface="Century Gothic" pitchFamily="34" charset="0"/>
              </a:rPr>
              <a:t>Meridyenler birleşerek enerji sistemini oluşturur.</a:t>
            </a:r>
          </a:p>
          <a:p>
            <a:pPr eaLnBrk="1" hangingPunct="1">
              <a:spcBef>
                <a:spcPts val="600"/>
              </a:spcBef>
              <a:spcAft>
                <a:spcPts val="600"/>
              </a:spcAft>
              <a:buClr>
                <a:srgbClr val="85E0FF"/>
              </a:buClr>
              <a:buFont typeface="Wingdings" pitchFamily="2" charset="2"/>
              <a:buChar char="q"/>
            </a:pPr>
            <a:r>
              <a:rPr lang="tr-TR" dirty="0">
                <a:latin typeface="Century Gothic" pitchFamily="34" charset="0"/>
              </a:rPr>
              <a:t>Bir meridyenin başlangıcı diğerinin sonudur.</a:t>
            </a:r>
          </a:p>
          <a:p>
            <a:pPr eaLnBrk="1" hangingPunct="1">
              <a:spcBef>
                <a:spcPts val="600"/>
              </a:spcBef>
              <a:spcAft>
                <a:spcPts val="600"/>
              </a:spcAft>
              <a:buClr>
                <a:srgbClr val="85E0FF"/>
              </a:buClr>
              <a:buFont typeface="Wingdings" pitchFamily="2" charset="2"/>
              <a:buChar char="q"/>
            </a:pPr>
            <a:r>
              <a:rPr lang="tr-TR" dirty="0">
                <a:latin typeface="Century Gothic" pitchFamily="34" charset="0"/>
              </a:rPr>
              <a:t>Sistem boyunca enerji akışı gerçekleşir.</a:t>
            </a:r>
          </a:p>
          <a:p>
            <a:pPr eaLnBrk="1" hangingPunct="1"/>
            <a:endParaRPr lang="tr-TR" dirty="0">
              <a:latin typeface="Century Gothic" pitchFamily="34" charset="0"/>
            </a:endParaRPr>
          </a:p>
          <a:p>
            <a:pPr eaLnBrk="1" hangingPunct="1"/>
            <a:endParaRPr lang="tr-TR" dirty="0">
              <a:latin typeface="Century Gothic" pitchFamily="34" charset="0"/>
            </a:endParaRPr>
          </a:p>
          <a:p>
            <a:pPr eaLnBrk="1" hangingPunct="1"/>
            <a:endParaRPr lang="tr-TR" dirty="0">
              <a:latin typeface="Century Gothic" pitchFamily="34" charset="0"/>
            </a:endParaRPr>
          </a:p>
          <a:p>
            <a:pPr eaLnBrk="1" hangingPunct="1"/>
            <a:endParaRPr lang="tr-TR" dirty="0">
              <a:latin typeface="Century Gothic" pitchFamily="34" charset="0"/>
            </a:endParaRPr>
          </a:p>
        </p:txBody>
      </p:sp>
      <p:pic>
        <p:nvPicPr>
          <p:cNvPr id="7171" name="Picture 5" descr="EFTLogo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76400" y="304800"/>
            <a:ext cx="2057400" cy="1524000"/>
          </a:xfrm>
          <a:prstGeom prst="rect">
            <a:avLst/>
          </a:prstGeom>
          <a:noFill/>
          <a:ln w="57150">
            <a:solidFill>
              <a:schemeClr val="tx2"/>
            </a:solidFill>
            <a:miter lim="800000"/>
            <a:headEnd/>
            <a:tailEnd/>
          </a:ln>
        </p:spPr>
      </p:pic>
      <p:sp>
        <p:nvSpPr>
          <p:cNvPr id="12294" name="Rectangle 6"/>
          <p:cNvSpPr>
            <a:spLocks noGrp="1" noRot="1" noChangeArrowheads="1"/>
          </p:cNvSpPr>
          <p:nvPr>
            <p:ph type="title"/>
          </p:nvPr>
        </p:nvSpPr>
        <p:spPr>
          <a:xfrm>
            <a:off x="2667000" y="304800"/>
            <a:ext cx="6248400" cy="1447800"/>
          </a:xfrm>
        </p:spPr>
        <p:txBody>
          <a:bodyPr/>
          <a:lstStyle/>
          <a:p>
            <a:pPr eaLnBrk="1" hangingPunct="1">
              <a:defRPr/>
            </a:pPr>
            <a:r>
              <a:rPr lang="tr-TR" dirty="0">
                <a:solidFill>
                  <a:schemeClr val="accent1">
                    <a:lumMod val="40000"/>
                    <a:lumOff val="60000"/>
                  </a:schemeClr>
                </a:solidFill>
                <a:latin typeface="Century Gothic" pitchFamily="34" charset="0"/>
              </a:rPr>
              <a:t>Enerji Sistemi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5" descr="EFTLogo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2133600"/>
            <a:ext cx="4114800" cy="3962400"/>
          </a:xfrm>
          <a:prstGeom prst="rect">
            <a:avLst/>
          </a:prstGeom>
          <a:noFill/>
          <a:ln w="79375">
            <a:solidFill>
              <a:schemeClr val="accent1">
                <a:lumMod val="40000"/>
                <a:lumOff val="60000"/>
              </a:schemeClr>
            </a:solidFill>
            <a:miter lim="800000"/>
            <a:headEnd/>
            <a:tailEnd/>
          </a:ln>
        </p:spPr>
      </p:pic>
      <p:sp>
        <p:nvSpPr>
          <p:cNvPr id="40966" name="Rectangle 6"/>
          <p:cNvSpPr>
            <a:spLocks noGrp="1" noRot="1" noChangeArrowheads="1"/>
          </p:cNvSpPr>
          <p:nvPr>
            <p:ph type="title"/>
          </p:nvPr>
        </p:nvSpPr>
        <p:spPr>
          <a:xfrm>
            <a:off x="1981200" y="381000"/>
            <a:ext cx="5410200" cy="1143000"/>
          </a:xfrm>
        </p:spPr>
        <p:txBody>
          <a:bodyPr/>
          <a:lstStyle/>
          <a:p>
            <a:pPr eaLnBrk="1" hangingPunct="1"/>
            <a:r>
              <a:rPr lang="tr-TR" sz="6000">
                <a:solidFill>
                  <a:srgbClr val="85E0FF"/>
                </a:solidFill>
                <a:latin typeface="Century Gothic" pitchFamily="34" charset="0"/>
              </a:rPr>
              <a:t>Gary Craig</a:t>
            </a:r>
          </a:p>
        </p:txBody>
      </p:sp>
      <p:pic>
        <p:nvPicPr>
          <p:cNvPr id="8196" name="6 Resim" descr="Gary%20Craig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0" y="2133600"/>
            <a:ext cx="4114800" cy="3962400"/>
          </a:xfrm>
          <a:prstGeom prst="rect">
            <a:avLst/>
          </a:prstGeom>
          <a:noFill/>
          <a:ln w="79375">
            <a:solidFill>
              <a:schemeClr val="accent1">
                <a:lumMod val="40000"/>
                <a:lumOff val="60000"/>
              </a:schemeClr>
            </a:solidFill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2057400"/>
            <a:ext cx="8839200" cy="4525963"/>
          </a:xfrm>
        </p:spPr>
        <p:txBody>
          <a:bodyPr/>
          <a:lstStyle/>
          <a:p>
            <a:pPr eaLnBrk="1" hangingPunct="1">
              <a:buClr>
                <a:srgbClr val="85E0FF"/>
              </a:buClr>
            </a:pPr>
            <a:r>
              <a:rPr lang="tr-TR" sz="3100" dirty="0">
                <a:latin typeface="Century Gothic" pitchFamily="34" charset="0"/>
              </a:rPr>
              <a:t>EFT Noktaları meridyenler üzerinde bulunur.</a:t>
            </a:r>
          </a:p>
          <a:p>
            <a:pPr eaLnBrk="1" hangingPunct="1">
              <a:buClr>
                <a:srgbClr val="85E0FF"/>
              </a:buClr>
            </a:pPr>
            <a:r>
              <a:rPr lang="tr-TR" sz="3100" dirty="0">
                <a:latin typeface="Century Gothic" pitchFamily="34" charset="0"/>
              </a:rPr>
              <a:t>Noktalara vurarak meridyenlere enerji gönderilir.</a:t>
            </a:r>
          </a:p>
          <a:p>
            <a:pPr eaLnBrk="1" hangingPunct="1">
              <a:buClr>
                <a:srgbClr val="85E0FF"/>
              </a:buClr>
            </a:pPr>
            <a:r>
              <a:rPr lang="tr-TR" sz="3100" dirty="0">
                <a:latin typeface="Century Gothic" pitchFamily="34" charset="0"/>
              </a:rPr>
              <a:t>Standart bir vuruş serisi vardır.</a:t>
            </a:r>
          </a:p>
          <a:p>
            <a:pPr eaLnBrk="1" hangingPunct="1">
              <a:buClr>
                <a:srgbClr val="85E0FF"/>
              </a:buClr>
            </a:pPr>
            <a:r>
              <a:rPr lang="tr-TR" sz="3100" dirty="0">
                <a:latin typeface="Century Gothic" pitchFamily="34" charset="0"/>
              </a:rPr>
              <a:t>Her problem için aynı seri kullanılır.</a:t>
            </a:r>
          </a:p>
          <a:p>
            <a:pPr eaLnBrk="1" hangingPunct="1">
              <a:buClr>
                <a:srgbClr val="85E0FF"/>
              </a:buClr>
            </a:pPr>
            <a:r>
              <a:rPr lang="tr-TR" sz="3100" dirty="0">
                <a:latin typeface="Century Gothic" pitchFamily="34" charset="0"/>
              </a:rPr>
              <a:t>Problem bir bütün olarak ele alınır.</a:t>
            </a:r>
          </a:p>
          <a:p>
            <a:pPr eaLnBrk="1" hangingPunct="1">
              <a:buClr>
                <a:srgbClr val="85E0FF"/>
              </a:buClr>
            </a:pPr>
            <a:r>
              <a:rPr lang="tr-TR" sz="3100" dirty="0">
                <a:latin typeface="Century Gothic" pitchFamily="34" charset="0"/>
              </a:rPr>
              <a:t>Uygulamak için meridyen sistemi hakkında özel bir bilgi gerekmez.</a:t>
            </a:r>
          </a:p>
          <a:p>
            <a:pPr eaLnBrk="1" hangingPunct="1"/>
            <a:endParaRPr lang="tr-TR" sz="3100" dirty="0">
              <a:latin typeface="Century Gothic" pitchFamily="34" charset="0"/>
            </a:endParaRPr>
          </a:p>
          <a:p>
            <a:pPr eaLnBrk="1" hangingPunct="1"/>
            <a:endParaRPr lang="tr-TR" sz="3100" dirty="0">
              <a:latin typeface="Century Gothic" pitchFamily="34" charset="0"/>
            </a:endParaRPr>
          </a:p>
          <a:p>
            <a:pPr eaLnBrk="1" hangingPunct="1"/>
            <a:endParaRPr lang="tr-TR" sz="3100" dirty="0">
              <a:latin typeface="Century Gothic" pitchFamily="34" charset="0"/>
            </a:endParaRPr>
          </a:p>
        </p:txBody>
      </p:sp>
      <p:pic>
        <p:nvPicPr>
          <p:cNvPr id="9219" name="Picture 5" descr="EFTLogo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304800"/>
            <a:ext cx="2057400" cy="1524000"/>
          </a:xfrm>
          <a:prstGeom prst="rect">
            <a:avLst/>
          </a:prstGeom>
          <a:noFill/>
          <a:ln w="57150">
            <a:solidFill>
              <a:schemeClr val="tx2"/>
            </a:solidFill>
            <a:miter lim="800000"/>
            <a:headEnd/>
            <a:tailEnd/>
          </a:ln>
        </p:spPr>
      </p:pic>
      <p:sp>
        <p:nvSpPr>
          <p:cNvPr id="13318" name="Rectangle 6"/>
          <p:cNvSpPr>
            <a:spLocks noGrp="1" noRot="1" noChangeArrowheads="1"/>
          </p:cNvSpPr>
          <p:nvPr>
            <p:ph type="title"/>
          </p:nvPr>
        </p:nvSpPr>
        <p:spPr>
          <a:xfrm>
            <a:off x="1524000" y="381000"/>
            <a:ext cx="8229600" cy="1143000"/>
          </a:xfrm>
        </p:spPr>
        <p:txBody>
          <a:bodyPr/>
          <a:lstStyle/>
          <a:p>
            <a:pPr eaLnBrk="1" hangingPunct="1"/>
            <a:r>
              <a:rPr lang="tr-TR" sz="5000">
                <a:solidFill>
                  <a:srgbClr val="85E0FF"/>
                </a:solidFill>
                <a:latin typeface="Century Gothic" pitchFamily="34" charset="0"/>
              </a:rPr>
              <a:t>Uygulama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2895600" y="1447800"/>
            <a:ext cx="6477000" cy="1143000"/>
          </a:xfrm>
          <a:noFill/>
          <a:ln/>
        </p:spPr>
        <p:txBody>
          <a:bodyPr>
            <a:normAutofit fontScale="90000"/>
          </a:bodyPr>
          <a:lstStyle/>
          <a:p>
            <a:r>
              <a:rPr lang="tr-TR" sz="4800" dirty="0">
                <a:solidFill>
                  <a:srgbClr val="33CCFF"/>
                </a:solidFill>
                <a:latin typeface="Century Gothic" pitchFamily="34" charset="0"/>
              </a:rPr>
              <a:t>Uygulama </a:t>
            </a:r>
            <a:br>
              <a:rPr lang="tr-TR" sz="4800" dirty="0">
                <a:solidFill>
                  <a:srgbClr val="33CCFF"/>
                </a:solidFill>
                <a:latin typeface="Century Gothic" pitchFamily="34" charset="0"/>
              </a:rPr>
            </a:br>
            <a:r>
              <a:rPr lang="tr-TR" sz="4800" dirty="0">
                <a:solidFill>
                  <a:srgbClr val="33CCFF"/>
                </a:solidFill>
                <a:latin typeface="Century Gothic" pitchFamily="34" charset="0"/>
              </a:rPr>
              <a:t>2 aşamada gerçekleşir</a:t>
            </a:r>
            <a:br>
              <a:rPr lang="tr-TR" sz="4800" b="0" dirty="0">
                <a:solidFill>
                  <a:srgbClr val="33CCFF"/>
                </a:solidFill>
                <a:latin typeface="Century Gothic" pitchFamily="34" charset="0"/>
              </a:rPr>
            </a:br>
            <a:endParaRPr lang="tr-TR" sz="4800" b="0" dirty="0">
              <a:solidFill>
                <a:srgbClr val="33CCFF"/>
              </a:solidFill>
              <a:latin typeface="Century Gothic" pitchFamily="34" charset="0"/>
            </a:endParaRP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2971800"/>
            <a:ext cx="8229600" cy="3505200"/>
          </a:xfrm>
          <a:noFill/>
          <a:ln/>
        </p:spPr>
        <p:txBody>
          <a:bodyPr/>
          <a:lstStyle/>
          <a:p>
            <a:pPr marL="609600" indent="-609600">
              <a:lnSpc>
                <a:spcPct val="90000"/>
              </a:lnSpc>
              <a:buClr>
                <a:srgbClr val="7AD1EC"/>
              </a:buClr>
              <a:buSzTx/>
            </a:pPr>
            <a:endParaRPr lang="tr-TR" sz="2000" b="1" dirty="0">
              <a:solidFill>
                <a:srgbClr val="33CCFF"/>
              </a:solidFill>
              <a:latin typeface="Century Gothic" pitchFamily="34" charset="0"/>
            </a:endParaRPr>
          </a:p>
          <a:p>
            <a:pPr marL="609600" indent="-609600">
              <a:lnSpc>
                <a:spcPct val="90000"/>
              </a:lnSpc>
              <a:buClr>
                <a:srgbClr val="33CCFF"/>
              </a:buClr>
              <a:buSzPct val="120000"/>
              <a:buFont typeface="Wingdings" pitchFamily="2" charset="2"/>
              <a:buAutoNum type="arabicPeriod"/>
            </a:pPr>
            <a:r>
              <a:rPr lang="tr-TR" sz="3900" b="1" u="sng" dirty="0">
                <a:solidFill>
                  <a:srgbClr val="33CCFF"/>
                </a:solidFill>
                <a:latin typeface="Century Gothic" pitchFamily="34" charset="0"/>
              </a:rPr>
              <a:t>Aşama:</a:t>
            </a:r>
            <a:r>
              <a:rPr lang="tr-TR" sz="3900" b="1" dirty="0">
                <a:solidFill>
                  <a:srgbClr val="FF0000"/>
                </a:solidFill>
                <a:latin typeface="Century Gothic" pitchFamily="34" charset="0"/>
              </a:rPr>
              <a:t> Sorunu tespit etmek.</a:t>
            </a:r>
            <a:r>
              <a:rPr lang="tr-TR" sz="3900" b="1" dirty="0">
                <a:latin typeface="Century Gothic" pitchFamily="34" charset="0"/>
              </a:rPr>
              <a:t> Sorun nedir? Hangi Problem üzerinde çalışacağız?</a:t>
            </a:r>
          </a:p>
          <a:p>
            <a:pPr marL="609600" indent="-609600">
              <a:lnSpc>
                <a:spcPct val="90000"/>
              </a:lnSpc>
              <a:buClr>
                <a:srgbClr val="33CCFF"/>
              </a:buClr>
              <a:buSzPct val="120000"/>
              <a:buFont typeface="Wingdings" pitchFamily="2" charset="2"/>
              <a:buAutoNum type="arabicPeriod"/>
            </a:pPr>
            <a:r>
              <a:rPr lang="tr-TR" sz="3900" b="1" u="sng" dirty="0">
                <a:solidFill>
                  <a:srgbClr val="33CCFF"/>
                </a:solidFill>
                <a:latin typeface="Century Gothic" pitchFamily="34" charset="0"/>
              </a:rPr>
              <a:t>Aşama:</a:t>
            </a:r>
            <a:r>
              <a:rPr lang="tr-TR" sz="3900" b="1" dirty="0">
                <a:solidFill>
                  <a:srgbClr val="33CCFF"/>
                </a:solidFill>
                <a:latin typeface="Century Gothic" pitchFamily="34" charset="0"/>
              </a:rPr>
              <a:t> </a:t>
            </a:r>
            <a:r>
              <a:rPr lang="tr-TR" sz="3900" b="1" dirty="0">
                <a:solidFill>
                  <a:srgbClr val="FF0000"/>
                </a:solidFill>
                <a:latin typeface="Century Gothic" pitchFamily="34" charset="0"/>
              </a:rPr>
              <a:t>Duyguyu Boşaltmak: </a:t>
            </a:r>
            <a:r>
              <a:rPr lang="tr-TR" sz="3900" b="1" dirty="0">
                <a:latin typeface="Century Gothic" pitchFamily="34" charset="0"/>
              </a:rPr>
              <a:t>Noktalara vuruş yaparak</a:t>
            </a:r>
            <a:endParaRPr lang="tr-TR" sz="3900" b="1" dirty="0">
              <a:solidFill>
                <a:srgbClr val="FF0000"/>
              </a:solidFill>
              <a:latin typeface="Century Gothic" pitchFamily="34" charset="0"/>
            </a:endParaRPr>
          </a:p>
        </p:txBody>
      </p:sp>
      <p:pic>
        <p:nvPicPr>
          <p:cNvPr id="28677" name="Picture 5" descr="EFTLogo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685800"/>
            <a:ext cx="2895600" cy="2209800"/>
          </a:xfrm>
          <a:prstGeom prst="rect">
            <a:avLst/>
          </a:prstGeom>
          <a:noFill/>
          <a:ln w="82550">
            <a:solidFill>
              <a:srgbClr val="33CCFF"/>
            </a:solidFill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2438400" y="152400"/>
            <a:ext cx="6705600" cy="2011363"/>
          </a:xfrm>
          <a:noFill/>
          <a:ln/>
        </p:spPr>
        <p:txBody>
          <a:bodyPr/>
          <a:lstStyle/>
          <a:p>
            <a:r>
              <a:rPr lang="tr-TR" sz="5000">
                <a:solidFill>
                  <a:srgbClr val="85E0FF"/>
                </a:solidFill>
                <a:latin typeface="Century Gothic" pitchFamily="34" charset="0"/>
              </a:rPr>
              <a:t>1. AŞAMA</a:t>
            </a:r>
            <a:br>
              <a:rPr lang="tr-TR" sz="5000">
                <a:solidFill>
                  <a:srgbClr val="85E0FF"/>
                </a:solidFill>
                <a:latin typeface="Century Gothic" pitchFamily="34" charset="0"/>
              </a:rPr>
            </a:br>
            <a:r>
              <a:rPr lang="tr-TR" sz="4500">
                <a:solidFill>
                  <a:srgbClr val="85E0FF"/>
                </a:solidFill>
                <a:latin typeface="Century Gothic" pitchFamily="34" charset="0"/>
              </a:rPr>
              <a:t>Sorun Nedir?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667000"/>
            <a:ext cx="8229600" cy="3459163"/>
          </a:xfrm>
          <a:noFill/>
          <a:ln/>
        </p:spPr>
        <p:txBody>
          <a:bodyPr/>
          <a:lstStyle/>
          <a:p>
            <a:pPr marL="609600" indent="-609600" algn="ctr">
              <a:buFont typeface="Wingdings" pitchFamily="2" charset="2"/>
              <a:buNone/>
            </a:pPr>
            <a:r>
              <a:rPr lang="tr-TR" sz="3500" b="1" dirty="0">
                <a:solidFill>
                  <a:srgbClr val="66CCFF"/>
                </a:solidFill>
                <a:latin typeface="Century Gothic" pitchFamily="34" charset="0"/>
              </a:rPr>
              <a:t>	</a:t>
            </a:r>
            <a:r>
              <a:rPr lang="tr-TR" sz="3500" b="1" u="sng" dirty="0">
                <a:solidFill>
                  <a:srgbClr val="33CCFF"/>
                </a:solidFill>
                <a:latin typeface="Century Gothic" pitchFamily="34" charset="0"/>
              </a:rPr>
              <a:t>Sorunla ilgili setup işlemi yapmak ve setup cümlesi oluşturmak</a:t>
            </a:r>
          </a:p>
          <a:p>
            <a:pPr marL="609600" indent="-609600">
              <a:buFont typeface="Wingdings" pitchFamily="2" charset="2"/>
              <a:buNone/>
            </a:pPr>
            <a:r>
              <a:rPr lang="tr-TR" sz="3000" b="1" dirty="0">
                <a:latin typeface="Century Gothic" pitchFamily="34" charset="0"/>
              </a:rPr>
              <a:t> </a:t>
            </a:r>
          </a:p>
          <a:p>
            <a:pPr marL="990600" lvl="1" indent="-533400">
              <a:buClr>
                <a:srgbClr val="7AD1EC"/>
              </a:buClr>
              <a:buSzTx/>
              <a:buFont typeface="Wingdings" pitchFamily="2" charset="2"/>
              <a:buAutoNum type="arabicPeriod"/>
            </a:pPr>
            <a:r>
              <a:rPr lang="tr-TR" sz="3000" b="1" dirty="0">
                <a:latin typeface="Century Gothic" pitchFamily="34" charset="0"/>
              </a:rPr>
              <a:t>Olumsuz bölüm (problem)</a:t>
            </a:r>
          </a:p>
          <a:p>
            <a:pPr marL="990600" lvl="1" indent="-533400">
              <a:buClr>
                <a:srgbClr val="7AD1EC"/>
              </a:buClr>
              <a:buSzTx/>
              <a:buFont typeface="Wingdings" pitchFamily="2" charset="2"/>
              <a:buAutoNum type="arabicPeriod"/>
            </a:pPr>
            <a:r>
              <a:rPr lang="tr-TR" sz="3000" b="1" dirty="0">
                <a:latin typeface="Century Gothic" pitchFamily="34" charset="0"/>
              </a:rPr>
              <a:t>Olumlama bölümü</a:t>
            </a:r>
          </a:p>
          <a:p>
            <a:pPr marL="990600" lvl="1" indent="-533400">
              <a:buClr>
                <a:srgbClr val="7AD1EC"/>
              </a:buClr>
              <a:buSzTx/>
              <a:buFont typeface="Wingdings" pitchFamily="2" charset="2"/>
              <a:buAutoNum type="arabicPeriod"/>
            </a:pPr>
            <a:r>
              <a:rPr lang="tr-TR" sz="3000" b="1" dirty="0">
                <a:latin typeface="Century Gothic" pitchFamily="34" charset="0"/>
              </a:rPr>
              <a:t>Problemle ilgili yeni olumlu bakış açısı</a:t>
            </a:r>
          </a:p>
        </p:txBody>
      </p:sp>
      <p:pic>
        <p:nvPicPr>
          <p:cNvPr id="29700" name="Picture 5" descr="EFTLogo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381000"/>
            <a:ext cx="2209800" cy="1752600"/>
          </a:xfrm>
          <a:prstGeom prst="rect">
            <a:avLst/>
          </a:prstGeom>
          <a:noFill/>
          <a:ln w="57150">
            <a:solidFill>
              <a:schemeClr val="tx2"/>
            </a:solidFill>
            <a:miter lim="800000"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33800" y="1752600"/>
            <a:ext cx="5105400" cy="4876800"/>
          </a:xfrm>
          <a:noFill/>
          <a:ln/>
        </p:spPr>
        <p:txBody>
          <a:bodyPr/>
          <a:lstStyle/>
          <a:p>
            <a:pPr marL="609600" indent="-609600">
              <a:buClr>
                <a:srgbClr val="7AD1EC"/>
              </a:buClr>
              <a:buSzPct val="160000"/>
              <a:buFont typeface="Wingdings" pitchFamily="2" charset="2"/>
              <a:buChar char="Ø"/>
            </a:pPr>
            <a:endParaRPr lang="tr-TR" sz="2800" b="1" dirty="0">
              <a:latin typeface="Century Gothic" pitchFamily="34" charset="0"/>
            </a:endParaRPr>
          </a:p>
          <a:p>
            <a:pPr marL="609600" indent="-609600">
              <a:buClr>
                <a:srgbClr val="7AD1EC"/>
              </a:buClr>
              <a:buSzPct val="160000"/>
              <a:buFont typeface="Wingdings" pitchFamily="2" charset="2"/>
              <a:buChar char="Ø"/>
            </a:pPr>
            <a:r>
              <a:rPr lang="tr-TR" sz="2800" b="1" dirty="0">
                <a:latin typeface="Century Gothic" pitchFamily="34" charset="0"/>
              </a:rPr>
              <a:t>Negatif düşünce ve duyguya odaklanıp, ifade ettiğimizde, duygu bedende titreşir </a:t>
            </a:r>
          </a:p>
          <a:p>
            <a:pPr marL="609600" indent="-609600">
              <a:buClr>
                <a:srgbClr val="7AD1EC"/>
              </a:buClr>
              <a:buSzPct val="160000"/>
              <a:buFont typeface="Wingdings" pitchFamily="2" charset="2"/>
              <a:buChar char="Ø"/>
            </a:pPr>
            <a:endParaRPr lang="tr-TR" sz="2800" b="1" dirty="0">
              <a:latin typeface="Century Gothic" pitchFamily="34" charset="0"/>
            </a:endParaRPr>
          </a:p>
          <a:p>
            <a:pPr marL="609600" indent="-609600">
              <a:buClr>
                <a:srgbClr val="7AD1EC"/>
              </a:buClr>
              <a:buSzPct val="160000"/>
              <a:buFont typeface="Wingdings" pitchFamily="2" charset="2"/>
              <a:buChar char="Ø"/>
            </a:pPr>
            <a:r>
              <a:rPr lang="tr-TR" sz="2800" b="1" dirty="0">
                <a:latin typeface="Century Gothic" pitchFamily="34" charset="0"/>
              </a:rPr>
              <a:t>Noktalara vuruşlar yapıldığında, negatif enerji bedenden boşalır.</a:t>
            </a:r>
          </a:p>
          <a:p>
            <a:pPr marL="609600" indent="-609600"/>
            <a:endParaRPr lang="tr-TR" sz="2800" b="1" dirty="0">
              <a:latin typeface="Century Gothic" pitchFamily="34" charset="0"/>
            </a:endParaRPr>
          </a:p>
        </p:txBody>
      </p:sp>
      <p:pic>
        <p:nvPicPr>
          <p:cNvPr id="30726" name="Picture 6" descr="pastel-eft-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828800"/>
            <a:ext cx="3733800" cy="5029200"/>
          </a:xfrm>
          <a:prstGeom prst="rect">
            <a:avLst/>
          </a:prstGeom>
          <a:noFill/>
          <a:ln w="66675">
            <a:solidFill>
              <a:srgbClr val="7AD1EC"/>
            </a:solidFill>
            <a:miter lim="800000"/>
            <a:headEnd/>
            <a:tailEnd/>
          </a:ln>
        </p:spPr>
      </p:pic>
      <p:sp>
        <p:nvSpPr>
          <p:cNvPr id="3072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219200" y="304800"/>
            <a:ext cx="7162800" cy="1143000"/>
          </a:xfrm>
          <a:noFill/>
          <a:ln/>
        </p:spPr>
        <p:txBody>
          <a:bodyPr>
            <a:normAutofit fontScale="90000"/>
          </a:bodyPr>
          <a:lstStyle/>
          <a:p>
            <a:r>
              <a:rPr lang="tr-TR" sz="5000">
                <a:solidFill>
                  <a:srgbClr val="33CCFF"/>
                </a:solidFill>
                <a:latin typeface="Century Gothic" pitchFamily="34" charset="0"/>
              </a:rPr>
              <a:t>2. AŞAMA</a:t>
            </a:r>
            <a:br>
              <a:rPr lang="tr-TR" sz="5000">
                <a:solidFill>
                  <a:srgbClr val="33CCFF"/>
                </a:solidFill>
                <a:latin typeface="Century Gothic" pitchFamily="34" charset="0"/>
              </a:rPr>
            </a:br>
            <a:r>
              <a:rPr lang="tr-TR" sz="5000">
                <a:solidFill>
                  <a:srgbClr val="33CCFF"/>
                </a:solidFill>
                <a:latin typeface="Century Gothic" pitchFamily="34" charset="0"/>
              </a:rPr>
              <a:t>Duyguyu Boşaltmak</a:t>
            </a:r>
          </a:p>
        </p:txBody>
      </p:sp>
      <p:sp>
        <p:nvSpPr>
          <p:cNvPr id="30727" name="Line 7"/>
          <p:cNvSpPr>
            <a:spLocks noChangeShapeType="1"/>
          </p:cNvSpPr>
          <p:nvPr/>
        </p:nvSpPr>
        <p:spPr bwMode="auto">
          <a:xfrm>
            <a:off x="3733800" y="1828800"/>
            <a:ext cx="5410200" cy="0"/>
          </a:xfrm>
          <a:prstGeom prst="line">
            <a:avLst/>
          </a:prstGeom>
          <a:noFill/>
          <a:ln w="69850">
            <a:solidFill>
              <a:srgbClr val="7AD1EC"/>
            </a:solidFill>
            <a:round/>
            <a:headEnd/>
            <a:tailEnd/>
          </a:ln>
          <a:effectLst/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Rot="1" noChangeArrowheads="1"/>
          </p:cNvSpPr>
          <p:nvPr>
            <p:ph type="title" idx="4294967295"/>
          </p:nvPr>
        </p:nvSpPr>
        <p:spPr>
          <a:xfrm>
            <a:off x="3429000" y="609600"/>
            <a:ext cx="5715000" cy="1143000"/>
          </a:xfrm>
        </p:spPr>
        <p:txBody>
          <a:bodyPr/>
          <a:lstStyle/>
          <a:p>
            <a:pPr eaLnBrk="1" hangingPunct="1"/>
            <a:r>
              <a:rPr lang="tr-TR">
                <a:solidFill>
                  <a:srgbClr val="7AD1EC"/>
                </a:solidFill>
                <a:latin typeface="Century Gothic" pitchFamily="34" charset="0"/>
              </a:rPr>
              <a:t>Setup İşlemi Nedir?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2667000"/>
            <a:ext cx="8229600" cy="4191000"/>
          </a:xfrm>
        </p:spPr>
        <p:txBody>
          <a:bodyPr/>
          <a:lstStyle/>
          <a:p>
            <a:pPr>
              <a:buClr>
                <a:srgbClr val="7AD1EC"/>
              </a:buClr>
              <a:buSzPct val="120000"/>
            </a:pPr>
            <a:r>
              <a:rPr lang="tr-TR" dirty="0">
                <a:latin typeface="Century Gothic" pitchFamily="34" charset="0"/>
              </a:rPr>
              <a:t>Bedenden olumsuz enerjiyi boşaltmak için; bedenin enerji dengesinin düzene girmesi gerekir.</a:t>
            </a:r>
          </a:p>
          <a:p>
            <a:pPr>
              <a:buClr>
                <a:srgbClr val="7AD1EC"/>
              </a:buClr>
              <a:buSzPct val="120000"/>
            </a:pPr>
            <a:r>
              <a:rPr lang="tr-TR" dirty="0">
                <a:latin typeface="Century Gothic" pitchFamily="34" charset="0"/>
              </a:rPr>
              <a:t>Enerji ne kadar düzgün akarsa, olumsuz enerji o kadar kolay boşalır. </a:t>
            </a:r>
          </a:p>
          <a:p>
            <a:pPr>
              <a:buClr>
                <a:srgbClr val="7AD1EC"/>
              </a:buClr>
              <a:buSzPct val="120000"/>
            </a:pPr>
            <a:r>
              <a:rPr lang="tr-TR" b="1" dirty="0">
                <a:latin typeface="Century Gothic" pitchFamily="34" charset="0"/>
              </a:rPr>
              <a:t>Bedenin, enerji kutuplarını düzeltme işlemi setup işlemidir.</a:t>
            </a:r>
            <a:endParaRPr lang="tr-TR" dirty="0"/>
          </a:p>
        </p:txBody>
      </p:sp>
      <p:pic>
        <p:nvPicPr>
          <p:cNvPr id="31748" name="Picture 4" descr="EFTLogo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381000"/>
            <a:ext cx="2514600" cy="1905000"/>
          </a:xfrm>
          <a:prstGeom prst="rect">
            <a:avLst/>
          </a:prstGeom>
          <a:noFill/>
          <a:ln w="57150">
            <a:solidFill>
              <a:schemeClr val="tx2"/>
            </a:solidFill>
            <a:miter lim="800000"/>
            <a:headEnd/>
            <a:tailEnd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tr-TR">
                <a:solidFill>
                  <a:srgbClr val="7AD1EC"/>
                </a:solidFill>
                <a:latin typeface="Century Gothic" pitchFamily="34" charset="0"/>
              </a:rPr>
              <a:t>Setup Olumlu Cümle Kalıbı</a:t>
            </a:r>
          </a:p>
        </p:txBody>
      </p:sp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/>
        <p:txBody>
          <a:bodyPr/>
          <a:lstStyle/>
          <a:p>
            <a:r>
              <a:rPr lang="tr-TR" b="1" dirty="0">
                <a:latin typeface="Century Gothic" pitchFamily="34" charset="0"/>
              </a:rPr>
              <a:t>Her ne kadar………………………….. Olmasına rağmen, kendimi olduğum gibi her şeyimle kabul ediyorum, onaylıyorum, seviyorum. </a:t>
            </a:r>
          </a:p>
          <a:p>
            <a:r>
              <a:rPr lang="tr-TR" b="1" dirty="0">
                <a:latin typeface="Century Gothic" pitchFamily="34" charset="0"/>
              </a:rPr>
              <a:t>…………………………..Derinden kabul ediyorum seviyorum onaylıyorum.</a:t>
            </a:r>
          </a:p>
          <a:p>
            <a:r>
              <a:rPr lang="tr-TR" b="1" dirty="0">
                <a:latin typeface="Century Gothic" pitchFamily="34" charset="0"/>
              </a:rPr>
              <a:t>……………………..Olduğum gibi kabul ediyorum seviyorum ve onaylıyorum. </a:t>
            </a:r>
          </a:p>
          <a:p>
            <a:endParaRPr lang="tr-TR" b="1" dirty="0">
              <a:latin typeface="Century Gothic" pitchFamily="3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6" name="Rectangle 6"/>
          <p:cNvSpPr>
            <a:spLocks noChangeArrowheads="1"/>
          </p:cNvSpPr>
          <p:nvPr/>
        </p:nvSpPr>
        <p:spPr bwMode="auto">
          <a:xfrm>
            <a:off x="4937125" y="547688"/>
            <a:ext cx="3898900" cy="176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tr-TR" sz="5500" b="1">
                <a:solidFill>
                  <a:srgbClr val="85E0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Duyguyu</a:t>
            </a:r>
            <a:br>
              <a:rPr lang="tr-TR" sz="5500" b="1">
                <a:solidFill>
                  <a:srgbClr val="85E0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tr-TR" sz="5500" b="1">
                <a:solidFill>
                  <a:srgbClr val="85E0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Boşaltmak</a:t>
            </a:r>
          </a:p>
        </p:txBody>
      </p:sp>
      <p:sp>
        <p:nvSpPr>
          <p:cNvPr id="3" name="2 İçerik Yer Tutucusu"/>
          <p:cNvSpPr>
            <a:spLocks/>
          </p:cNvSpPr>
          <p:nvPr/>
        </p:nvSpPr>
        <p:spPr bwMode="auto">
          <a:xfrm>
            <a:off x="4876800" y="3505200"/>
            <a:ext cx="4267200" cy="2590800"/>
          </a:xfrm>
          <a:prstGeom prst="rect">
            <a:avLst/>
          </a:prstGeom>
          <a:noFill/>
          <a:ln w="22225">
            <a:solidFill>
              <a:srgbClr val="33CCFF"/>
            </a:solidFill>
            <a:miter lim="800000"/>
            <a:headEnd/>
            <a:tailEnd/>
          </a:ln>
        </p:spPr>
        <p:txBody>
          <a:bodyPr/>
          <a:lstStyle/>
          <a:p>
            <a:pPr marL="342900" indent="-342900" algn="ctr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</a:pPr>
            <a:r>
              <a:rPr lang="tr-TR" sz="4000" b="1">
                <a:solidFill>
                  <a:srgbClr val="33CC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Vuruş Serileri: </a:t>
            </a:r>
          </a:p>
          <a:p>
            <a:pPr marL="342900" indent="-342900" algn="ctr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</a:pPr>
            <a:r>
              <a:rPr lang="tr-TR" sz="4000" b="1">
                <a:solidFill>
                  <a:srgbClr val="33CC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1. </a:t>
            </a:r>
            <a:r>
              <a:rPr lang="tr-TR" sz="4000" b="1">
                <a:effectLst>
                  <a:outerShdw blurRad="38100" dist="38100" dir="2700000" algn="tl">
                    <a:srgbClr val="000000"/>
                  </a:outerShdw>
                </a:effectLst>
              </a:rPr>
              <a:t>Kısa tur </a:t>
            </a:r>
          </a:p>
          <a:p>
            <a:pPr marL="342900" indent="-342900" algn="ctr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</a:pPr>
            <a:r>
              <a:rPr lang="tr-TR" sz="4000" b="1">
                <a:solidFill>
                  <a:srgbClr val="33CC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2.</a:t>
            </a:r>
            <a:r>
              <a:rPr lang="tr-TR" sz="4000" b="1">
                <a:effectLst>
                  <a:outerShdw blurRad="38100" dist="38100" dir="2700000" algn="tl">
                    <a:srgbClr val="000000"/>
                  </a:outerShdw>
                </a:effectLst>
              </a:rPr>
              <a:t> Uzun tur </a:t>
            </a:r>
          </a:p>
          <a:p>
            <a:pPr marL="742950" lvl="1" indent="-285750" algn="ctr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None/>
            </a:pPr>
            <a:r>
              <a:rPr lang="tr-TR" sz="4000" b="1">
                <a:effectLst>
                  <a:outerShdw blurRad="38100" dist="38100" dir="2700000" algn="tl">
                    <a:srgbClr val="000000"/>
                  </a:outerShdw>
                </a:effectLst>
              </a:rPr>
              <a:t>		</a:t>
            </a:r>
          </a:p>
        </p:txBody>
      </p:sp>
      <p:pic>
        <p:nvPicPr>
          <p:cNvPr id="10248" name="Picture 8" descr="pastel-eft-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4800600" cy="6858000"/>
          </a:xfrm>
          <a:prstGeom prst="rect">
            <a:avLst/>
          </a:prstGeom>
          <a:noFill/>
          <a:ln w="66675">
            <a:solidFill>
              <a:srgbClr val="7AD1EC"/>
            </a:solidFill>
            <a:miter lim="800000"/>
            <a:headEnd/>
            <a:tailEnd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0" y="381000"/>
            <a:ext cx="9144000" cy="1143000"/>
          </a:xfrm>
          <a:noFill/>
          <a:ln/>
        </p:spPr>
        <p:txBody>
          <a:bodyPr>
            <a:normAutofit fontScale="90000"/>
          </a:bodyPr>
          <a:lstStyle/>
          <a:p>
            <a:r>
              <a:rPr lang="tr-TR" sz="5000">
                <a:solidFill>
                  <a:srgbClr val="7AD1EC"/>
                </a:solidFill>
                <a:effectLst/>
                <a:latin typeface="Century Gothic" pitchFamily="34" charset="0"/>
              </a:rPr>
              <a:t>9 Gamut Yöntemi</a:t>
            </a:r>
            <a:br>
              <a:rPr lang="tr-TR" sz="5000">
                <a:solidFill>
                  <a:srgbClr val="7AD1EC"/>
                </a:solidFill>
                <a:effectLst/>
                <a:latin typeface="Century Gothic" pitchFamily="34" charset="0"/>
              </a:rPr>
            </a:br>
            <a:endParaRPr lang="tr-TR" sz="3000" u="sng">
              <a:solidFill>
                <a:srgbClr val="33CCFF"/>
              </a:solidFill>
              <a:effectLst/>
              <a:latin typeface="Century Gothic" pitchFamily="34" charset="0"/>
            </a:endParaRP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-228600" y="1676400"/>
            <a:ext cx="6629400" cy="3810000"/>
          </a:xfrm>
          <a:noFill/>
          <a:ln/>
        </p:spPr>
        <p:txBody>
          <a:bodyPr>
            <a:normAutofit fontScale="85000" lnSpcReduction="20000"/>
          </a:bodyPr>
          <a:lstStyle/>
          <a:p>
            <a:pPr marL="990600" lvl="1" indent="-533400"/>
            <a:r>
              <a:rPr lang="tr-TR" sz="3000" b="1">
                <a:effectLst/>
                <a:latin typeface="Century Gothic" pitchFamily="34" charset="0"/>
              </a:rPr>
              <a:t>Gözleri kapat</a:t>
            </a:r>
          </a:p>
          <a:p>
            <a:pPr marL="990600" lvl="1" indent="-533400"/>
            <a:r>
              <a:rPr lang="tr-TR" sz="3000" b="1">
                <a:effectLst/>
                <a:latin typeface="Century Gothic" pitchFamily="34" charset="0"/>
              </a:rPr>
              <a:t>Gözleri aç</a:t>
            </a:r>
          </a:p>
          <a:p>
            <a:pPr marL="990600" lvl="1" indent="-533400"/>
            <a:r>
              <a:rPr lang="tr-TR" sz="3000" b="1">
                <a:effectLst/>
                <a:latin typeface="Century Gothic" pitchFamily="34" charset="0"/>
              </a:rPr>
              <a:t>Sola aşağıya sert bak.</a:t>
            </a:r>
          </a:p>
          <a:p>
            <a:pPr marL="990600" lvl="1" indent="-533400"/>
            <a:r>
              <a:rPr lang="tr-TR" sz="3000" b="1">
                <a:effectLst/>
                <a:latin typeface="Century Gothic" pitchFamily="34" charset="0"/>
              </a:rPr>
              <a:t>Sağa aşağıya ser bak. </a:t>
            </a:r>
          </a:p>
          <a:p>
            <a:pPr marL="990600" lvl="1" indent="-533400"/>
            <a:r>
              <a:rPr lang="tr-TR" sz="3000" b="1">
                <a:effectLst/>
                <a:latin typeface="Century Gothic" pitchFamily="34" charset="0"/>
              </a:rPr>
              <a:t>Gözlerinle tam daire çiz</a:t>
            </a:r>
          </a:p>
          <a:p>
            <a:pPr marL="990600" lvl="1" indent="-533400"/>
            <a:r>
              <a:rPr lang="tr-TR" sz="3000" b="1">
                <a:effectLst/>
                <a:latin typeface="Century Gothic" pitchFamily="34" charset="0"/>
              </a:rPr>
              <a:t>Tersini yap</a:t>
            </a:r>
          </a:p>
          <a:p>
            <a:pPr marL="990600" lvl="1" indent="-533400"/>
            <a:r>
              <a:rPr lang="tr-TR" sz="3000" b="1">
                <a:effectLst/>
                <a:latin typeface="Century Gothic" pitchFamily="34" charset="0"/>
              </a:rPr>
              <a:t>Şarkı söyle</a:t>
            </a:r>
          </a:p>
          <a:p>
            <a:pPr marL="990600" lvl="1" indent="-533400"/>
            <a:r>
              <a:rPr lang="tr-TR" sz="3000" b="1">
                <a:effectLst/>
                <a:latin typeface="Century Gothic" pitchFamily="34" charset="0"/>
              </a:rPr>
              <a:t>Sayı say: 1-2-3-4-5-</a:t>
            </a:r>
          </a:p>
          <a:p>
            <a:pPr marL="990600" lvl="1" indent="-533400"/>
            <a:r>
              <a:rPr lang="tr-TR" sz="3000" b="1">
                <a:effectLst/>
                <a:latin typeface="Century Gothic" pitchFamily="34" charset="0"/>
              </a:rPr>
              <a:t>Şarkı söyle</a:t>
            </a:r>
          </a:p>
        </p:txBody>
      </p:sp>
      <p:pic>
        <p:nvPicPr>
          <p:cNvPr id="35846" name="Picture 6" descr="_wsb_194x147_eft-9gamut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86400" y="1447800"/>
            <a:ext cx="3657600" cy="5410200"/>
          </a:xfrm>
          <a:prstGeom prst="rect">
            <a:avLst/>
          </a:prstGeom>
          <a:noFill/>
          <a:ln w="63500">
            <a:solidFill>
              <a:srgbClr val="7AD1EC"/>
            </a:solidFill>
            <a:miter lim="800000"/>
            <a:headEnd/>
            <a:tailEnd/>
          </a:ln>
        </p:spPr>
      </p:pic>
      <p:sp>
        <p:nvSpPr>
          <p:cNvPr id="35847" name="Line 7"/>
          <p:cNvSpPr>
            <a:spLocks noChangeShapeType="1"/>
          </p:cNvSpPr>
          <p:nvPr/>
        </p:nvSpPr>
        <p:spPr bwMode="auto">
          <a:xfrm flipH="1">
            <a:off x="0" y="1447800"/>
            <a:ext cx="5715000" cy="0"/>
          </a:xfrm>
          <a:prstGeom prst="line">
            <a:avLst/>
          </a:prstGeom>
          <a:noFill/>
          <a:ln w="63500">
            <a:solidFill>
              <a:srgbClr val="7AD1EC"/>
            </a:solidFill>
            <a:round/>
            <a:headEnd/>
            <a:tailEnd/>
          </a:ln>
          <a:effectLst/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762000" y="762000"/>
            <a:ext cx="7382434" cy="1334536"/>
          </a:xfrm>
        </p:spPr>
        <p:txBody>
          <a:bodyPr>
            <a:normAutofit/>
          </a:bodyPr>
          <a:lstStyle/>
          <a:p>
            <a:pPr algn="ctr"/>
            <a:r>
              <a:rPr lang="tr-TR" sz="6600" dirty="0"/>
              <a:t>EFT</a:t>
            </a:r>
          </a:p>
        </p:txBody>
      </p:sp>
      <p:sp>
        <p:nvSpPr>
          <p:cNvPr id="46083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457200" y="2323652"/>
            <a:ext cx="8229600" cy="4153348"/>
          </a:xfrm>
        </p:spPr>
        <p:txBody>
          <a:bodyPr>
            <a:normAutofit/>
          </a:bodyPr>
          <a:lstStyle/>
          <a:p>
            <a:endParaRPr lang="tr-TR" dirty="0"/>
          </a:p>
          <a:p>
            <a:r>
              <a:rPr lang="tr-TR" sz="4400" dirty="0"/>
              <a:t>Bir enerji psikolojisi tekniğidir.</a:t>
            </a:r>
          </a:p>
          <a:p>
            <a:endParaRPr lang="tr-TR" sz="4400" dirty="0"/>
          </a:p>
          <a:p>
            <a:r>
              <a:rPr lang="tr-TR" sz="4400" dirty="0"/>
              <a:t>Yaklaşık 7000 yıllık bir geçmişi vardır.</a:t>
            </a:r>
          </a:p>
        </p:txBody>
      </p:sp>
    </p:spTree>
    <p:extLst>
      <p:ext uri="{BB962C8B-B14F-4D97-AF65-F5344CB8AC3E}">
        <p14:creationId xmlns:p14="http://schemas.microsoft.com/office/powerpoint/2010/main" val="10008466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0" y="228600"/>
            <a:ext cx="8763000" cy="6629400"/>
          </a:xfrm>
        </p:spPr>
        <p:txBody>
          <a:bodyPr>
            <a:normAutofit lnSpcReduction="10000"/>
          </a:bodyPr>
          <a:lstStyle/>
          <a:p>
            <a:r>
              <a:rPr lang="en-GB" sz="2400" dirty="0"/>
              <a:t>Tibet  MÖ 5000</a:t>
            </a:r>
            <a:r>
              <a:rPr lang="tr-TR" sz="2400" dirty="0"/>
              <a:t>  </a:t>
            </a:r>
            <a:r>
              <a:rPr lang="en-GB" sz="2400" dirty="0"/>
              <a:t>AKUPUNKTUR</a:t>
            </a:r>
            <a:endParaRPr lang="tr-TR" sz="2400" dirty="0"/>
          </a:p>
          <a:p>
            <a:r>
              <a:rPr lang="en-GB" sz="2400" dirty="0"/>
              <a:t>“Yellow Emperor’s Book”</a:t>
            </a:r>
            <a:r>
              <a:rPr lang="tr-TR" sz="2400" dirty="0"/>
              <a:t> </a:t>
            </a:r>
            <a:r>
              <a:rPr lang="en-GB" sz="2400" dirty="0"/>
              <a:t>ÇİN   MÖ 200 </a:t>
            </a:r>
            <a:endParaRPr lang="tr-TR" sz="2400" dirty="0"/>
          </a:p>
          <a:p>
            <a:pPr lvl="1">
              <a:buFont typeface="Wingdings" pitchFamily="2" charset="2"/>
              <a:buNone/>
            </a:pPr>
            <a:endParaRPr lang="tr-TR" sz="2400" dirty="0"/>
          </a:p>
          <a:p>
            <a:pPr lvl="1">
              <a:buFont typeface="Wingdings" pitchFamily="2" charset="2"/>
              <a:buNone/>
            </a:pPr>
            <a:r>
              <a:rPr lang="tr-TR" sz="2400" dirty="0"/>
              <a:t>ÇİN AKUPUNKTURU /                             JAPON AKUPUNKTURU</a:t>
            </a:r>
          </a:p>
          <a:p>
            <a:pPr lvl="1">
              <a:buFont typeface="Wingdings" pitchFamily="2" charset="2"/>
              <a:buNone/>
            </a:pPr>
            <a:r>
              <a:rPr lang="tr-TR" sz="2400" dirty="0"/>
              <a:t>BATI AKUPUNTURU	                          BATI AKUPRES 		                                                                    TEKNİKLERİ</a:t>
            </a:r>
          </a:p>
          <a:p>
            <a:pPr lvl="1">
              <a:buFont typeface="Wingdings" pitchFamily="2" charset="2"/>
              <a:buNone/>
            </a:pPr>
            <a:r>
              <a:rPr lang="en-GB" sz="2400" dirty="0"/>
              <a:t>Thought Field Therapy</a:t>
            </a:r>
            <a:r>
              <a:rPr lang="tr-TR" sz="2400" dirty="0"/>
              <a:t> 1</a:t>
            </a:r>
            <a:r>
              <a:rPr lang="en-GB" sz="2400" dirty="0"/>
              <a:t>979</a:t>
            </a:r>
            <a:r>
              <a:rPr lang="tr-TR" sz="2400" dirty="0"/>
              <a:t>                     </a:t>
            </a:r>
            <a:r>
              <a:rPr lang="en-GB" sz="2400" dirty="0"/>
              <a:t>Applied Kinesiology 1964</a:t>
            </a:r>
            <a:r>
              <a:rPr lang="tr-TR" sz="2400" dirty="0"/>
              <a:t> </a:t>
            </a:r>
          </a:p>
          <a:p>
            <a:pPr lvl="1">
              <a:buFont typeface="Wingdings" pitchFamily="2" charset="2"/>
              <a:buNone/>
            </a:pPr>
            <a:r>
              <a:rPr lang="tr-TR" sz="2400" dirty="0"/>
              <a:t>(</a:t>
            </a:r>
            <a:r>
              <a:rPr lang="en-GB" sz="2400" dirty="0"/>
              <a:t> Dr Roger Callahan </a:t>
            </a:r>
            <a:r>
              <a:rPr lang="tr-TR" sz="2400" dirty="0"/>
              <a:t>– </a:t>
            </a:r>
            <a:r>
              <a:rPr lang="en-GB" sz="2400" dirty="0"/>
              <a:t>Psychologist</a:t>
            </a:r>
            <a:r>
              <a:rPr lang="tr-TR" sz="2400" dirty="0"/>
              <a:t>)</a:t>
            </a:r>
            <a:r>
              <a:rPr lang="en-GB" sz="2400" dirty="0"/>
              <a:t> </a:t>
            </a:r>
            <a:r>
              <a:rPr lang="tr-TR" sz="2400" dirty="0"/>
              <a:t>      ( </a:t>
            </a:r>
            <a:r>
              <a:rPr lang="en-GB" sz="2400" dirty="0"/>
              <a:t>Dr George </a:t>
            </a:r>
            <a:r>
              <a:rPr lang="en-GB" sz="2400" dirty="0" err="1"/>
              <a:t>Goodheart</a:t>
            </a:r>
            <a:r>
              <a:rPr lang="tr-TR" sz="2400" dirty="0"/>
              <a:t>            		                                                    </a:t>
            </a:r>
            <a:r>
              <a:rPr lang="en-GB" sz="2400" dirty="0"/>
              <a:t>Chiropractor</a:t>
            </a:r>
            <a:r>
              <a:rPr lang="tr-TR" sz="2400" dirty="0"/>
              <a:t> ) 					                                                    	</a:t>
            </a:r>
          </a:p>
          <a:p>
            <a:pPr lvl="1">
              <a:buFont typeface="Wingdings" pitchFamily="2" charset="2"/>
              <a:buNone/>
            </a:pPr>
            <a:r>
              <a:rPr lang="en-GB" sz="2400" dirty="0"/>
              <a:t>Behavioural Kinesiology</a:t>
            </a:r>
            <a:r>
              <a:rPr lang="tr-TR" sz="2400" dirty="0"/>
              <a:t>1970</a:t>
            </a:r>
            <a:r>
              <a:rPr lang="en-GB" sz="2400" dirty="0"/>
              <a:t> </a:t>
            </a:r>
            <a:r>
              <a:rPr lang="tr-TR" sz="2400" dirty="0"/>
              <a:t>			                                       </a:t>
            </a:r>
            <a:r>
              <a:rPr lang="en-GB" sz="2400" dirty="0"/>
              <a:t>John Diamond</a:t>
            </a:r>
            <a:r>
              <a:rPr lang="tr-TR" sz="2400" dirty="0"/>
              <a:t> </a:t>
            </a:r>
            <a:r>
              <a:rPr lang="en-GB" sz="2400" dirty="0"/>
              <a:t> </a:t>
            </a:r>
            <a:r>
              <a:rPr lang="tr-TR" sz="2400" dirty="0"/>
              <a:t>			                                             </a:t>
            </a:r>
            <a:r>
              <a:rPr lang="en-GB" sz="2400" dirty="0"/>
              <a:t>[Psychiatrist]</a:t>
            </a:r>
            <a:endParaRPr lang="tr-TR" sz="2400" dirty="0"/>
          </a:p>
          <a:p>
            <a:pPr lvl="2">
              <a:buFont typeface="Wingdings" pitchFamily="2" charset="2"/>
              <a:buNone/>
            </a:pPr>
            <a:endParaRPr lang="tr-TR" dirty="0"/>
          </a:p>
          <a:p>
            <a:pPr lvl="1">
              <a:buFont typeface="Wingdings" pitchFamily="2" charset="2"/>
              <a:buNone/>
            </a:pPr>
            <a:r>
              <a:rPr lang="en-GB" sz="2400" b="1" dirty="0"/>
              <a:t>Emotional Freedom Techniques</a:t>
            </a:r>
            <a:r>
              <a:rPr lang="tr-TR" sz="2400" b="1" dirty="0"/>
              <a:t> </a:t>
            </a:r>
            <a:r>
              <a:rPr lang="en-GB" sz="2400" b="1" dirty="0"/>
              <a:t>1997 </a:t>
            </a:r>
            <a:endParaRPr lang="tr-TR" sz="2400" b="1" dirty="0"/>
          </a:p>
          <a:p>
            <a:pPr lvl="1">
              <a:buFont typeface="Wingdings" pitchFamily="2" charset="2"/>
              <a:buNone/>
            </a:pPr>
            <a:r>
              <a:rPr lang="en-GB" sz="2400" b="1" dirty="0"/>
              <a:t>Gary Craig [Engineer]</a:t>
            </a:r>
            <a:endParaRPr lang="tr-TR" sz="2400" b="1" dirty="0"/>
          </a:p>
        </p:txBody>
      </p:sp>
    </p:spTree>
    <p:extLst>
      <p:ext uri="{BB962C8B-B14F-4D97-AF65-F5344CB8AC3E}">
        <p14:creationId xmlns:p14="http://schemas.microsoft.com/office/powerpoint/2010/main" val="7438370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EFT’nin Arkasındaki Bilim</a:t>
            </a:r>
          </a:p>
          <a:p>
            <a:endParaRPr lang="tr-TR" dirty="0"/>
          </a:p>
          <a:p>
            <a:r>
              <a:rPr lang="tr-TR" dirty="0"/>
              <a:t>Bir mühendisin psikoloji bilimine bakışı -- Vücudun enerji sistemi</a:t>
            </a:r>
          </a:p>
          <a:p>
            <a:endParaRPr lang="tr-TR" dirty="0"/>
          </a:p>
          <a:p>
            <a:r>
              <a:rPr lang="tr-TR" dirty="0"/>
              <a:t>%100 onarım kavramı</a:t>
            </a:r>
          </a:p>
        </p:txBody>
      </p:sp>
    </p:spTree>
    <p:extLst>
      <p:ext uri="{BB962C8B-B14F-4D97-AF65-F5344CB8AC3E}">
        <p14:creationId xmlns:p14="http://schemas.microsoft.com/office/powerpoint/2010/main" val="20805602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88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tr-TR" u="sng" dirty="0"/>
              <a:t>BULUŞ İFADESİ</a:t>
            </a:r>
            <a:endParaRPr lang="tr-TR" dirty="0"/>
          </a:p>
          <a:p>
            <a:endParaRPr lang="tr-TR" dirty="0"/>
          </a:p>
          <a:p>
            <a:r>
              <a:rPr lang="tr-TR" sz="4400" dirty="0">
                <a:solidFill>
                  <a:srgbClr val="FF0000"/>
                </a:solidFill>
              </a:rPr>
              <a:t>“Bütün olumsuz duyguların nedeni, vücudun enerji sisteminin bozulmasıdır.”</a:t>
            </a:r>
          </a:p>
        </p:txBody>
      </p:sp>
    </p:spTree>
    <p:extLst>
      <p:ext uri="{BB962C8B-B14F-4D97-AF65-F5344CB8AC3E}">
        <p14:creationId xmlns:p14="http://schemas.microsoft.com/office/powerpoint/2010/main" val="26073241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sz="4000"/>
              <a:t>Vücutlarımız  büyük  bir  elektrik  özelliğine sahiptir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600200"/>
            <a:ext cx="8382000" cy="5105400"/>
          </a:xfrm>
        </p:spPr>
        <p:txBody>
          <a:bodyPr/>
          <a:lstStyle/>
          <a:p>
            <a:r>
              <a:rPr lang="tr-TR" dirty="0"/>
              <a:t> Anatomideki  başlangıç  dersleri  bunu kapsar.   Ayaklarınızı   bir   halıda   sürüyün   ve ardından    metalden yapılmış    bir    maddenin üzerine koyun.</a:t>
            </a:r>
          </a:p>
          <a:p>
            <a:r>
              <a:rPr lang="tr-TR" dirty="0"/>
              <a:t>Kimi zaman parmak uçlarınızdan statik elektriğin boşaldığını görebilirsiniz.</a:t>
            </a:r>
          </a:p>
          <a:p>
            <a:r>
              <a:rPr lang="tr-TR" dirty="0"/>
              <a:t>Vücudunuzda   elektrik   özelliği olmasaydı bu mümkün olamazdı.</a:t>
            </a:r>
          </a:p>
        </p:txBody>
      </p:sp>
    </p:spTree>
    <p:extLst>
      <p:ext uri="{BB962C8B-B14F-4D97-AF65-F5344CB8AC3E}">
        <p14:creationId xmlns:p14="http://schemas.microsoft.com/office/powerpoint/2010/main" val="31350639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72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Sıcak bir fırına dokunduğunuzda acı hemen  hissedilir,  çünkü  acı  sinirlerden beyne doğru elektriksel   olarak   iletilir.</a:t>
            </a:r>
          </a:p>
          <a:p>
            <a:r>
              <a:rPr lang="tr-TR" dirty="0"/>
              <a:t>Acı, elektrik hızında  yolculuk  eder </a:t>
            </a:r>
          </a:p>
          <a:p>
            <a:r>
              <a:rPr lang="tr-TR" dirty="0"/>
              <a:t>Yüksek teknolojiye sahip ekipmanlar olmadan  görmek imkansızdır. 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964103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Örnekleme   açısından;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/>
          <a:lstStyle/>
          <a:p>
            <a:pPr>
              <a:buFontTx/>
              <a:buNone/>
            </a:pPr>
            <a:r>
              <a:rPr lang="tr-TR" sz="2800"/>
              <a:t>	</a:t>
            </a:r>
          </a:p>
          <a:p>
            <a:r>
              <a:rPr lang="tr-TR" sz="2800"/>
              <a:t>Bir   TV   setinde   akan enerjiyi  göremezsiniz.  Ancak,  yüksek  etkileri nedeniyle  orada  olduğunu  bilirsiniz.  </a:t>
            </a:r>
          </a:p>
          <a:p>
            <a:r>
              <a:rPr lang="tr-TR" sz="2800"/>
              <a:t>Sesler  ve görüntüler   enerji   akışının  var   olduğuna   dair kanıtlarınızdır.</a:t>
            </a:r>
          </a:p>
          <a:p>
            <a:r>
              <a:rPr lang="tr-TR" sz="2800"/>
              <a:t>Aynı   şekilde,   orada   olduğunu   bilmenizi sağlayan   etkiler   yaratmasından   dolayı   EFT size    vücudunuzdaki    enerji    akışı    hakkında çarpıcı bir kanıt sunar.	</a:t>
            </a:r>
          </a:p>
        </p:txBody>
      </p:sp>
    </p:spTree>
    <p:extLst>
      <p:ext uri="{BB962C8B-B14F-4D97-AF65-F5344CB8AC3E}">
        <p14:creationId xmlns:p14="http://schemas.microsoft.com/office/powerpoint/2010/main" val="267960219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83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tr-TR"/>
              <a:t>Enerji meridyenlerinizin uç noktalarına basit bir şekilde vurarak duygusal ve fiziksel sağlığınızda büyük değişiklikler yaşayabilirsiniz.  </a:t>
            </a:r>
          </a:p>
          <a:p>
            <a:r>
              <a:rPr lang="tr-TR"/>
              <a:t>( Bir  enerji  sistemi  olmasaydı bu değişiklikler meydana gelmezdi. )</a:t>
            </a:r>
          </a:p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6502570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600200"/>
            <a:ext cx="8305800" cy="5029200"/>
          </a:xfrm>
        </p:spPr>
        <p:txBody>
          <a:bodyPr/>
          <a:lstStyle/>
          <a:p>
            <a:r>
              <a:rPr lang="tr-TR"/>
              <a:t>Vücuda  ne  olduğu hakkında bilgilendirmek için elektrikli mesajlar   sürekli olarak gönderilir.   </a:t>
            </a:r>
          </a:p>
          <a:p>
            <a:r>
              <a:rPr lang="tr-TR"/>
              <a:t>Bu   enerji akışı   olmadan   göremez,   duyamaz, hissedemez, tat alamaz veya koklayamazsınız.</a:t>
            </a:r>
          </a:p>
        </p:txBody>
      </p:sp>
    </p:spTree>
    <p:extLst>
      <p:ext uri="{BB962C8B-B14F-4D97-AF65-F5344CB8AC3E}">
        <p14:creationId xmlns:p14="http://schemas.microsoft.com/office/powerpoint/2010/main" val="380991139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r-TR"/>
              <a:t>Beyindeki mikrotubul sistemi</a:t>
            </a:r>
          </a:p>
        </p:txBody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r-TR"/>
              <a:t>Tüm beyin 2 ayda bir yenilenir. </a:t>
            </a:r>
          </a:p>
        </p:txBody>
      </p:sp>
      <p:pic>
        <p:nvPicPr>
          <p:cNvPr id="12292" name="Picture 4" descr="cb0329-fig-0002-1-full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79613" y="2565400"/>
            <a:ext cx="5335587" cy="3529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endParaRPr lang="tr-TR"/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tr-TR"/>
          </a:p>
        </p:txBody>
      </p:sp>
      <p:pic>
        <p:nvPicPr>
          <p:cNvPr id="13316" name="Picture 4" descr="ncb0802-e194-f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76375" y="1773238"/>
            <a:ext cx="5715000" cy="4559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endParaRPr lang="tr-TR"/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tr-TR" dirty="0"/>
          </a:p>
        </p:txBody>
      </p:sp>
      <p:pic>
        <p:nvPicPr>
          <p:cNvPr id="14340" name="Picture 4" descr="ctm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92275" y="1557338"/>
            <a:ext cx="5205413" cy="4471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r-TR"/>
              <a:t>Living matrix</a:t>
            </a:r>
          </a:p>
        </p:txBody>
      </p:sp>
      <p:sp>
        <p:nvSpPr>
          <p:cNvPr id="87043" name="Rectangle 3"/>
          <p:cNvSpPr>
            <a:spLocks noGrp="1" noChangeArrowheads="1"/>
          </p:cNvSpPr>
          <p:nvPr>
            <p:ph idx="1"/>
          </p:nvPr>
        </p:nvSpPr>
        <p:spPr>
          <a:xfrm>
            <a:off x="76200" y="1524000"/>
            <a:ext cx="8991600" cy="5257800"/>
          </a:xfrm>
        </p:spPr>
        <p:txBody>
          <a:bodyPr/>
          <a:lstStyle/>
          <a:p>
            <a:pPr eaLnBrk="1" hangingPunct="1">
              <a:defRPr/>
            </a:pPr>
            <a:r>
              <a:rPr lang="tr-TR" sz="3600" dirty="0">
                <a:solidFill>
                  <a:srgbClr val="FF0000"/>
                </a:solidFill>
              </a:rPr>
              <a:t>Bağ dokusu ve mikrotübüller,         enerji bütünlüğünü sağlar. </a:t>
            </a:r>
          </a:p>
          <a:p>
            <a:pPr eaLnBrk="1" hangingPunct="1">
              <a:defRPr/>
            </a:pPr>
            <a:r>
              <a:rPr lang="tr-TR" sz="3600" dirty="0">
                <a:solidFill>
                  <a:srgbClr val="FF0000"/>
                </a:solidFill>
              </a:rPr>
              <a:t>Tüm bedeni, genlere kadar sarar. </a:t>
            </a:r>
          </a:p>
          <a:p>
            <a:pPr eaLnBrk="1" hangingPunct="1">
              <a:defRPr/>
            </a:pPr>
            <a:r>
              <a:rPr lang="tr-TR" sz="3600" dirty="0">
                <a:solidFill>
                  <a:srgbClr val="FF0000"/>
                </a:solidFill>
              </a:rPr>
              <a:t>Tüm enerji formları bu matrixde değişir. </a:t>
            </a:r>
          </a:p>
          <a:p>
            <a:pPr eaLnBrk="1" hangingPunct="1">
              <a:defRPr/>
            </a:pPr>
            <a:r>
              <a:rPr lang="tr-TR" sz="3600" dirty="0">
                <a:solidFill>
                  <a:srgbClr val="FF0000"/>
                </a:solidFill>
              </a:rPr>
              <a:t>Düşünceler bedeni bu şekilde etkiler. </a:t>
            </a:r>
          </a:p>
          <a:p>
            <a:pPr eaLnBrk="1" hangingPunct="1">
              <a:defRPr/>
            </a:pPr>
            <a:r>
              <a:rPr lang="tr-TR" sz="3600" dirty="0">
                <a:solidFill>
                  <a:srgbClr val="FF0000"/>
                </a:solidFill>
              </a:rPr>
              <a:t>Genleri her an «on-off » yapar.</a:t>
            </a:r>
          </a:p>
          <a:p>
            <a:pPr eaLnBrk="1" hangingPunct="1">
              <a:defRPr/>
            </a:pPr>
            <a:r>
              <a:rPr lang="tr-TR" sz="3600" dirty="0">
                <a:solidFill>
                  <a:srgbClr val="FF0000"/>
                </a:solidFill>
              </a:rPr>
              <a:t>Stres ya da iyileşme sağlar.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endParaRPr lang="tr-TR"/>
          </a:p>
        </p:txBody>
      </p:sp>
      <p:sp>
        <p:nvSpPr>
          <p:cNvPr id="8192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eaLnBrk="1" hangingPunct="1">
              <a:defRPr/>
            </a:pPr>
            <a:r>
              <a:rPr lang="tr-TR" sz="4000" dirty="0">
                <a:solidFill>
                  <a:srgbClr val="FF0000"/>
                </a:solidFill>
              </a:rPr>
              <a:t>Hücre içi mikrotubul sistemi de piezo elektirik iletim sistemidir. </a:t>
            </a:r>
          </a:p>
          <a:p>
            <a:pPr eaLnBrk="1" hangingPunct="1">
              <a:defRPr/>
            </a:pPr>
            <a:r>
              <a:rPr lang="tr-TR" sz="4000" dirty="0">
                <a:solidFill>
                  <a:srgbClr val="FF0000"/>
                </a:solidFill>
              </a:rPr>
              <a:t>Enerji sistemiyle resonans yapma olasılığı vardır. </a:t>
            </a:r>
          </a:p>
          <a:p>
            <a:pPr eaLnBrk="1" hangingPunct="1">
              <a:defRPr/>
            </a:pPr>
            <a:r>
              <a:rPr lang="tr-TR" sz="4000" dirty="0">
                <a:solidFill>
                  <a:srgbClr val="FF0000"/>
                </a:solidFill>
              </a:rPr>
              <a:t>Bilincin hücrelere etkisinde aracı rol oynama olasılığı yüksektir. 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00355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600200"/>
            <a:ext cx="8839200" cy="4953000"/>
          </a:xfrm>
        </p:spPr>
        <p:txBody>
          <a:bodyPr>
            <a:noAutofit/>
          </a:bodyPr>
          <a:lstStyle/>
          <a:p>
            <a:r>
              <a:rPr lang="tr-TR" sz="3600" dirty="0">
                <a:solidFill>
                  <a:srgbClr val="FF0000"/>
                </a:solidFill>
              </a:rPr>
              <a:t>Vücutta elektrik (enerji) bulunduğuna ilişkin bir başka belirgin kanıt ise (EEG) elektroensefalogram ve (EKG) elektrokardiyograftır.</a:t>
            </a:r>
          </a:p>
          <a:p>
            <a:r>
              <a:rPr lang="tr-TR" sz="3600" dirty="0">
                <a:solidFill>
                  <a:srgbClr val="FF0000"/>
                </a:solidFill>
              </a:rPr>
              <a:t>EEG beynin elektrik aktivitesini    kaydeder ve </a:t>
            </a:r>
          </a:p>
          <a:p>
            <a:r>
              <a:rPr lang="tr-TR" sz="3600" dirty="0">
                <a:solidFill>
                  <a:srgbClr val="FF0000"/>
                </a:solidFill>
              </a:rPr>
              <a:t>EKG ise kalbin elektrik aktivitesini kaydeder.</a:t>
            </a:r>
          </a:p>
          <a:p>
            <a:endParaRPr lang="tr-TR" sz="3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085888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9331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600200"/>
            <a:ext cx="8458200" cy="5029200"/>
          </a:xfrm>
        </p:spPr>
        <p:txBody>
          <a:bodyPr>
            <a:normAutofit fontScale="92500" lnSpcReduction="10000"/>
          </a:bodyPr>
          <a:lstStyle/>
          <a:p>
            <a:r>
              <a:rPr lang="tr-TR" sz="4200" dirty="0">
                <a:solidFill>
                  <a:srgbClr val="FF0000"/>
                </a:solidFill>
              </a:rPr>
              <a:t>Bu cihazlar  yıllardır  tıp  biliminde  kullanılmaktadır</a:t>
            </a:r>
          </a:p>
          <a:p>
            <a:r>
              <a:rPr lang="tr-TR" sz="4200" dirty="0">
                <a:solidFill>
                  <a:srgbClr val="FF0000"/>
                </a:solidFill>
              </a:rPr>
              <a:t>Elektrik   sistemlerimiz   fiziksel   sağlığımız için  son  derece  önemlidir.  </a:t>
            </a:r>
          </a:p>
          <a:p>
            <a:r>
              <a:rPr lang="tr-TR" sz="4200" dirty="0">
                <a:solidFill>
                  <a:srgbClr val="FF0000"/>
                </a:solidFill>
              </a:rPr>
              <a:t>Bundan  daha  açık ne   olabilir?   </a:t>
            </a:r>
          </a:p>
          <a:p>
            <a:r>
              <a:rPr lang="tr-TR" sz="4200" dirty="0">
                <a:solidFill>
                  <a:srgbClr val="FF0000"/>
                </a:solidFill>
              </a:rPr>
              <a:t>Enerji   akışı   durduğunda   ölürüz. 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5624782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4819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0" y="1600200"/>
            <a:ext cx="9144000" cy="52578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tr-TR" sz="2600" dirty="0">
                <a:solidFill>
                  <a:srgbClr val="FF0000"/>
                </a:solidFill>
              </a:rPr>
              <a:t>Aslında,   medeniyet   bunu   binlerce   yıldır bilmekte. </a:t>
            </a:r>
          </a:p>
          <a:p>
            <a:pPr>
              <a:lnSpc>
                <a:spcPct val="90000"/>
              </a:lnSpc>
            </a:pPr>
            <a:endParaRPr lang="tr-TR" sz="2600" dirty="0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</a:pPr>
            <a:r>
              <a:rPr lang="tr-TR" sz="2600" dirty="0">
                <a:solidFill>
                  <a:srgbClr val="FF0000"/>
                </a:solidFill>
              </a:rPr>
              <a:t>Yaklaşık   5.000   yıl   önce,   Çinliler vücudun  içerisinde  çalışan  karmaşık  bir  enerji devreleri   sistemi   buldu.   </a:t>
            </a:r>
          </a:p>
          <a:p>
            <a:pPr>
              <a:lnSpc>
                <a:spcPct val="90000"/>
              </a:lnSpc>
            </a:pPr>
            <a:endParaRPr lang="tr-TR" sz="2600" dirty="0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</a:pPr>
            <a:r>
              <a:rPr lang="tr-TR" sz="2600" dirty="0">
                <a:solidFill>
                  <a:srgbClr val="FF0000"/>
                </a:solidFill>
              </a:rPr>
              <a:t>Bu   enerji  devreleri ( meridyenler, )  Doğu sağlık  uygulamalarının  merkezidir  ve  modern zamanların    akupunktur, akupres ve  diğer  iyileştirme  tekniklerinin  temelini oluştururlar.</a:t>
            </a:r>
          </a:p>
          <a:p>
            <a:pPr>
              <a:lnSpc>
                <a:spcPct val="90000"/>
              </a:lnSpc>
            </a:pPr>
            <a:endParaRPr lang="tr-TR" sz="2600" dirty="0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</a:pPr>
            <a:r>
              <a:rPr lang="tr-TR" sz="2600" dirty="0">
                <a:solidFill>
                  <a:srgbClr val="FF0000"/>
                </a:solidFill>
              </a:rPr>
              <a:t>Bu  enerji  vücut  içerisinde  akar  ve  gözle görülemez</a:t>
            </a:r>
          </a:p>
          <a:p>
            <a:pPr>
              <a:lnSpc>
                <a:spcPct val="90000"/>
              </a:lnSpc>
            </a:pPr>
            <a:endParaRPr lang="tr-TR" sz="2800" dirty="0"/>
          </a:p>
          <a:p>
            <a:pPr>
              <a:lnSpc>
                <a:spcPct val="90000"/>
              </a:lnSpc>
            </a:pPr>
            <a:endParaRPr lang="tr-TR" sz="2400" dirty="0"/>
          </a:p>
        </p:txBody>
      </p:sp>
    </p:spTree>
    <p:extLst>
      <p:ext uri="{BB962C8B-B14F-4D97-AF65-F5344CB8AC3E}">
        <p14:creationId xmlns:p14="http://schemas.microsoft.com/office/powerpoint/2010/main" val="129160865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7347" name="Rectangle 3"/>
          <p:cNvSpPr>
            <a:spLocks noGrp="1" noRot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Tüm ( - ) duyguların kaynağı bedenin enerji sitemindeki kesinti ve bozukluklardır.</a:t>
            </a:r>
          </a:p>
          <a:p>
            <a:r>
              <a:rPr lang="tr-TR" dirty="0"/>
              <a:t>TV yanındaki cep telefonu çalması gibi</a:t>
            </a:r>
          </a:p>
          <a:p>
            <a:r>
              <a:rPr lang="tr-TR" dirty="0"/>
              <a:t>Aynı şekilde,enerji sistemlerimizin dengesi   bozulduğunda,   içeride   bir   elektrikli “zzzzzt” etkisi  yaşarız  ve    olumsuz    duygu    uzaklaşır.    </a:t>
            </a:r>
          </a:p>
          <a:p>
            <a:r>
              <a:rPr lang="tr-TR" dirty="0"/>
              <a:t>Bu kadar  basit.  </a:t>
            </a:r>
          </a:p>
          <a:p>
            <a:endParaRPr lang="tr-TR" sz="2800" dirty="0"/>
          </a:p>
        </p:txBody>
      </p:sp>
    </p:spTree>
    <p:extLst>
      <p:ext uri="{BB962C8B-B14F-4D97-AF65-F5344CB8AC3E}">
        <p14:creationId xmlns:p14="http://schemas.microsoft.com/office/powerpoint/2010/main" val="72246577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990600" y="274638"/>
            <a:ext cx="7696200" cy="258762"/>
          </a:xfrm>
        </p:spPr>
        <p:txBody>
          <a:bodyPr>
            <a:normAutofit fontScale="90000"/>
          </a:bodyPr>
          <a:lstStyle/>
          <a:p>
            <a:endParaRPr lang="tr-TR" dirty="0"/>
          </a:p>
        </p:txBody>
      </p:sp>
      <p:sp>
        <p:nvSpPr>
          <p:cNvPr id="35843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0" y="838200"/>
            <a:ext cx="9144000" cy="6019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tr-TR" dirty="0"/>
              <a:t>Bu yöntemde, kişideki duygusal bozukluğun doğrudan nedeninin geçmiş travmatik anı olduğu  varsayılır.  </a:t>
            </a:r>
          </a:p>
          <a:p>
            <a:pPr>
              <a:lnSpc>
                <a:spcPct val="90000"/>
              </a:lnSpc>
            </a:pPr>
            <a:r>
              <a:rPr lang="tr-TR" dirty="0"/>
              <a:t>Ama  değildir.</a:t>
            </a:r>
          </a:p>
          <a:p>
            <a:pPr>
              <a:lnSpc>
                <a:spcPct val="90000"/>
              </a:lnSpc>
            </a:pPr>
            <a:r>
              <a:rPr lang="tr-TR" dirty="0"/>
              <a:t>Bir  ara  adım vardır;  anı  ve  duygusal  bozukluk  arasındaki kayıp  parça.  </a:t>
            </a:r>
          </a:p>
          <a:p>
            <a:pPr>
              <a:lnSpc>
                <a:spcPct val="90000"/>
              </a:lnSpc>
            </a:pPr>
            <a:r>
              <a:rPr lang="tr-TR" dirty="0"/>
              <a:t>Ve  bu  ara  adım  vücudun  enerji sisteminin bozulmasıdır.</a:t>
            </a:r>
          </a:p>
          <a:p>
            <a:pPr>
              <a:lnSpc>
                <a:spcPct val="90000"/>
              </a:lnSpc>
            </a:pPr>
            <a:r>
              <a:rPr lang="tr-TR" dirty="0"/>
              <a:t>Duygusal bozukluğun doğrudan nedeni olan bozulmadır,  “zzzzzt”tır.  </a:t>
            </a:r>
          </a:p>
          <a:p>
            <a:pPr>
              <a:lnSpc>
                <a:spcPct val="90000"/>
              </a:lnSpc>
            </a:pPr>
            <a:r>
              <a:rPr lang="tr-TR" dirty="0"/>
              <a:t>Bu,  aşağıda  grafiksel olarak resmedilmiştir.</a:t>
            </a:r>
          </a:p>
          <a:p>
            <a:pPr>
              <a:lnSpc>
                <a:spcPct val="90000"/>
              </a:lnSpc>
            </a:pPr>
            <a:endParaRPr lang="tr-TR" dirty="0"/>
          </a:p>
          <a:p>
            <a:pPr>
              <a:lnSpc>
                <a:spcPct val="90000"/>
              </a:lnSpc>
            </a:pPr>
            <a:endParaRPr lang="tr-TR" sz="2400" dirty="0"/>
          </a:p>
        </p:txBody>
      </p:sp>
    </p:spTree>
    <p:extLst>
      <p:ext uri="{BB962C8B-B14F-4D97-AF65-F5344CB8AC3E}">
        <p14:creationId xmlns:p14="http://schemas.microsoft.com/office/powerpoint/2010/main" val="275166559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22532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2801113"/>
            <a:ext cx="6591300" cy="2209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7655286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>
          <a:xfrm>
            <a:off x="0" y="1600200"/>
            <a:ext cx="9144000" cy="51816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endParaRPr lang="tr-TR" sz="3600" b="1" dirty="0"/>
          </a:p>
          <a:p>
            <a:pPr>
              <a:lnSpc>
                <a:spcPct val="90000"/>
              </a:lnSpc>
            </a:pPr>
            <a:r>
              <a:rPr lang="tr-TR" sz="3600" b="1" dirty="0"/>
              <a:t>Ara adım olan adım 2’nin meydana gelmemesi  durumunda adım 3’ün imkansız olduğuna dikkat ediniz. </a:t>
            </a:r>
          </a:p>
          <a:p>
            <a:pPr>
              <a:lnSpc>
                <a:spcPct val="90000"/>
              </a:lnSpc>
            </a:pPr>
            <a:endParaRPr lang="tr-TR" sz="3600" dirty="0"/>
          </a:p>
          <a:p>
            <a:pPr>
              <a:lnSpc>
                <a:spcPct val="90000"/>
              </a:lnSpc>
            </a:pPr>
            <a:r>
              <a:rPr lang="tr-TR" sz="3600" dirty="0"/>
              <a:t>Diğer bir ifadeyle, anı vücudun enerji sisteminde bir bozulmaya yol  açmıyorsa, olumsuz  duygu  meydana gelmez.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tr-TR" sz="3600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11743051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tr-TR" sz="3200" dirty="0"/>
              <a:t>Bu yüzden bazı insanlar anılarından rahatsız olurken bazıları ise rahatsız olmaz. </a:t>
            </a:r>
          </a:p>
          <a:p>
            <a:pPr>
              <a:lnSpc>
                <a:spcPct val="90000"/>
              </a:lnSpc>
            </a:pPr>
            <a:r>
              <a:rPr lang="tr-TR" sz="3200" dirty="0"/>
              <a:t>Aradaki fark, bazı insanların enerji sistemlerinin dengesinin bozulması için bir eğilime sahipken diğerlerinin böyle bir eğilimde olmamasıdır.</a:t>
            </a:r>
          </a:p>
          <a:p>
            <a:pPr>
              <a:lnSpc>
                <a:spcPct val="90000"/>
              </a:lnSpc>
            </a:pPr>
            <a:r>
              <a:rPr lang="tr-TR" sz="3200" dirty="0"/>
              <a:t>Bunu  aklımızda  tutarak,  “anıyı  tedavi  et”  yönteminin asıl noktayı nasıl kaçırdığını görmek kolaydır</a:t>
            </a:r>
          </a:p>
        </p:txBody>
      </p:sp>
    </p:spTree>
    <p:extLst>
      <p:ext uri="{BB962C8B-B14F-4D97-AF65-F5344CB8AC3E}">
        <p14:creationId xmlns:p14="http://schemas.microsoft.com/office/powerpoint/2010/main" val="99116515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	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tr-TR" dirty="0"/>
          </a:p>
          <a:p>
            <a:r>
              <a:rPr lang="tr-TR" sz="4000" dirty="0"/>
              <a:t>Anıyı tedavi et yöntemi; </a:t>
            </a:r>
          </a:p>
          <a:p>
            <a:endParaRPr lang="tr-TR" sz="4000" dirty="0"/>
          </a:p>
          <a:p>
            <a:r>
              <a:rPr lang="tr-TR" sz="4000" dirty="0"/>
              <a:t>Adım 1’i belirler ve adım 2’yi görmezlikten gelir.</a:t>
            </a:r>
          </a:p>
        </p:txBody>
      </p:sp>
    </p:spTree>
    <p:extLst>
      <p:ext uri="{BB962C8B-B14F-4D97-AF65-F5344CB8AC3E}">
        <p14:creationId xmlns:p14="http://schemas.microsoft.com/office/powerpoint/2010/main" val="23398093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 flipV="1">
            <a:off x="685800" y="609600"/>
            <a:ext cx="8001000" cy="94488"/>
          </a:xfrm>
        </p:spPr>
        <p:txBody>
          <a:bodyPr>
            <a:normAutofit fontScale="90000"/>
          </a:bodyPr>
          <a:lstStyle/>
          <a:p>
            <a:endParaRPr lang="tr-TR" dirty="0"/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>
          <a:xfrm>
            <a:off x="0" y="1295400"/>
            <a:ext cx="9144000" cy="5562600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tr-TR" sz="3200" dirty="0"/>
              <a:t>Enerji sistemi uygun vuruşla dengelenebilir  ve  olumsuz  duygunun  yerini  iç dinginlik   alır. </a:t>
            </a:r>
          </a:p>
          <a:p>
            <a:pPr>
              <a:lnSpc>
                <a:spcPct val="80000"/>
              </a:lnSpc>
            </a:pPr>
            <a:r>
              <a:rPr lang="tr-TR" sz="3200" dirty="0"/>
              <a:t>Doğru   neden   belirlendiği   için, sonuç  hızlı   rahatlama olur. </a:t>
            </a:r>
          </a:p>
          <a:p>
            <a:pPr>
              <a:lnSpc>
                <a:spcPct val="80000"/>
              </a:lnSpc>
            </a:pPr>
            <a:endParaRPr lang="tr-TR" sz="3200" dirty="0"/>
          </a:p>
          <a:p>
            <a:pPr>
              <a:lnSpc>
                <a:spcPct val="80000"/>
              </a:lnSpc>
            </a:pPr>
            <a:r>
              <a:rPr lang="tr-TR" sz="3200" dirty="0"/>
              <a:t>“BÜTÜN  olumsuz  duyguların  nedeninin vücudun enerji sisteminin bozulması” olduğunu  söyler. </a:t>
            </a:r>
          </a:p>
          <a:p>
            <a:pPr>
              <a:lnSpc>
                <a:spcPct val="80000"/>
              </a:lnSpc>
            </a:pPr>
            <a:r>
              <a:rPr lang="tr-TR" sz="3200" dirty="0"/>
              <a:t>Farklı  olarak  ifade  edildiğinde,  bütün  bu olumsuz  duyguların  aynı  nedene  sahip  olduğu anlamına gelir...</a:t>
            </a:r>
          </a:p>
          <a:p>
            <a:pPr>
              <a:lnSpc>
                <a:spcPct val="80000"/>
              </a:lnSpc>
            </a:pPr>
            <a:r>
              <a:rPr lang="tr-TR" sz="3200" dirty="0"/>
              <a:t>Vücuttaki bir elektrikli “zzzzzt”.	</a:t>
            </a:r>
          </a:p>
        </p:txBody>
      </p:sp>
    </p:spTree>
    <p:extLst>
      <p:ext uri="{BB962C8B-B14F-4D97-AF65-F5344CB8AC3E}">
        <p14:creationId xmlns:p14="http://schemas.microsoft.com/office/powerpoint/2010/main" val="90788208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>
          <a:xfrm>
            <a:off x="76200" y="1600200"/>
            <a:ext cx="9067800" cy="5181600"/>
          </a:xfrm>
        </p:spPr>
        <p:txBody>
          <a:bodyPr/>
          <a:lstStyle/>
          <a:p>
            <a:endParaRPr lang="tr-TR" dirty="0"/>
          </a:p>
          <a:p>
            <a:r>
              <a:rPr lang="tr-TR" sz="3600" dirty="0"/>
              <a:t>Bu yüzden,  keder, travma, suçluluk, korku ve  bir  basketbol oyuncusunun atışı kaçırması ile aynı temel nedene sahiptir.    </a:t>
            </a:r>
          </a:p>
          <a:p>
            <a:endParaRPr lang="tr-TR" sz="3600" dirty="0"/>
          </a:p>
          <a:p>
            <a:r>
              <a:rPr lang="tr-TR" sz="3600" dirty="0"/>
              <a:t>Bu nedenle, bütün bu   sorunlar için aynı   genel yöntem kullanılabilir.  </a:t>
            </a:r>
          </a:p>
        </p:txBody>
      </p:sp>
    </p:spTree>
    <p:extLst>
      <p:ext uri="{BB962C8B-B14F-4D97-AF65-F5344CB8AC3E}">
        <p14:creationId xmlns:p14="http://schemas.microsoft.com/office/powerpoint/2010/main" val="131575260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9155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1935480"/>
            <a:ext cx="8915400" cy="4389120"/>
          </a:xfrm>
        </p:spPr>
        <p:txBody>
          <a:bodyPr/>
          <a:lstStyle/>
          <a:p>
            <a:endParaRPr lang="tr-TR" dirty="0"/>
          </a:p>
          <a:p>
            <a:r>
              <a:rPr lang="tr-TR" sz="4000" dirty="0"/>
              <a:t>Önce probleme not ver</a:t>
            </a:r>
          </a:p>
          <a:p>
            <a:r>
              <a:rPr lang="tr-TR" sz="4000" dirty="0"/>
              <a:t>Bir problemin kabulü aslında iyilik kapısını açan anahtardır.</a:t>
            </a:r>
          </a:p>
          <a:p>
            <a:r>
              <a:rPr lang="tr-TR" sz="4000" dirty="0"/>
              <a:t>Hastalığı kabul etmek en önemlisidir.</a:t>
            </a:r>
          </a:p>
        </p:txBody>
      </p:sp>
    </p:spTree>
    <p:extLst>
      <p:ext uri="{BB962C8B-B14F-4D97-AF65-F5344CB8AC3E}">
        <p14:creationId xmlns:p14="http://schemas.microsoft.com/office/powerpoint/2010/main" val="406849950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017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sz="4000" dirty="0"/>
              <a:t>“ ...................problemine rağmen kendimi olduğum gibi kabul ediyor ve seviyorum ”</a:t>
            </a:r>
          </a:p>
          <a:p>
            <a:endParaRPr lang="tr-TR" sz="4000" dirty="0"/>
          </a:p>
          <a:p>
            <a:r>
              <a:rPr lang="tr-TR" sz="4000" dirty="0"/>
              <a:t>..............problemim var ve ben iyi bir insanım</a:t>
            </a:r>
          </a:p>
        </p:txBody>
      </p:sp>
    </p:spTree>
    <p:extLst>
      <p:ext uri="{BB962C8B-B14F-4D97-AF65-F5344CB8AC3E}">
        <p14:creationId xmlns:p14="http://schemas.microsoft.com/office/powerpoint/2010/main" val="291084193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ÖNEMLİ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600200"/>
            <a:ext cx="9144000" cy="5105400"/>
          </a:xfrm>
        </p:spPr>
        <p:txBody>
          <a:bodyPr/>
          <a:lstStyle/>
          <a:p>
            <a:endParaRPr lang="tr-TR" dirty="0"/>
          </a:p>
          <a:p>
            <a:r>
              <a:rPr lang="tr-TR" sz="4800" dirty="0">
                <a:solidFill>
                  <a:srgbClr val="FF0000"/>
                </a:solidFill>
              </a:rPr>
              <a:t>Algılamalar tekrar öğrenilebilir</a:t>
            </a:r>
          </a:p>
          <a:p>
            <a:endParaRPr lang="tr-TR" sz="4800" dirty="0">
              <a:solidFill>
                <a:srgbClr val="FF0000"/>
              </a:solidFill>
            </a:endParaRPr>
          </a:p>
          <a:p>
            <a:r>
              <a:rPr lang="tr-TR" sz="4800" dirty="0">
                <a:solidFill>
                  <a:srgbClr val="FF0000"/>
                </a:solidFill>
              </a:rPr>
              <a:t>YANLIŞ ALGILAMALAR DÜZELTİLEBİLİR</a:t>
            </a:r>
          </a:p>
        </p:txBody>
      </p:sp>
    </p:spTree>
    <p:extLst>
      <p:ext uri="{BB962C8B-B14F-4D97-AF65-F5344CB8AC3E}">
        <p14:creationId xmlns:p14="http://schemas.microsoft.com/office/powerpoint/2010/main" val="247001164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AFFETMEK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  <a:p>
            <a:r>
              <a:rPr lang="tr-TR"/>
              <a:t>Onu haklı görmek değil</a:t>
            </a:r>
          </a:p>
          <a:p>
            <a:endParaRPr lang="tr-TR"/>
          </a:p>
          <a:p>
            <a:r>
              <a:rPr lang="tr-TR"/>
              <a:t>Bu olayı geçmişte bırakıyorum</a:t>
            </a:r>
          </a:p>
          <a:p>
            <a:endParaRPr lang="tr-TR"/>
          </a:p>
          <a:p>
            <a:r>
              <a:rPr lang="tr-TR"/>
              <a:t>Kendimi özgür bırakıyorum</a:t>
            </a:r>
          </a:p>
        </p:txBody>
      </p:sp>
    </p:spTree>
    <p:extLst>
      <p:ext uri="{BB962C8B-B14F-4D97-AF65-F5344CB8AC3E}">
        <p14:creationId xmlns:p14="http://schemas.microsoft.com/office/powerpoint/2010/main" val="281586061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S.S.S.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tr-TR" sz="2800"/>
              <a:t>	- Hangi elimi kullandığım fark eder mi ? Hayır</a:t>
            </a:r>
            <a:br>
              <a:rPr lang="tr-TR" sz="2800"/>
            </a:br>
            <a:r>
              <a:rPr lang="tr-TR" sz="2800"/>
              <a:t>- Vuruş sırasında elimi ve vücudumun tarafını değiştirebilir miyim ?  Evet </a:t>
            </a:r>
          </a:p>
          <a:p>
            <a:pPr>
              <a:buFont typeface="Wingdings" pitchFamily="2" charset="2"/>
              <a:buNone/>
            </a:pPr>
            <a:r>
              <a:rPr lang="tr-TR" sz="2800"/>
              <a:t>	- Her iki elle vurabilir miyim ?  Evet</a:t>
            </a:r>
            <a:br>
              <a:rPr lang="tr-TR" sz="2800"/>
            </a:br>
            <a:r>
              <a:rPr lang="tr-TR" sz="2800"/>
              <a:t>- Her noktaya kaç vuruş olmalı ?  Genellikle 7 fakat daha fazla olabilir.</a:t>
            </a:r>
            <a:br>
              <a:rPr lang="tr-TR" sz="2800"/>
            </a:br>
            <a:r>
              <a:rPr lang="tr-TR" sz="2800"/>
              <a:t>- Kaç parmakla vurduğum önemli mi?  Genelde 2 parmakla vurulur ama baş üzeri ve koltuk altı 4 parmakla olur. </a:t>
            </a:r>
            <a:br>
              <a:rPr lang="tr-TR" sz="2800"/>
            </a:br>
            <a:endParaRPr lang="tr-TR" sz="2800"/>
          </a:p>
        </p:txBody>
      </p:sp>
    </p:spTree>
    <p:extLst>
      <p:ext uri="{BB962C8B-B14F-4D97-AF65-F5344CB8AC3E}">
        <p14:creationId xmlns:p14="http://schemas.microsoft.com/office/powerpoint/2010/main" val="67505376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83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tr-TR" sz="2800"/>
              <a:t>	- Hazırlık cümlesi şart mıdır ?  Her zaman değil ancak olması yararlıdır.</a:t>
            </a:r>
            <a:br>
              <a:rPr lang="tr-TR" sz="2800"/>
            </a:br>
            <a:r>
              <a:rPr lang="tr-TR" sz="2800"/>
              <a:t>- EFT duruma koyduğum sağlıklı tepkilerimi yok eder mi ? Hayır.</a:t>
            </a:r>
            <a:br>
              <a:rPr lang="tr-TR" sz="2800"/>
            </a:br>
            <a:r>
              <a:rPr lang="tr-TR" sz="2800"/>
              <a:t>- İyileşme ne kadar sürer ?  İyileşme kalıcıdır . Eğer o sorunla ilgili başka halledilmemiş konular kaldıysa onlar yeniden belirebilir ve onlar da EFT ile kolayca temizlenir .</a:t>
            </a:r>
            <a:br>
              <a:rPr lang="tr-TR" sz="2800"/>
            </a:br>
            <a:r>
              <a:rPr lang="tr-TR" sz="2800"/>
              <a:t>- Yararlı olması için inanmak zorunda mıyım?</a:t>
            </a:r>
          </a:p>
          <a:p>
            <a:pPr>
              <a:buFont typeface="Wingdings" pitchFamily="2" charset="2"/>
              <a:buNone/>
            </a:pPr>
            <a:r>
              <a:rPr lang="tr-TR" sz="2800"/>
              <a:t>	  Hiç değil .</a:t>
            </a:r>
          </a:p>
          <a:p>
            <a:endParaRPr lang="tr-TR" sz="2800"/>
          </a:p>
        </p:txBody>
      </p:sp>
    </p:spTree>
    <p:extLst>
      <p:ext uri="{BB962C8B-B14F-4D97-AF65-F5344CB8AC3E}">
        <p14:creationId xmlns:p14="http://schemas.microsoft.com/office/powerpoint/2010/main" val="94890547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4275" name="Rectangle 3"/>
          <p:cNvSpPr>
            <a:spLocks noGrp="1" noChangeArrowheads="1"/>
          </p:cNvSpPr>
          <p:nvPr>
            <p:ph idx="1"/>
          </p:nvPr>
        </p:nvSpPr>
        <p:spPr>
          <a:xfrm>
            <a:off x="0" y="1447800"/>
            <a:ext cx="9220200" cy="54102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tr-TR" dirty="0"/>
              <a:t>Her konu için aynı uygulamayı mı kullanacağım?    Evet</a:t>
            </a:r>
          </a:p>
          <a:p>
            <a:pPr>
              <a:lnSpc>
                <a:spcPct val="90000"/>
              </a:lnSpc>
            </a:pPr>
            <a:r>
              <a:rPr lang="tr-TR" dirty="0"/>
              <a:t>İnsanlar problemi anlamak bilmek zorunda mı? 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tr-TR" dirty="0"/>
              <a:t>Şart değil.</a:t>
            </a:r>
          </a:p>
          <a:p>
            <a:pPr>
              <a:lnSpc>
                <a:spcPct val="90000"/>
              </a:lnSpc>
            </a:pPr>
            <a:r>
              <a:rPr lang="tr-TR" dirty="0"/>
              <a:t>EFT anksiyete ve stres ile baş edebilir mi?  Kesinlikle.</a:t>
            </a:r>
          </a:p>
          <a:p>
            <a:pPr>
              <a:lnSpc>
                <a:spcPct val="90000"/>
              </a:lnSpc>
            </a:pPr>
            <a:r>
              <a:rPr lang="tr-TR" dirty="0"/>
              <a:t>EFT nasıl oluyor da fiziksel rahatsızlıklarda işe yarıyor?  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tr-TR" dirty="0"/>
              <a:t>Fiziksel rahatsızlıkların hemen hepsinde duygusal katkı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tr-TR" dirty="0"/>
              <a:t>vardır.</a:t>
            </a:r>
            <a:br>
              <a:rPr lang="tr-TR" dirty="0"/>
            </a:b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96717328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		</a:t>
            </a:r>
            <a:r>
              <a:rPr lang="tr-TR" sz="4800"/>
              <a:t>TEMEL REÇETE</a:t>
            </a:r>
          </a:p>
        </p:txBody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b="1"/>
              <a:t>1 Düzen: </a:t>
            </a:r>
          </a:p>
          <a:p>
            <a:r>
              <a:rPr lang="tr-TR"/>
              <a:t>Bu ......................................sahip olmama rağmen, kendimi seviyor ve onaylıyorum </a:t>
            </a:r>
          </a:p>
          <a:p>
            <a:r>
              <a:rPr lang="tr-TR"/>
              <a:t>Hassas Noktayı sürekli ovalarken </a:t>
            </a:r>
          </a:p>
          <a:p>
            <a:pPr>
              <a:buFont typeface="Wingdings" pitchFamily="2" charset="2"/>
              <a:buNone/>
            </a:pPr>
            <a:r>
              <a:rPr lang="tr-TR"/>
              <a:t>	( veya Karate Noktasına vururken )</a:t>
            </a:r>
          </a:p>
          <a:p>
            <a:pPr>
              <a:buFont typeface="Wingdings" pitchFamily="2" charset="2"/>
              <a:buNone/>
            </a:pPr>
            <a:r>
              <a:rPr lang="tr-TR"/>
              <a:t>	bu doğrulamayı 3 kez tekrarlayın</a:t>
            </a:r>
          </a:p>
        </p:txBody>
      </p:sp>
    </p:spTree>
    <p:extLst>
      <p:ext uri="{BB962C8B-B14F-4D97-AF65-F5344CB8AC3E}">
        <p14:creationId xmlns:p14="http://schemas.microsoft.com/office/powerpoint/2010/main" val="342299283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tr-TR" b="1"/>
          </a:p>
        </p:txBody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>
              <a:buFont typeface="Wingdings" pitchFamily="2" charset="2"/>
              <a:buNone/>
            </a:pPr>
            <a:r>
              <a:rPr lang="tr-TR"/>
              <a:t>	</a:t>
            </a:r>
            <a:r>
              <a:rPr lang="tr-TR" b="1"/>
              <a:t>2 Sıra </a:t>
            </a:r>
          </a:p>
          <a:p>
            <a:pPr marL="609600" indent="-609600">
              <a:buFont typeface="Wingdings" pitchFamily="2" charset="2"/>
              <a:buNone/>
            </a:pPr>
            <a:r>
              <a:rPr lang="tr-TR"/>
              <a:t>	Her noktada Anımsatıcı Cümleyi tekrar ederken;</a:t>
            </a:r>
          </a:p>
          <a:p>
            <a:pPr marL="609600" indent="-609600">
              <a:buFont typeface="Wingdings" pitchFamily="2" charset="2"/>
              <a:buNone/>
            </a:pPr>
            <a:r>
              <a:rPr lang="tr-TR"/>
              <a:t>	Aşağıdaki enerji noktalarının her birine yaklaşık 7 kez vurun.  </a:t>
            </a:r>
          </a:p>
          <a:p>
            <a:pPr marL="609600" indent="-609600">
              <a:buFont typeface="Wingdings" pitchFamily="2" charset="2"/>
              <a:buNone/>
            </a:pPr>
            <a:r>
              <a:rPr lang="tr-TR"/>
              <a:t>	( TN, K, Ş, GA, BA, Ç, KK, KA, KB, BP, -P, OP, KP, KN,T )</a:t>
            </a:r>
          </a:p>
          <a:p>
            <a:pPr marL="609600" indent="-609600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6914777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4" name="Rectangle 4"/>
          <p:cNvSpPr>
            <a:spLocks noGrp="1" noChangeArrowheads="1"/>
          </p:cNvSpPr>
          <p:nvPr>
            <p:ph type="title"/>
          </p:nvPr>
        </p:nvSpPr>
        <p:spPr>
          <a:xfrm>
            <a:off x="685800" y="274638"/>
            <a:ext cx="8001000" cy="334962"/>
          </a:xfrm>
        </p:spPr>
        <p:txBody>
          <a:bodyPr>
            <a:normAutofit fontScale="90000"/>
          </a:bodyPr>
          <a:lstStyle/>
          <a:p>
            <a:endParaRPr lang="tr-TR" dirty="0"/>
          </a:p>
        </p:txBody>
      </p:sp>
      <p:sp>
        <p:nvSpPr>
          <p:cNvPr id="81925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0" y="685800"/>
            <a:ext cx="4648200" cy="6172200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endParaRPr lang="tr-TR" sz="3200" dirty="0"/>
          </a:p>
          <a:p>
            <a:pPr>
              <a:lnSpc>
                <a:spcPct val="90000"/>
              </a:lnSpc>
            </a:pPr>
            <a:r>
              <a:rPr lang="tr-TR" sz="3200" dirty="0"/>
              <a:t>Başın tepe noktası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tr-TR" sz="3200" dirty="0"/>
              <a:t>	( Bıngıldak  noktası )</a:t>
            </a:r>
          </a:p>
          <a:p>
            <a:pPr>
              <a:lnSpc>
                <a:spcPct val="90000"/>
              </a:lnSpc>
            </a:pPr>
            <a:r>
              <a:rPr lang="tr-TR" sz="3200" dirty="0"/>
              <a:t>Orta hatta kaşların başlangıç noktası</a:t>
            </a:r>
          </a:p>
          <a:p>
            <a:pPr>
              <a:lnSpc>
                <a:spcPct val="90000"/>
              </a:lnSpc>
            </a:pPr>
            <a:r>
              <a:rPr lang="tr-TR" sz="3200" dirty="0"/>
              <a:t>Dış taraflarda göz kenarları ( şakak ) </a:t>
            </a:r>
          </a:p>
          <a:p>
            <a:pPr>
              <a:lnSpc>
                <a:spcPct val="90000"/>
              </a:lnSpc>
            </a:pPr>
            <a:r>
              <a:rPr lang="tr-TR" sz="3200" dirty="0"/>
              <a:t>Göz altları</a:t>
            </a:r>
          </a:p>
          <a:p>
            <a:pPr>
              <a:lnSpc>
                <a:spcPct val="90000"/>
              </a:lnSpc>
            </a:pPr>
            <a:r>
              <a:rPr lang="tr-TR" sz="3200" dirty="0"/>
              <a:t>Burun altı</a:t>
            </a:r>
          </a:p>
          <a:p>
            <a:pPr>
              <a:lnSpc>
                <a:spcPct val="90000"/>
              </a:lnSpc>
            </a:pPr>
            <a:r>
              <a:rPr lang="tr-TR" sz="3200" dirty="0"/>
              <a:t>Çene altı</a:t>
            </a:r>
          </a:p>
        </p:txBody>
      </p:sp>
      <p:sp>
        <p:nvSpPr>
          <p:cNvPr id="81926" name="Rectangle 6"/>
          <p:cNvSpPr>
            <a:spLocks noGrp="1" noChangeArrowheads="1"/>
          </p:cNvSpPr>
          <p:nvPr>
            <p:ph type="body" sz="half" idx="2"/>
          </p:nvPr>
        </p:nvSpPr>
        <p:spPr>
          <a:xfrm>
            <a:off x="4343400" y="609600"/>
            <a:ext cx="4800600" cy="624840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tr-TR" sz="3200" dirty="0"/>
              <a:t>Köprücük kemiği orta noktaları</a:t>
            </a:r>
          </a:p>
          <a:p>
            <a:pPr>
              <a:lnSpc>
                <a:spcPct val="90000"/>
              </a:lnSpc>
            </a:pPr>
            <a:r>
              <a:rPr lang="tr-TR" sz="3200" dirty="0"/>
              <a:t>Koltukaltı  noktası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tr-TR" sz="3200" dirty="0"/>
              <a:t>   ( kolun gövdeye yapıştığı 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tr-TR" sz="3200" dirty="0"/>
              <a:t>    nokta )</a:t>
            </a:r>
          </a:p>
          <a:p>
            <a:pPr>
              <a:lnSpc>
                <a:spcPct val="90000"/>
              </a:lnSpc>
            </a:pPr>
            <a:r>
              <a:rPr lang="tr-TR" sz="3200" dirty="0"/>
              <a:t>Meme altı</a:t>
            </a:r>
          </a:p>
          <a:p>
            <a:pPr>
              <a:lnSpc>
                <a:spcPct val="90000"/>
              </a:lnSpc>
            </a:pPr>
            <a:r>
              <a:rPr lang="tr-TR" sz="3200" dirty="0"/>
              <a:t>Baş parmak</a:t>
            </a:r>
          </a:p>
          <a:p>
            <a:pPr>
              <a:lnSpc>
                <a:spcPct val="90000"/>
              </a:lnSpc>
            </a:pPr>
            <a:r>
              <a:rPr lang="tr-TR" sz="3200" dirty="0"/>
              <a:t>İşaret parmak</a:t>
            </a:r>
          </a:p>
          <a:p>
            <a:pPr>
              <a:lnSpc>
                <a:spcPct val="90000"/>
              </a:lnSpc>
            </a:pPr>
            <a:r>
              <a:rPr lang="tr-TR" sz="3200" dirty="0"/>
              <a:t>Orta parmak</a:t>
            </a:r>
          </a:p>
          <a:p>
            <a:pPr>
              <a:lnSpc>
                <a:spcPct val="90000"/>
              </a:lnSpc>
            </a:pPr>
            <a:r>
              <a:rPr lang="tr-TR" sz="3200" dirty="0"/>
              <a:t>Küçük parmak</a:t>
            </a:r>
          </a:p>
          <a:p>
            <a:pPr>
              <a:lnSpc>
                <a:spcPct val="90000"/>
              </a:lnSpc>
            </a:pPr>
            <a:r>
              <a:rPr lang="tr-TR" sz="3200" dirty="0"/>
              <a:t>Karate noktası ( el kenarı ) </a:t>
            </a:r>
          </a:p>
          <a:p>
            <a:pPr>
              <a:lnSpc>
                <a:spcPct val="90000"/>
              </a:lnSpc>
            </a:pPr>
            <a:r>
              <a:rPr lang="tr-TR" sz="3200" dirty="0"/>
              <a:t>Tepe noktası</a:t>
            </a:r>
          </a:p>
          <a:p>
            <a:pPr>
              <a:lnSpc>
                <a:spcPct val="90000"/>
              </a:lnSpc>
            </a:pPr>
            <a:endParaRPr lang="tr-TR" sz="2400" dirty="0"/>
          </a:p>
        </p:txBody>
      </p:sp>
    </p:spTree>
    <p:extLst>
      <p:ext uri="{BB962C8B-B14F-4D97-AF65-F5344CB8AC3E}">
        <p14:creationId xmlns:p14="http://schemas.microsoft.com/office/powerpoint/2010/main" val="159764386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>
              <a:buFont typeface="Wingdings" pitchFamily="2" charset="2"/>
              <a:buNone/>
            </a:pPr>
            <a:r>
              <a:rPr lang="tr-TR" b="1"/>
              <a:t>	</a:t>
            </a:r>
          </a:p>
          <a:p>
            <a:pPr marL="609600" indent="-609600">
              <a:buFont typeface="Wingdings" pitchFamily="2" charset="2"/>
              <a:buNone/>
            </a:pPr>
            <a:r>
              <a:rPr lang="tr-TR" b="1"/>
              <a:t>	3 - 9 Gamut Prosedürü</a:t>
            </a:r>
            <a:r>
              <a:rPr lang="tr-TR"/>
              <a:t> :  </a:t>
            </a:r>
          </a:p>
          <a:p>
            <a:pPr marL="609600" indent="-609600">
              <a:buFont typeface="Wingdings" pitchFamily="2" charset="2"/>
              <a:buNone/>
            </a:pPr>
            <a:r>
              <a:rPr lang="tr-TR"/>
              <a:t>	</a:t>
            </a:r>
          </a:p>
          <a:p>
            <a:pPr marL="609600" indent="-609600">
              <a:buFont typeface="Wingdings" pitchFamily="2" charset="2"/>
              <a:buNone/>
            </a:pPr>
            <a:r>
              <a:rPr lang="tr-TR"/>
              <a:t>	Aşağıdaki 9 eylemin her birini uygularken </a:t>
            </a:r>
          </a:p>
          <a:p>
            <a:pPr marL="609600" indent="-609600">
              <a:buFont typeface="Wingdings" pitchFamily="2" charset="2"/>
              <a:buNone/>
            </a:pPr>
            <a:endParaRPr lang="tr-TR"/>
          </a:p>
          <a:p>
            <a:pPr marL="609600" indent="-609600">
              <a:buFont typeface="Wingdings" pitchFamily="2" charset="2"/>
              <a:buNone/>
            </a:pPr>
            <a:r>
              <a:rPr lang="tr-TR"/>
              <a:t>	sürekli olarak </a:t>
            </a:r>
            <a:r>
              <a:rPr lang="tr-TR" b="1"/>
              <a:t>Gamut noktasına vurun</a:t>
            </a:r>
            <a:r>
              <a:rPr lang="tr-TR"/>
              <a:t>.</a:t>
            </a:r>
          </a:p>
          <a:p>
            <a:pPr marL="609600" indent="-609600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3602896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84997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066800"/>
            <a:ext cx="4114800" cy="5562600"/>
          </a:xfrm>
        </p:spPr>
        <p:txBody>
          <a:bodyPr/>
          <a:lstStyle/>
          <a:p>
            <a:pPr>
              <a:lnSpc>
                <a:spcPct val="90000"/>
              </a:lnSpc>
            </a:pPr>
            <a:endParaRPr lang="tr-TR" dirty="0"/>
          </a:p>
          <a:p>
            <a:pPr>
              <a:lnSpc>
                <a:spcPct val="90000"/>
              </a:lnSpc>
            </a:pPr>
            <a:endParaRPr lang="tr-TR" dirty="0"/>
          </a:p>
          <a:p>
            <a:pPr>
              <a:lnSpc>
                <a:spcPct val="90000"/>
              </a:lnSpc>
            </a:pPr>
            <a:r>
              <a:rPr lang="tr-TR" sz="3600" dirty="0"/>
              <a:t>Gözler kapalı </a:t>
            </a:r>
          </a:p>
          <a:p>
            <a:pPr>
              <a:lnSpc>
                <a:spcPct val="90000"/>
              </a:lnSpc>
            </a:pPr>
            <a:r>
              <a:rPr lang="tr-TR" sz="3600" dirty="0"/>
              <a:t>Gözler açık </a:t>
            </a:r>
          </a:p>
          <a:p>
            <a:pPr>
              <a:lnSpc>
                <a:spcPct val="90000"/>
              </a:lnSpc>
            </a:pPr>
            <a:r>
              <a:rPr lang="tr-TR" sz="3600" dirty="0"/>
              <a:t>Gözler sağ aşağı </a:t>
            </a:r>
          </a:p>
          <a:p>
            <a:pPr>
              <a:lnSpc>
                <a:spcPct val="90000"/>
              </a:lnSpc>
            </a:pPr>
            <a:r>
              <a:rPr lang="tr-TR" sz="3600" dirty="0"/>
              <a:t>Gözler sol aşağı </a:t>
            </a:r>
          </a:p>
          <a:p>
            <a:pPr>
              <a:lnSpc>
                <a:spcPct val="90000"/>
              </a:lnSpc>
            </a:pPr>
            <a:r>
              <a:rPr lang="tr-TR" sz="3600" dirty="0"/>
              <a:t>Gözleri yuvarla </a:t>
            </a:r>
          </a:p>
          <a:p>
            <a:pPr>
              <a:lnSpc>
                <a:spcPct val="90000"/>
              </a:lnSpc>
            </a:pPr>
            <a:r>
              <a:rPr lang="tr-TR" sz="3600" dirty="0"/>
              <a:t>Gözleri diğer yöne yuvarla </a:t>
            </a:r>
          </a:p>
        </p:txBody>
      </p:sp>
      <p:sp>
        <p:nvSpPr>
          <p:cNvPr id="84998" name="Rectangle 6"/>
          <p:cNvSpPr>
            <a:spLocks noGrp="1" noChangeArrowheads="1"/>
          </p:cNvSpPr>
          <p:nvPr>
            <p:ph type="body" sz="half" idx="2"/>
          </p:nvPr>
        </p:nvSpPr>
        <p:spPr>
          <a:xfrm>
            <a:off x="4294909" y="1752600"/>
            <a:ext cx="4876800" cy="4724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tr-TR" sz="3200" dirty="0"/>
              <a:t>2 saniye bir şarkıyı mırıldan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tr-TR" sz="3200" dirty="0"/>
              <a:t>	( Happy birthday to you )</a:t>
            </a:r>
          </a:p>
          <a:p>
            <a:pPr>
              <a:lnSpc>
                <a:spcPct val="90000"/>
              </a:lnSpc>
            </a:pPr>
            <a:r>
              <a:rPr lang="tr-TR" sz="3200" dirty="0"/>
              <a:t>5’e kadar say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tr-TR" sz="3200" dirty="0"/>
              <a:t>	( 1-2-3-4-5 )</a:t>
            </a:r>
          </a:p>
          <a:p>
            <a:pPr>
              <a:lnSpc>
                <a:spcPct val="90000"/>
              </a:lnSpc>
            </a:pPr>
            <a:r>
              <a:rPr lang="tr-TR" sz="3200" dirty="0"/>
              <a:t>Bir şarkıyı 2 saniye mırıldan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tr-TR" sz="3200" dirty="0"/>
              <a:t>	( Happy birthday to you )</a:t>
            </a:r>
          </a:p>
          <a:p>
            <a:pPr>
              <a:lnSpc>
                <a:spcPct val="90000"/>
              </a:lnSpc>
            </a:pPr>
            <a:endParaRPr lang="tr-TR" dirty="0"/>
          </a:p>
          <a:p>
            <a:pPr>
              <a:lnSpc>
                <a:spcPct val="90000"/>
              </a:lnSpc>
            </a:pPr>
            <a:endParaRPr lang="tr-TR" dirty="0"/>
          </a:p>
          <a:p>
            <a:pPr>
              <a:lnSpc>
                <a:spcPct val="90000"/>
              </a:lnSpc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67845201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>
              <a:buFont typeface="Wingdings" pitchFamily="2" charset="2"/>
              <a:buNone/>
            </a:pPr>
            <a:r>
              <a:rPr lang="tr-TR" b="1"/>
              <a:t>	4 - Sıra</a:t>
            </a:r>
            <a:r>
              <a:rPr lang="tr-TR"/>
              <a:t> (tekrar)... </a:t>
            </a:r>
          </a:p>
          <a:p>
            <a:pPr marL="609600" indent="-609600">
              <a:buFont typeface="Wingdings" pitchFamily="2" charset="2"/>
              <a:buNone/>
            </a:pPr>
            <a:r>
              <a:rPr lang="tr-TR"/>
              <a:t>	 Her noktada Anımsatıcı Cümleyi tekrar ederken;</a:t>
            </a:r>
          </a:p>
          <a:p>
            <a:pPr marL="609600" indent="-609600">
              <a:buFont typeface="Wingdings" pitchFamily="2" charset="2"/>
              <a:buNone/>
            </a:pPr>
            <a:r>
              <a:rPr lang="tr-TR"/>
              <a:t>	Aşağıdaki enerji noktalarının her birine yaklaşık 7 kez vurun </a:t>
            </a:r>
          </a:p>
          <a:p>
            <a:pPr marL="609600" indent="-609600">
              <a:buFont typeface="Wingdings" pitchFamily="2" charset="2"/>
              <a:buNone/>
            </a:pPr>
            <a:r>
              <a:rPr lang="tr-TR"/>
              <a:t>	( TN, K, Ş, GA, BA, Ç, KK, KA, KB, BP, -P, OP, KP, KN,T )</a:t>
            </a:r>
          </a:p>
          <a:p>
            <a:pPr marL="609600" indent="-609600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3581766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4" name="Rectangle 4"/>
          <p:cNvSpPr>
            <a:spLocks noGrp="1" noChangeArrowheads="1"/>
          </p:cNvSpPr>
          <p:nvPr>
            <p:ph type="title"/>
          </p:nvPr>
        </p:nvSpPr>
        <p:spPr>
          <a:xfrm>
            <a:off x="685800" y="274638"/>
            <a:ext cx="8001000" cy="334962"/>
          </a:xfrm>
        </p:spPr>
        <p:txBody>
          <a:bodyPr>
            <a:normAutofit fontScale="90000"/>
          </a:bodyPr>
          <a:lstStyle/>
          <a:p>
            <a:endParaRPr lang="tr-TR" dirty="0"/>
          </a:p>
        </p:txBody>
      </p:sp>
      <p:sp>
        <p:nvSpPr>
          <p:cNvPr id="81925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0" y="685800"/>
            <a:ext cx="4648200" cy="6172200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endParaRPr lang="tr-TR" sz="3200" dirty="0"/>
          </a:p>
          <a:p>
            <a:pPr>
              <a:lnSpc>
                <a:spcPct val="90000"/>
              </a:lnSpc>
            </a:pPr>
            <a:r>
              <a:rPr lang="tr-TR" sz="3200" dirty="0"/>
              <a:t>Başın tepe noktası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tr-TR" sz="3200" dirty="0"/>
              <a:t>	( Bıngıldak  noktası )</a:t>
            </a:r>
          </a:p>
          <a:p>
            <a:pPr>
              <a:lnSpc>
                <a:spcPct val="90000"/>
              </a:lnSpc>
            </a:pPr>
            <a:r>
              <a:rPr lang="tr-TR" sz="3200" dirty="0"/>
              <a:t>Orta hatta kaşların başlangıç noktası</a:t>
            </a:r>
          </a:p>
          <a:p>
            <a:pPr>
              <a:lnSpc>
                <a:spcPct val="90000"/>
              </a:lnSpc>
            </a:pPr>
            <a:r>
              <a:rPr lang="tr-TR" sz="3200" dirty="0"/>
              <a:t>Dış taraflarda göz kenarları ( şakak ) </a:t>
            </a:r>
          </a:p>
          <a:p>
            <a:pPr>
              <a:lnSpc>
                <a:spcPct val="90000"/>
              </a:lnSpc>
            </a:pPr>
            <a:r>
              <a:rPr lang="tr-TR" sz="3200" dirty="0"/>
              <a:t>Göz altları</a:t>
            </a:r>
          </a:p>
          <a:p>
            <a:pPr>
              <a:lnSpc>
                <a:spcPct val="90000"/>
              </a:lnSpc>
            </a:pPr>
            <a:r>
              <a:rPr lang="tr-TR" sz="3200" dirty="0"/>
              <a:t>Burun altı</a:t>
            </a:r>
          </a:p>
          <a:p>
            <a:pPr>
              <a:lnSpc>
                <a:spcPct val="90000"/>
              </a:lnSpc>
            </a:pPr>
            <a:r>
              <a:rPr lang="tr-TR" sz="3200" dirty="0"/>
              <a:t>Çene altı</a:t>
            </a:r>
          </a:p>
        </p:txBody>
      </p:sp>
      <p:sp>
        <p:nvSpPr>
          <p:cNvPr id="81926" name="Rectangle 6"/>
          <p:cNvSpPr>
            <a:spLocks noGrp="1" noChangeArrowheads="1"/>
          </p:cNvSpPr>
          <p:nvPr>
            <p:ph type="body" sz="half" idx="2"/>
          </p:nvPr>
        </p:nvSpPr>
        <p:spPr>
          <a:xfrm>
            <a:off x="4343400" y="609600"/>
            <a:ext cx="4800600" cy="624840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tr-TR" sz="3200" dirty="0"/>
              <a:t>Köprücük kemiği orta noktaları</a:t>
            </a:r>
          </a:p>
          <a:p>
            <a:pPr>
              <a:lnSpc>
                <a:spcPct val="90000"/>
              </a:lnSpc>
            </a:pPr>
            <a:r>
              <a:rPr lang="tr-TR" sz="3200" dirty="0"/>
              <a:t>Koltukaltı  noktası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tr-TR" sz="3200" dirty="0"/>
              <a:t>   ( kolun gövdeye yapıştığı 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tr-TR" sz="3200" dirty="0"/>
              <a:t>    nokta )</a:t>
            </a:r>
          </a:p>
          <a:p>
            <a:pPr>
              <a:lnSpc>
                <a:spcPct val="90000"/>
              </a:lnSpc>
            </a:pPr>
            <a:r>
              <a:rPr lang="tr-TR" sz="3200" dirty="0"/>
              <a:t>Meme altı</a:t>
            </a:r>
          </a:p>
          <a:p>
            <a:pPr>
              <a:lnSpc>
                <a:spcPct val="90000"/>
              </a:lnSpc>
            </a:pPr>
            <a:r>
              <a:rPr lang="tr-TR" sz="3200" dirty="0"/>
              <a:t>Baş parmak</a:t>
            </a:r>
          </a:p>
          <a:p>
            <a:pPr>
              <a:lnSpc>
                <a:spcPct val="90000"/>
              </a:lnSpc>
            </a:pPr>
            <a:r>
              <a:rPr lang="tr-TR" sz="3200" dirty="0"/>
              <a:t>İşaret parmak</a:t>
            </a:r>
          </a:p>
          <a:p>
            <a:pPr>
              <a:lnSpc>
                <a:spcPct val="90000"/>
              </a:lnSpc>
            </a:pPr>
            <a:r>
              <a:rPr lang="tr-TR" sz="3200" dirty="0"/>
              <a:t>Orta parmak</a:t>
            </a:r>
          </a:p>
          <a:p>
            <a:pPr>
              <a:lnSpc>
                <a:spcPct val="90000"/>
              </a:lnSpc>
            </a:pPr>
            <a:r>
              <a:rPr lang="tr-TR" sz="3200" dirty="0"/>
              <a:t>Küçük parmak</a:t>
            </a:r>
          </a:p>
          <a:p>
            <a:pPr>
              <a:lnSpc>
                <a:spcPct val="90000"/>
              </a:lnSpc>
            </a:pPr>
            <a:r>
              <a:rPr lang="tr-TR" sz="3200" dirty="0"/>
              <a:t>Karate noktası ( el kenarı ) </a:t>
            </a:r>
          </a:p>
          <a:p>
            <a:pPr>
              <a:lnSpc>
                <a:spcPct val="90000"/>
              </a:lnSpc>
            </a:pPr>
            <a:r>
              <a:rPr lang="tr-TR" sz="3200" dirty="0"/>
              <a:t>Tepe noktası</a:t>
            </a:r>
          </a:p>
          <a:p>
            <a:pPr>
              <a:lnSpc>
                <a:spcPct val="90000"/>
              </a:lnSpc>
            </a:pPr>
            <a:endParaRPr lang="tr-TR" sz="2400" dirty="0"/>
          </a:p>
        </p:txBody>
      </p:sp>
    </p:spTree>
    <p:extLst>
      <p:ext uri="{BB962C8B-B14F-4D97-AF65-F5344CB8AC3E}">
        <p14:creationId xmlns:p14="http://schemas.microsoft.com/office/powerpoint/2010/main" val="371469023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tr-TR" sz="4400"/>
              <a:t>				</a:t>
            </a:r>
          </a:p>
          <a:p>
            <a:pPr>
              <a:buFont typeface="Wingdings" pitchFamily="2" charset="2"/>
              <a:buNone/>
            </a:pPr>
            <a:r>
              <a:rPr lang="tr-TR" sz="4400"/>
              <a:t>				DERİN </a:t>
            </a:r>
          </a:p>
          <a:p>
            <a:pPr>
              <a:buFont typeface="Wingdings" pitchFamily="2" charset="2"/>
              <a:buNone/>
            </a:pPr>
            <a:r>
              <a:rPr lang="tr-TR" sz="4400"/>
              <a:t>				NEFES </a:t>
            </a:r>
          </a:p>
          <a:p>
            <a:pPr>
              <a:buFont typeface="Wingdings" pitchFamily="2" charset="2"/>
              <a:buNone/>
            </a:pPr>
            <a:r>
              <a:rPr lang="tr-TR" sz="4400"/>
              <a:t>			         AL </a:t>
            </a:r>
          </a:p>
          <a:p>
            <a:pPr>
              <a:buFont typeface="Wingdings" pitchFamily="2" charset="2"/>
              <a:buNone/>
            </a:pPr>
            <a:r>
              <a:rPr lang="tr-TR" sz="4400"/>
              <a:t>				  VER</a:t>
            </a:r>
          </a:p>
        </p:txBody>
      </p:sp>
    </p:spTree>
    <p:extLst>
      <p:ext uri="{BB962C8B-B14F-4D97-AF65-F5344CB8AC3E}">
        <p14:creationId xmlns:p14="http://schemas.microsoft.com/office/powerpoint/2010/main" val="330718339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116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143000"/>
            <a:ext cx="7239000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2407740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140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143000"/>
            <a:ext cx="6400800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578822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64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447800"/>
            <a:ext cx="33528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65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1676400"/>
            <a:ext cx="395605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8058000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212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838200"/>
            <a:ext cx="1981200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4213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066800"/>
            <a:ext cx="2362200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4214" name="Picture 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3657600"/>
            <a:ext cx="2514600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4215" name="Picture 7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3810000"/>
            <a:ext cx="2286000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0499258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260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600200"/>
            <a:ext cx="3581400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6261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1600200"/>
            <a:ext cx="3733800" cy="358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6201877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228600" y="244475"/>
            <a:ext cx="8613775" cy="1431925"/>
          </a:xfrm>
        </p:spPr>
        <p:txBody>
          <a:bodyPr/>
          <a:lstStyle/>
          <a:p>
            <a:r>
              <a:rPr lang="tr-TR"/>
              <a:t>EFT işe yaramıyor gibiyse...</a:t>
            </a:r>
          </a:p>
        </p:txBody>
      </p:sp>
      <p:sp>
        <p:nvSpPr>
          <p:cNvPr id="102403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0" y="1600200"/>
            <a:ext cx="9144000" cy="5486400"/>
          </a:xfrm>
        </p:spPr>
        <p:txBody>
          <a:bodyPr>
            <a:noAutofit/>
          </a:bodyPr>
          <a:lstStyle/>
          <a:p>
            <a:endParaRPr lang="tr-TR" sz="2800" dirty="0"/>
          </a:p>
          <a:p>
            <a:r>
              <a:rPr lang="tr-TR" sz="2800" dirty="0"/>
              <a:t>Hazırlık Cümlesinde daha spesifik ol , daha açık ol</a:t>
            </a:r>
          </a:p>
          <a:p>
            <a:r>
              <a:rPr lang="tr-TR" sz="2800" dirty="0"/>
              <a:t>Hazırlık cümlesini söylerken duyarak söyle. Mırıldanma, haykır...!</a:t>
            </a:r>
          </a:p>
          <a:p>
            <a:r>
              <a:rPr lang="tr-TR" sz="2800" dirty="0"/>
              <a:t>Daha fazla meridyen noktası ekle ve tam protokol uygula.</a:t>
            </a:r>
          </a:p>
          <a:p>
            <a:r>
              <a:rPr lang="tr-TR" sz="2800" dirty="0"/>
              <a:t>EFT yi farklı bir ortamda uygula. Dışarı çık dışarıdaysan içeri gir.</a:t>
            </a:r>
          </a:p>
          <a:p>
            <a:r>
              <a:rPr lang="tr-TR" sz="2800" dirty="0"/>
              <a:t>Azimli ve ısrarcı ol. Bazen uygulamayı gün boyunca değişik zamanlarda tekrarlamak gerekebilir.</a:t>
            </a:r>
            <a:br>
              <a:rPr lang="tr-TR" sz="2800" dirty="0"/>
            </a:br>
            <a:endParaRPr lang="tr-TR" sz="2800" dirty="0"/>
          </a:p>
        </p:txBody>
      </p:sp>
    </p:spTree>
    <p:extLst>
      <p:ext uri="{BB962C8B-B14F-4D97-AF65-F5344CB8AC3E}">
        <p14:creationId xmlns:p14="http://schemas.microsoft.com/office/powerpoint/2010/main" val="175258070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08547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0" y="1600200"/>
            <a:ext cx="9144000" cy="5410200"/>
          </a:xfrm>
        </p:spPr>
        <p:txBody>
          <a:bodyPr/>
          <a:lstStyle/>
          <a:p>
            <a:endParaRPr lang="tr-TR" sz="3200" dirty="0"/>
          </a:p>
          <a:p>
            <a:r>
              <a:rPr lang="tr-TR" sz="3200" dirty="0"/>
              <a:t>Uygulamaya başlamadan önce ve sonra su iç.</a:t>
            </a:r>
          </a:p>
          <a:p>
            <a:r>
              <a:rPr lang="tr-TR" sz="3200" dirty="0"/>
              <a:t>Olumsuz inançların, kendimizi sabote edip etmediğini gözle. </a:t>
            </a:r>
          </a:p>
          <a:p>
            <a:r>
              <a:rPr lang="tr-TR" sz="3200" dirty="0"/>
              <a:t>Olumsuz inançlarına da EFT yaparak onları olumluya çevir .</a:t>
            </a:r>
          </a:p>
          <a:p>
            <a:r>
              <a:rPr lang="tr-TR" sz="3200" dirty="0"/>
              <a:t>Enerji toksinlerden sakın. Zararlı yiyecekler, havadaki ve ortamdaki kimyasallar vb.</a:t>
            </a:r>
          </a:p>
          <a:p>
            <a:r>
              <a:rPr lang="tr-TR" sz="3200" dirty="0"/>
              <a:t>Güvenilir bir danışmana başvur.</a:t>
            </a:r>
          </a:p>
          <a:p>
            <a:endParaRPr lang="tr-TR" sz="2800" dirty="0"/>
          </a:p>
        </p:txBody>
      </p:sp>
    </p:spTree>
    <p:extLst>
      <p:ext uri="{BB962C8B-B14F-4D97-AF65-F5344CB8AC3E}">
        <p14:creationId xmlns:p14="http://schemas.microsoft.com/office/powerpoint/2010/main" val="356680362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609600" y="228600"/>
            <a:ext cx="8229600" cy="1143000"/>
          </a:xfrm>
        </p:spPr>
        <p:txBody>
          <a:bodyPr/>
          <a:lstStyle/>
          <a:p>
            <a:pPr algn="ctr"/>
            <a:r>
              <a:rPr lang="tr-TR" dirty="0"/>
              <a:t>Hatırlanması Gerekenler</a:t>
            </a:r>
          </a:p>
        </p:txBody>
      </p:sp>
      <p:sp>
        <p:nvSpPr>
          <p:cNvPr id="103427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0" y="1295400"/>
            <a:ext cx="9144000" cy="609600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endParaRPr lang="tr-TR" sz="2800" dirty="0"/>
          </a:p>
          <a:p>
            <a:pPr>
              <a:lnSpc>
                <a:spcPct val="90000"/>
              </a:lnSpc>
            </a:pPr>
            <a:r>
              <a:rPr lang="tr-TR" sz="3600" dirty="0"/>
              <a:t>Temel Reçeteyi ezberleyin. </a:t>
            </a:r>
          </a:p>
          <a:p>
            <a:pPr>
              <a:lnSpc>
                <a:spcPct val="90000"/>
              </a:lnSpc>
            </a:pPr>
            <a:r>
              <a:rPr lang="tr-TR" sz="3600" dirty="0"/>
              <a:t>Sizin durumunuza uyan Hazırlık Cümlesi ve Hatırlatma ifadesi düşünün. </a:t>
            </a:r>
          </a:p>
          <a:p>
            <a:pPr>
              <a:lnSpc>
                <a:spcPct val="90000"/>
              </a:lnSpc>
            </a:pPr>
            <a:r>
              <a:rPr lang="tr-TR" sz="3600" dirty="0"/>
              <a:t>Tam çözüme kadar uygulamayı sürdürün .  </a:t>
            </a:r>
          </a:p>
          <a:p>
            <a:pPr>
              <a:lnSpc>
                <a:spcPct val="90000"/>
              </a:lnSpc>
            </a:pPr>
            <a:r>
              <a:rPr lang="tr-TR" sz="3600" dirty="0"/>
              <a:t>Sorunu olabildiğince spesifik olarak ortaya koyun </a:t>
            </a:r>
          </a:p>
          <a:p>
            <a:pPr>
              <a:lnSpc>
                <a:spcPct val="90000"/>
              </a:lnSpc>
            </a:pPr>
            <a:r>
              <a:rPr lang="tr-TR" sz="3600" dirty="0"/>
              <a:t>İnatçı problemlerde değişik yönler ve hususlar  vardır. Her problemi bütün yönleriyle inceleyerek çözün .</a:t>
            </a:r>
            <a:br>
              <a:rPr lang="tr-TR" sz="2800" dirty="0"/>
            </a:br>
            <a:br>
              <a:rPr lang="tr-TR" sz="2800" dirty="0"/>
            </a:br>
            <a:endParaRPr lang="tr-TR" sz="2800" dirty="0"/>
          </a:p>
        </p:txBody>
      </p:sp>
    </p:spTree>
    <p:extLst>
      <p:ext uri="{BB962C8B-B14F-4D97-AF65-F5344CB8AC3E}">
        <p14:creationId xmlns:p14="http://schemas.microsoft.com/office/powerpoint/2010/main" val="422466343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 </a:t>
            </a:r>
            <a:r>
              <a:rPr lang="tr-TR" sz="6600" dirty="0"/>
              <a:t>EFT ;</a:t>
            </a:r>
          </a:p>
        </p:txBody>
      </p:sp>
      <p:sp>
        <p:nvSpPr>
          <p:cNvPr id="106499" name="Rectangle 3"/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sz="6600" dirty="0"/>
              <a:t>Yaşamınızın </a:t>
            </a:r>
          </a:p>
          <a:p>
            <a:r>
              <a:rPr lang="tr-TR" sz="6600"/>
              <a:t>her alanında </a:t>
            </a:r>
          </a:p>
          <a:p>
            <a:r>
              <a:rPr lang="tr-TR" sz="6600"/>
              <a:t>size </a:t>
            </a:r>
            <a:r>
              <a:rPr lang="tr-TR" sz="6600" dirty="0"/>
              <a:t>yararlı olacaktır. </a:t>
            </a:r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27253759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tr-TR" sz="6600" dirty="0"/>
          </a:p>
          <a:p>
            <a:pPr>
              <a:buNone/>
            </a:pPr>
            <a:r>
              <a:rPr lang="tr-TR" sz="6600" dirty="0"/>
              <a:t>HER ŞEY İÇİN DENE !!!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0" y="1600200"/>
            <a:ext cx="9144000" cy="54864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tr-TR" sz="3600" dirty="0"/>
              <a:t>Başlarken doğrudan semptoma yönel</a:t>
            </a:r>
          </a:p>
          <a:p>
            <a:pPr>
              <a:lnSpc>
                <a:spcPct val="90000"/>
              </a:lnSpc>
            </a:pPr>
            <a:r>
              <a:rPr lang="tr-TR" sz="3600" dirty="0"/>
              <a:t>Mutlaka ölçümlenecek bir şey yarat.    ( ölçüm hastayı sorunun azaldığına ikna eder, ikna ise sorunu azaltır.) </a:t>
            </a:r>
          </a:p>
          <a:p>
            <a:pPr>
              <a:lnSpc>
                <a:spcPct val="90000"/>
              </a:lnSpc>
            </a:pPr>
            <a:r>
              <a:rPr lang="tr-TR" sz="3600" dirty="0"/>
              <a:t>Ölçüm değerini EFT içinde kullan           ( 5 şiddetinde başım ağrıyorsa da, .... )</a:t>
            </a:r>
          </a:p>
          <a:p>
            <a:pPr>
              <a:lnSpc>
                <a:spcPct val="90000"/>
              </a:lnSpc>
            </a:pPr>
            <a:r>
              <a:rPr lang="tr-TR" sz="3600" dirty="0"/>
              <a:t>Semptomlardan, semptomları yaratan organlara atla. Organların bir işaret vermeye çalıştığını belirt. Organı öv. </a:t>
            </a:r>
          </a:p>
        </p:txBody>
      </p:sp>
      <p:sp>
        <p:nvSpPr>
          <p:cNvPr id="2150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sz="4000" dirty="0"/>
              <a:t>Hipnotik ilkelerden yararlanarak </a:t>
            </a:r>
            <a:br>
              <a:rPr lang="tr-TR" sz="4000" dirty="0"/>
            </a:br>
            <a:r>
              <a:rPr lang="tr-TR" sz="4000" dirty="0"/>
              <a:t>EFT uygulanması-1 giriş</a:t>
            </a:r>
          </a:p>
        </p:txBody>
      </p:sp>
    </p:spTree>
    <p:extLst>
      <p:ext uri="{BB962C8B-B14F-4D97-AF65-F5344CB8AC3E}">
        <p14:creationId xmlns:p14="http://schemas.microsoft.com/office/powerpoint/2010/main" val="37290268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0" y="1447800"/>
            <a:ext cx="9144000" cy="54102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tr-TR" sz="4000" dirty="0"/>
              <a:t>Karate noktasına uzun uzun açıklayıcı cümleler kullanarak vur. ( sorunun öz gecmişi ve verilen mücadele gibi)</a:t>
            </a:r>
          </a:p>
          <a:p>
            <a:pPr>
              <a:lnSpc>
                <a:spcPct val="90000"/>
              </a:lnSpc>
            </a:pPr>
            <a:r>
              <a:rPr lang="tr-TR" sz="4000" dirty="0"/>
              <a:t>Soruna yol açan muhtemel etkenler üzerine cümleler kur. </a:t>
            </a:r>
          </a:p>
          <a:p>
            <a:pPr>
              <a:lnSpc>
                <a:spcPct val="90000"/>
              </a:lnSpc>
            </a:pPr>
            <a:r>
              <a:rPr lang="tr-TR" sz="4000" dirty="0"/>
              <a:t>Sorunu abart. </a:t>
            </a:r>
          </a:p>
          <a:p>
            <a:pPr>
              <a:lnSpc>
                <a:spcPct val="90000"/>
              </a:lnSpc>
            </a:pPr>
            <a:r>
              <a:rPr lang="tr-TR" sz="4000" dirty="0"/>
              <a:t>Espri ve hafif küfürler kat (bu baş belası X den kurtulamadıysam da)</a:t>
            </a:r>
          </a:p>
          <a:p>
            <a:pPr>
              <a:lnSpc>
                <a:spcPct val="90000"/>
              </a:lnSpc>
            </a:pPr>
            <a:endParaRPr lang="tr-TR" dirty="0"/>
          </a:p>
        </p:txBody>
      </p:sp>
      <p:sp>
        <p:nvSpPr>
          <p:cNvPr id="2253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sz="4000" dirty="0"/>
              <a:t>Hipnotik ilkelerden yararlanarak </a:t>
            </a:r>
            <a:br>
              <a:rPr lang="tr-TR" sz="4000" dirty="0"/>
            </a:br>
            <a:r>
              <a:rPr lang="tr-TR" sz="4000" dirty="0"/>
              <a:t>EFT uygulanması-2 Set-up</a:t>
            </a:r>
          </a:p>
        </p:txBody>
      </p:sp>
    </p:spTree>
    <p:extLst>
      <p:ext uri="{BB962C8B-B14F-4D97-AF65-F5344CB8AC3E}">
        <p14:creationId xmlns:p14="http://schemas.microsoft.com/office/powerpoint/2010/main" val="140185716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0" y="1600200"/>
            <a:ext cx="9144000" cy="5257800"/>
          </a:xfrm>
        </p:spPr>
        <p:txBody>
          <a:bodyPr>
            <a:normAutofit/>
          </a:bodyPr>
          <a:lstStyle/>
          <a:p>
            <a:r>
              <a:rPr lang="tr-TR" sz="3600" dirty="0"/>
              <a:t>Spesifik bir olay bul</a:t>
            </a:r>
          </a:p>
          <a:p>
            <a:r>
              <a:rPr lang="tr-TR" sz="3600" dirty="0"/>
              <a:t>Bunu bir film haline getirt</a:t>
            </a:r>
          </a:p>
          <a:p>
            <a:r>
              <a:rPr lang="tr-TR" sz="3600" dirty="0"/>
              <a:t>Süresi ne kadar?</a:t>
            </a:r>
          </a:p>
          <a:p>
            <a:r>
              <a:rPr lang="tr-TR" sz="3600" dirty="0"/>
              <a:t>Kaç kreşendosu var?</a:t>
            </a:r>
          </a:p>
          <a:p>
            <a:r>
              <a:rPr lang="tr-TR" sz="3600" dirty="0"/>
              <a:t>Filme bir isim verdir</a:t>
            </a:r>
          </a:p>
          <a:p>
            <a:r>
              <a:rPr lang="tr-TR" sz="3600" dirty="0"/>
              <a:t>Sahne sahne izlerken taple.. ( bu filmdeki duygularım.. )</a:t>
            </a:r>
          </a:p>
        </p:txBody>
      </p:sp>
      <p:sp>
        <p:nvSpPr>
          <p:cNvPr id="2355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sz="4000" dirty="0"/>
              <a:t>Hipnotik ilkelerden yararlanarak </a:t>
            </a:r>
            <a:br>
              <a:rPr lang="tr-TR" sz="4000" dirty="0"/>
            </a:br>
            <a:r>
              <a:rPr lang="tr-TR" sz="4000" dirty="0"/>
              <a:t>EFT uygulanması-3 Movie teknik</a:t>
            </a:r>
          </a:p>
        </p:txBody>
      </p:sp>
    </p:spTree>
    <p:extLst>
      <p:ext uri="{BB962C8B-B14F-4D97-AF65-F5344CB8AC3E}">
        <p14:creationId xmlns:p14="http://schemas.microsoft.com/office/powerpoint/2010/main" val="394368732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0" y="1600200"/>
            <a:ext cx="9144000" cy="525780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tr-TR" sz="3600" dirty="0"/>
              <a:t>Filmi tekrar izlet</a:t>
            </a:r>
          </a:p>
          <a:p>
            <a:pPr>
              <a:lnSpc>
                <a:spcPct val="90000"/>
              </a:lnSpc>
            </a:pPr>
            <a:r>
              <a:rPr lang="tr-TR" sz="3600" dirty="0"/>
              <a:t>Duyguların şiddetini kontrol et..</a:t>
            </a:r>
          </a:p>
          <a:p>
            <a:pPr>
              <a:lnSpc>
                <a:spcPct val="90000"/>
              </a:lnSpc>
            </a:pPr>
            <a:r>
              <a:rPr lang="tr-TR" sz="3600" dirty="0"/>
              <a:t>Duygu yoksa abartarak izlet</a:t>
            </a:r>
          </a:p>
          <a:p>
            <a:pPr>
              <a:lnSpc>
                <a:spcPct val="90000"/>
              </a:lnSpc>
            </a:pPr>
            <a:r>
              <a:rPr lang="tr-TR" sz="3600" dirty="0"/>
              <a:t>Filme girmekte zorlanıyorsa bir kapı yarat ve kapıyı çok az aralatarak filmi seyrettir.</a:t>
            </a:r>
          </a:p>
          <a:p>
            <a:pPr>
              <a:lnSpc>
                <a:spcPct val="90000"/>
              </a:lnSpc>
            </a:pPr>
            <a:r>
              <a:rPr lang="tr-TR" sz="3600" dirty="0"/>
              <a:t>Direnç gösterdiği için affettir. </a:t>
            </a:r>
          </a:p>
          <a:p>
            <a:pPr>
              <a:lnSpc>
                <a:spcPct val="90000"/>
              </a:lnSpc>
            </a:pPr>
            <a:r>
              <a:rPr lang="tr-TR" sz="3600" dirty="0"/>
              <a:t>Sonra kapıyı biraz daha aralat</a:t>
            </a:r>
          </a:p>
          <a:p>
            <a:pPr>
              <a:lnSpc>
                <a:spcPct val="90000"/>
              </a:lnSpc>
            </a:pPr>
            <a:r>
              <a:rPr lang="tr-TR" sz="3600" dirty="0"/>
              <a:t>Boşlukları ve bağlantıları yaratmada insiyatif kullan</a:t>
            </a:r>
          </a:p>
        </p:txBody>
      </p:sp>
      <p:sp>
        <p:nvSpPr>
          <p:cNvPr id="2457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sz="4000" dirty="0"/>
              <a:t>Hipnotik ilkelerden yararlanarak </a:t>
            </a:r>
            <a:br>
              <a:rPr lang="tr-TR" sz="4000" dirty="0"/>
            </a:br>
            <a:r>
              <a:rPr lang="tr-TR" sz="4000" dirty="0"/>
              <a:t>EFT uygulanması-4 Movie teknik</a:t>
            </a:r>
          </a:p>
        </p:txBody>
      </p:sp>
    </p:spTree>
    <p:extLst>
      <p:ext uri="{BB962C8B-B14F-4D97-AF65-F5344CB8AC3E}">
        <p14:creationId xmlns:p14="http://schemas.microsoft.com/office/powerpoint/2010/main" val="306500994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0" y="1600200"/>
            <a:ext cx="8686800" cy="5257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tr-TR" sz="4000" dirty="0"/>
              <a:t>Muhtemel duygular üzerinde çalış (suçluluk, güçsüzlük, çaresizlik, öfke gibi..)</a:t>
            </a:r>
          </a:p>
          <a:p>
            <a:pPr>
              <a:lnSpc>
                <a:spcPct val="90000"/>
              </a:lnSpc>
            </a:pPr>
            <a:r>
              <a:rPr lang="tr-TR" sz="4000" dirty="0"/>
              <a:t>Bu duyguyu yaratan iç konuşman nedir? Diye sor ve çıkan şeylere tapla..</a:t>
            </a:r>
          </a:p>
          <a:p>
            <a:pPr>
              <a:lnSpc>
                <a:spcPct val="90000"/>
              </a:lnSpc>
            </a:pPr>
            <a:r>
              <a:rPr lang="tr-TR" sz="4000" dirty="0"/>
              <a:t>Hiçbir şey bulamazsa tahmin ettir. </a:t>
            </a:r>
          </a:p>
          <a:p>
            <a:pPr>
              <a:lnSpc>
                <a:spcPct val="90000"/>
              </a:lnSpc>
            </a:pPr>
            <a:endParaRPr lang="tr-TR" dirty="0"/>
          </a:p>
        </p:txBody>
      </p:sp>
      <p:sp>
        <p:nvSpPr>
          <p:cNvPr id="2560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sz="4000" dirty="0"/>
              <a:t>Hipnotik ilkelerden yararlanarak </a:t>
            </a:r>
            <a:br>
              <a:rPr lang="tr-TR" sz="4000" dirty="0"/>
            </a:br>
            <a:r>
              <a:rPr lang="tr-TR" sz="4000" dirty="0"/>
              <a:t>EFT uygulanması-5 duygular</a:t>
            </a:r>
          </a:p>
        </p:txBody>
      </p:sp>
    </p:spTree>
    <p:extLst>
      <p:ext uri="{BB962C8B-B14F-4D97-AF65-F5344CB8AC3E}">
        <p14:creationId xmlns:p14="http://schemas.microsoft.com/office/powerpoint/2010/main" val="258317516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3"/>
          <p:cNvSpPr>
            <a:spLocks noGrp="1" noRot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sz="3600" dirty="0"/>
              <a:t>Duygusal-mantıklı ayırımı yaptır.. (mantıklı yanın bu konuda ne düşünüyor gibi..)</a:t>
            </a:r>
          </a:p>
          <a:p>
            <a:r>
              <a:rPr lang="tr-TR" sz="3600" dirty="0"/>
              <a:t>Duyguyu içeren bir cümle kur ve etkisi test ettir. </a:t>
            </a:r>
          </a:p>
          <a:p>
            <a:r>
              <a:rPr lang="tr-TR" sz="3600" dirty="0"/>
              <a:t>Sevgi gönderme çalışması . </a:t>
            </a:r>
          </a:p>
          <a:p>
            <a:r>
              <a:rPr lang="tr-TR" sz="3600" dirty="0"/>
              <a:t>Engel varsa engeller üzerine EFT</a:t>
            </a:r>
          </a:p>
        </p:txBody>
      </p:sp>
      <p:sp>
        <p:nvSpPr>
          <p:cNvPr id="2662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sz="4000" dirty="0"/>
              <a:t>Hipnotik ilkelerden yararlanarak </a:t>
            </a:r>
            <a:br>
              <a:rPr lang="tr-TR" sz="4000" dirty="0"/>
            </a:br>
            <a:r>
              <a:rPr lang="tr-TR" sz="4000" dirty="0"/>
              <a:t>EFT-6 duygu boşaltılması</a:t>
            </a:r>
          </a:p>
        </p:txBody>
      </p:sp>
    </p:spTree>
    <p:extLst>
      <p:ext uri="{BB962C8B-B14F-4D97-AF65-F5344CB8AC3E}">
        <p14:creationId xmlns:p14="http://schemas.microsoft.com/office/powerpoint/2010/main" val="1456673775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3"/>
          <p:cNvSpPr>
            <a:spLocks noGrp="1" noRot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sz="2800"/>
              <a:t>Zihinsel duvarların yazıları üzerinde çalış</a:t>
            </a:r>
          </a:p>
          <a:p>
            <a:r>
              <a:rPr lang="tr-TR" sz="2800"/>
              <a:t>Bu yazılar benim değil annemin babamın gibi</a:t>
            </a:r>
          </a:p>
          <a:p>
            <a:r>
              <a:rPr lang="tr-TR" sz="2800"/>
              <a:t>Her sıkıştığımda bu yazıları okuyorum..</a:t>
            </a:r>
          </a:p>
          <a:p>
            <a:r>
              <a:rPr lang="tr-TR" sz="2800"/>
              <a:t>X de kendi duvarındaki yazıları okuyordu</a:t>
            </a:r>
          </a:p>
          <a:p>
            <a:r>
              <a:rPr lang="tr-TR" sz="2800"/>
              <a:t>Her ne kadar bu durumda şu yazıyı okuyorsam da.. </a:t>
            </a:r>
          </a:p>
          <a:p>
            <a:r>
              <a:rPr lang="tr-TR" sz="2800"/>
              <a:t>Hala davranışlarımı x yaşındaki çocukluğum idare ediyorsa da.. </a:t>
            </a:r>
          </a:p>
        </p:txBody>
      </p:sp>
      <p:sp>
        <p:nvSpPr>
          <p:cNvPr id="2765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sz="4000" dirty="0"/>
              <a:t>Hipnotik ilkelerden yararlanarak </a:t>
            </a:r>
            <a:br>
              <a:rPr lang="tr-TR" sz="4000" dirty="0"/>
            </a:br>
            <a:r>
              <a:rPr lang="tr-TR" sz="4000" dirty="0"/>
              <a:t>EFT-6 Duvarların yıkılması</a:t>
            </a:r>
          </a:p>
        </p:txBody>
      </p:sp>
    </p:spTree>
    <p:extLst>
      <p:ext uri="{BB962C8B-B14F-4D97-AF65-F5344CB8AC3E}">
        <p14:creationId xmlns:p14="http://schemas.microsoft.com/office/powerpoint/2010/main" val="304407881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tr-TR" sz="4800" dirty="0"/>
              <a:t>Analitik Hipnozda</a:t>
            </a:r>
            <a:br>
              <a:rPr lang="tr-TR" sz="4800" dirty="0"/>
            </a:br>
            <a:r>
              <a:rPr lang="tr-TR" sz="4800" dirty="0"/>
              <a:t>EFT ‘den yararlanmak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24691193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Hipnoz Öncesi</a:t>
            </a:r>
          </a:p>
        </p:txBody>
      </p:sp>
      <p:sp>
        <p:nvSpPr>
          <p:cNvPr id="7171" name="Rectangle 3"/>
          <p:cNvSpPr>
            <a:spLocks noGrp="1" noRot="1" noChangeArrowheads="1"/>
          </p:cNvSpPr>
          <p:nvPr>
            <p:ph idx="1"/>
          </p:nvPr>
        </p:nvSpPr>
        <p:spPr/>
        <p:txBody>
          <a:bodyPr/>
          <a:lstStyle/>
          <a:p>
            <a:endParaRPr lang="tr-TR" sz="3600" dirty="0"/>
          </a:p>
          <a:p>
            <a:r>
              <a:rPr lang="tr-TR" sz="3600" dirty="0"/>
              <a:t>İyileşmeye karşı olan inançsızlığın ortadan kaldırılması</a:t>
            </a:r>
          </a:p>
          <a:p>
            <a:pPr>
              <a:buFont typeface="Wingdings" pitchFamily="2" charset="2"/>
              <a:buNone/>
            </a:pPr>
            <a:r>
              <a:rPr lang="tr-TR" sz="3600" dirty="0"/>
              <a:t>   a) hipnoterapistin inançsızlığı</a:t>
            </a:r>
          </a:p>
          <a:p>
            <a:pPr>
              <a:buFont typeface="Wingdings" pitchFamily="2" charset="2"/>
              <a:buNone/>
            </a:pPr>
            <a:r>
              <a:rPr lang="tr-TR" sz="3600" dirty="0"/>
              <a:t>   b) hastanın inançsızlığı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910047390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609600" y="228600"/>
            <a:ext cx="8229600" cy="1143000"/>
          </a:xfrm>
        </p:spPr>
        <p:txBody>
          <a:bodyPr/>
          <a:lstStyle/>
          <a:p>
            <a:pPr algn="ctr"/>
            <a:r>
              <a:rPr lang="tr-TR" dirty="0"/>
              <a:t>Oto-terapötik EFT</a:t>
            </a:r>
          </a:p>
        </p:txBody>
      </p:sp>
      <p:sp>
        <p:nvSpPr>
          <p:cNvPr id="8195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152400" y="1295400"/>
            <a:ext cx="9144000" cy="5334000"/>
          </a:xfrm>
        </p:spPr>
        <p:txBody>
          <a:bodyPr>
            <a:noAutofit/>
          </a:bodyPr>
          <a:lstStyle/>
          <a:p>
            <a:pPr>
              <a:lnSpc>
                <a:spcPct val="80000"/>
              </a:lnSpc>
            </a:pPr>
            <a:r>
              <a:rPr lang="tr-TR" sz="3600" dirty="0"/>
              <a:t>her ne kadar bu hastanın hipnoz olamayacağını düşünüyorsam da</a:t>
            </a:r>
          </a:p>
          <a:p>
            <a:pPr>
              <a:lnSpc>
                <a:spcPct val="80000"/>
              </a:lnSpc>
            </a:pPr>
            <a:r>
              <a:rPr lang="tr-TR" sz="3600" dirty="0"/>
              <a:t>her ne kadar bu hastayı tam ikna edemeyeceğimi düşünüyorsam da</a:t>
            </a:r>
          </a:p>
          <a:p>
            <a:pPr>
              <a:lnSpc>
                <a:spcPct val="80000"/>
              </a:lnSpc>
            </a:pPr>
            <a:r>
              <a:rPr lang="tr-TR" sz="3600" dirty="0"/>
              <a:t>kişiyi benim beklentilerimi giderecek kadar bana saygı ve inanç geliştireceğime inanmıyorsam da.. </a:t>
            </a:r>
          </a:p>
          <a:p>
            <a:pPr>
              <a:lnSpc>
                <a:spcPct val="80000"/>
              </a:lnSpc>
            </a:pPr>
            <a:r>
              <a:rPr lang="tr-TR" sz="3600" dirty="0"/>
              <a:t>her ne kadar regresyon yapamayacağını düşünüyorsam da</a:t>
            </a:r>
          </a:p>
          <a:p>
            <a:pPr>
              <a:lnSpc>
                <a:spcPct val="80000"/>
              </a:lnSpc>
            </a:pPr>
            <a:r>
              <a:rPr lang="tr-TR" sz="3600" dirty="0"/>
              <a:t>her ne kadar hastanın bu sorununun çözülemez olduğunu düşünüyorsam da</a:t>
            </a:r>
          </a:p>
        </p:txBody>
      </p:sp>
    </p:spTree>
    <p:extLst>
      <p:ext uri="{BB962C8B-B14F-4D97-AF65-F5344CB8AC3E}">
        <p14:creationId xmlns:p14="http://schemas.microsoft.com/office/powerpoint/2010/main" val="280710334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709"/>
            <a:ext cx="8229600" cy="1143000"/>
          </a:xfrm>
        </p:spPr>
        <p:txBody>
          <a:bodyPr/>
          <a:lstStyle/>
          <a:p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5257800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tr-TR" sz="3600" dirty="0"/>
              <a:t>çocuklarla çalışmanın zor olduğunu düşünüyorsam da.. </a:t>
            </a:r>
          </a:p>
          <a:p>
            <a:pPr>
              <a:lnSpc>
                <a:spcPct val="80000"/>
              </a:lnSpc>
            </a:pPr>
            <a:r>
              <a:rPr lang="tr-TR" sz="3600" dirty="0"/>
              <a:t>direk telkinlerin yeteri kadar etkili olmadığını düşünüyorsam da, </a:t>
            </a:r>
          </a:p>
          <a:p>
            <a:pPr>
              <a:lnSpc>
                <a:spcPct val="80000"/>
              </a:lnSpc>
            </a:pPr>
            <a:r>
              <a:rPr lang="tr-TR" sz="3600" dirty="0"/>
              <a:t>EFT nin hala yeteri kadar güçlü olduğuna inanmıyorsam da,</a:t>
            </a:r>
          </a:p>
          <a:p>
            <a:pPr>
              <a:lnSpc>
                <a:spcPct val="80000"/>
              </a:lnSpc>
            </a:pPr>
            <a:r>
              <a:rPr lang="tr-TR" sz="3600" dirty="0"/>
              <a:t>Kişiyi tam iyileşeceğine ikna edeceğimi düşünmüyorsam da ,</a:t>
            </a:r>
          </a:p>
          <a:p>
            <a:pPr>
              <a:lnSpc>
                <a:spcPct val="80000"/>
              </a:lnSpc>
            </a:pPr>
            <a:r>
              <a:rPr lang="tr-TR" sz="3600" dirty="0"/>
              <a:t>Kişinin kendisinde iyi taraflar olduğunu gösterecek bir şeyler bulamıyorsam da..</a:t>
            </a:r>
          </a:p>
          <a:p>
            <a:endParaRPr lang="tr-TR" sz="3600" dirty="0"/>
          </a:p>
        </p:txBody>
      </p:sp>
    </p:spTree>
    <p:extLst>
      <p:ext uri="{BB962C8B-B14F-4D97-AF65-F5344CB8AC3E}">
        <p14:creationId xmlns:p14="http://schemas.microsoft.com/office/powerpoint/2010/main" val="1054848001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685800" y="0"/>
            <a:ext cx="8229600" cy="1143000"/>
          </a:xfrm>
        </p:spPr>
        <p:txBody>
          <a:bodyPr/>
          <a:lstStyle/>
          <a:p>
            <a:pPr algn="ctr"/>
            <a:r>
              <a:rPr lang="tr-TR" dirty="0">
                <a:solidFill>
                  <a:srgbClr val="FF0000"/>
                </a:solidFill>
              </a:rPr>
              <a:t>Oto-olumlama</a:t>
            </a:r>
          </a:p>
        </p:txBody>
      </p:sp>
      <p:sp>
        <p:nvSpPr>
          <p:cNvPr id="9219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0" y="1600200"/>
            <a:ext cx="9144000" cy="5257800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tr-TR" sz="3200" b="1" dirty="0"/>
              <a:t>YİNE DE BU KONUDA OLDUKÇA YETERLİ VE ÜST DÜZEYDE BİLGİYE SAHİP OLDUĞUMU, </a:t>
            </a:r>
          </a:p>
          <a:p>
            <a:pPr>
              <a:lnSpc>
                <a:spcPct val="80000"/>
              </a:lnSpc>
            </a:pPr>
            <a:r>
              <a:rPr lang="tr-TR" sz="3200" b="1" dirty="0"/>
              <a:t>BU KONUDA KENDİNİ YETİŞTİRMİŞ BECERİKLİ VE GÜVENİLİR BİR UZMAN OLDUĞUMU, </a:t>
            </a:r>
          </a:p>
          <a:p>
            <a:pPr>
              <a:lnSpc>
                <a:spcPct val="80000"/>
              </a:lnSpc>
            </a:pPr>
            <a:r>
              <a:rPr lang="tr-TR" sz="3200" b="1" dirty="0"/>
              <a:t>BENİM HALLEDEMİYECEĞİM BİR SORUNUN BİR BAŞKA KİŞİ TARAFINDAN HALLEDİLMESİNİN HİÇ DE KOLAY OLMADIĞINI </a:t>
            </a:r>
          </a:p>
          <a:p>
            <a:pPr>
              <a:lnSpc>
                <a:spcPct val="80000"/>
              </a:lnSpc>
            </a:pPr>
            <a:r>
              <a:rPr lang="tr-TR" sz="3200" b="1" dirty="0">
                <a:solidFill>
                  <a:srgbClr val="FF0000"/>
                </a:solidFill>
              </a:rPr>
              <a:t>kabul ediyorum, kendime güveniyorum, </a:t>
            </a:r>
          </a:p>
          <a:p>
            <a:pPr>
              <a:lnSpc>
                <a:spcPct val="80000"/>
              </a:lnSpc>
            </a:pPr>
            <a:r>
              <a:rPr lang="tr-TR" sz="3200" b="1" dirty="0"/>
              <a:t>HASTAYI İYİ EDEN BİR TERAPİST OLMAYI SEÇİYORUM..</a:t>
            </a:r>
            <a:r>
              <a:rPr lang="tr-TR" sz="3200" dirty="0"/>
              <a:t> </a:t>
            </a:r>
          </a:p>
          <a:p>
            <a:pPr>
              <a:lnSpc>
                <a:spcPct val="80000"/>
              </a:lnSpc>
            </a:pPr>
            <a:endParaRPr lang="tr-TR" sz="3200" dirty="0"/>
          </a:p>
        </p:txBody>
      </p:sp>
    </p:spTree>
    <p:extLst>
      <p:ext uri="{BB962C8B-B14F-4D97-AF65-F5344CB8AC3E}">
        <p14:creationId xmlns:p14="http://schemas.microsoft.com/office/powerpoint/2010/main" val="3291138363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685800" y="152400"/>
            <a:ext cx="8229600" cy="1143000"/>
          </a:xfrm>
        </p:spPr>
        <p:txBody>
          <a:bodyPr/>
          <a:lstStyle/>
          <a:p>
            <a:r>
              <a:rPr lang="tr-TR" dirty="0"/>
              <a:t>İnançsız hastalar için</a:t>
            </a:r>
          </a:p>
        </p:txBody>
      </p:sp>
      <p:sp>
        <p:nvSpPr>
          <p:cNvPr id="10243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-166255" y="1600200"/>
            <a:ext cx="9462655" cy="52578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tr-TR" sz="3600" dirty="0"/>
              <a:t>tam iyileşmek için kendime karşı dürüst olmadığıma inanıyorsam da</a:t>
            </a:r>
          </a:p>
          <a:p>
            <a:pPr>
              <a:lnSpc>
                <a:spcPct val="90000"/>
              </a:lnSpc>
            </a:pPr>
            <a:r>
              <a:rPr lang="tr-TR" sz="3600" dirty="0"/>
              <a:t>tam iyileşeceğime yönelik bir inancım yoksa da</a:t>
            </a:r>
          </a:p>
          <a:p>
            <a:pPr>
              <a:lnSpc>
                <a:spcPct val="90000"/>
              </a:lnSpc>
            </a:pPr>
            <a:r>
              <a:rPr lang="tr-TR" sz="3600" dirty="0"/>
              <a:t>bu yöntemin bana bir yararı olmayacağına inanıyorsam da </a:t>
            </a:r>
          </a:p>
          <a:p>
            <a:pPr>
              <a:lnSpc>
                <a:spcPct val="90000"/>
              </a:lnSpc>
            </a:pPr>
            <a:r>
              <a:rPr lang="tr-TR" sz="3600" dirty="0"/>
              <a:t>hep gerçekçi olmaya çalıştıysam da henüz bu yöntemin gerçeği hakkında bir şey bilmediğimi kabul ediyorum.</a:t>
            </a:r>
          </a:p>
        </p:txBody>
      </p:sp>
    </p:spTree>
    <p:extLst>
      <p:ext uri="{BB962C8B-B14F-4D97-AF65-F5344CB8AC3E}">
        <p14:creationId xmlns:p14="http://schemas.microsoft.com/office/powerpoint/2010/main" val="2030025956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609600" y="228600"/>
            <a:ext cx="8229600" cy="1143000"/>
          </a:xfrm>
        </p:spPr>
        <p:txBody>
          <a:bodyPr/>
          <a:lstStyle/>
          <a:p>
            <a:r>
              <a:rPr lang="tr-TR" u="sng" dirty="0"/>
              <a:t>YENİDEN TANIMLAMA</a:t>
            </a:r>
          </a:p>
        </p:txBody>
      </p:sp>
      <p:sp>
        <p:nvSpPr>
          <p:cNvPr id="11267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0" y="1600200"/>
            <a:ext cx="9067800" cy="5257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tr-TR" sz="2800" b="1" dirty="0">
                <a:solidFill>
                  <a:srgbClr val="FF0000"/>
                </a:solidFill>
              </a:rPr>
              <a:t>Olumsuz yerine aynı anlamda ama farklı sonuçlar doğuracak olumlu kalıp yerleştir.</a:t>
            </a:r>
            <a:r>
              <a:rPr lang="tr-TR" sz="2400" dirty="0">
                <a:solidFill>
                  <a:srgbClr val="FF0000"/>
                </a:solidFill>
              </a:rPr>
              <a:t> </a:t>
            </a:r>
          </a:p>
          <a:p>
            <a:pPr>
              <a:lnSpc>
                <a:spcPct val="90000"/>
              </a:lnSpc>
            </a:pPr>
            <a:r>
              <a:rPr lang="tr-TR" sz="3200" dirty="0"/>
              <a:t>bu kadar uzun süredir sahip olduğum bu inançtan kurtulmanın uzun süre alacağına inanıyorsam da </a:t>
            </a:r>
          </a:p>
          <a:p>
            <a:pPr>
              <a:lnSpc>
                <a:spcPct val="90000"/>
              </a:lnSpc>
            </a:pPr>
            <a:r>
              <a:rPr lang="tr-TR" sz="3200" dirty="0"/>
              <a:t>yeni bir zihinsel ve bedensel duruma sahip olma fikri bana garip ve yabancı geliyorsa da.. </a:t>
            </a:r>
          </a:p>
          <a:p>
            <a:pPr>
              <a:lnSpc>
                <a:spcPct val="90000"/>
              </a:lnSpc>
            </a:pPr>
            <a:r>
              <a:rPr lang="tr-TR" sz="3200" dirty="0"/>
              <a:t>yıllardır sahip olduğum alışkanlıklarımdan kurtulmak korkutucu geliyorsa da.. </a:t>
            </a:r>
          </a:p>
          <a:p>
            <a:pPr>
              <a:lnSpc>
                <a:spcPct val="90000"/>
              </a:lnSpc>
            </a:pPr>
            <a:r>
              <a:rPr lang="tr-TR" sz="3200" dirty="0"/>
              <a:t>uzun süredir sahip olunan inançları ve sorunları değiştirmek zorsa da </a:t>
            </a:r>
          </a:p>
          <a:p>
            <a:pPr>
              <a:lnSpc>
                <a:spcPct val="90000"/>
              </a:lnSpc>
            </a:pPr>
            <a:endParaRPr lang="tr-TR" sz="2400" dirty="0"/>
          </a:p>
        </p:txBody>
      </p:sp>
    </p:spTree>
    <p:extLst>
      <p:ext uri="{BB962C8B-B14F-4D97-AF65-F5344CB8AC3E}">
        <p14:creationId xmlns:p14="http://schemas.microsoft.com/office/powerpoint/2010/main" val="3257520800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609600" y="152400"/>
            <a:ext cx="8229600" cy="1143000"/>
          </a:xfrm>
        </p:spPr>
        <p:txBody>
          <a:bodyPr/>
          <a:lstStyle/>
          <a:p>
            <a:r>
              <a:rPr lang="tr-TR" u="sng" dirty="0"/>
              <a:t>Sonuca Yönlendirme</a:t>
            </a:r>
          </a:p>
        </p:txBody>
      </p:sp>
      <p:sp>
        <p:nvSpPr>
          <p:cNvPr id="12291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0" y="1600200"/>
            <a:ext cx="9144000" cy="5257800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tr-TR" sz="2800" dirty="0">
                <a:solidFill>
                  <a:srgbClr val="FF0000"/>
                </a:solidFill>
              </a:rPr>
              <a:t>genellemeyi bu inancı değiştirecek  olumlu etkilerine yönlendirmek.</a:t>
            </a:r>
          </a:p>
          <a:p>
            <a:pPr>
              <a:lnSpc>
                <a:spcPct val="80000"/>
              </a:lnSpc>
            </a:pPr>
            <a:r>
              <a:rPr lang="tr-TR" sz="3200" dirty="0"/>
              <a:t>zor görünen bir şey gerçekleştiğinde kolay olduğunu biliyorum </a:t>
            </a:r>
          </a:p>
          <a:p>
            <a:pPr>
              <a:lnSpc>
                <a:spcPct val="80000"/>
              </a:lnSpc>
            </a:pPr>
            <a:r>
              <a:rPr lang="tr-TR" sz="3200" dirty="0"/>
              <a:t>endişelerimizi kabul etmek amaçlarımıza yönelmemizi kolaylaştırır. </a:t>
            </a:r>
          </a:p>
          <a:p>
            <a:pPr>
              <a:lnSpc>
                <a:spcPct val="80000"/>
              </a:lnSpc>
            </a:pPr>
            <a:r>
              <a:rPr lang="tr-TR" sz="3200" dirty="0"/>
              <a:t>inancım değiştikten sonra düşündüğümden çok daha kolay değişim sağladığımı fark ettiğimde şaşıracağımı biliyorsam da </a:t>
            </a:r>
          </a:p>
          <a:p>
            <a:pPr>
              <a:lnSpc>
                <a:spcPct val="80000"/>
              </a:lnSpc>
            </a:pPr>
            <a:r>
              <a:rPr lang="tr-TR" sz="3200" dirty="0"/>
              <a:t>tüm bu endişelerimi kabul etmekte zorlanıyorsam da bunları kabul ettiğim takdirde daha kolay değişeceğimi biliyorum. </a:t>
            </a:r>
          </a:p>
        </p:txBody>
      </p:sp>
    </p:spTree>
    <p:extLst>
      <p:ext uri="{BB962C8B-B14F-4D97-AF65-F5344CB8AC3E}">
        <p14:creationId xmlns:p14="http://schemas.microsoft.com/office/powerpoint/2010/main" val="2762290348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Hipnoz öncesi</a:t>
            </a:r>
          </a:p>
        </p:txBody>
      </p:sp>
      <p:sp>
        <p:nvSpPr>
          <p:cNvPr id="13315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0" y="1600200"/>
            <a:ext cx="9144000" cy="51816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tr-TR" sz="4000" b="1" u="sng" dirty="0">
                <a:solidFill>
                  <a:schemeClr val="folHlink"/>
                </a:solidFill>
              </a:rPr>
              <a:t>Regresyon korkusu</a:t>
            </a:r>
          </a:p>
          <a:p>
            <a:endParaRPr lang="tr-TR" sz="3600" dirty="0"/>
          </a:p>
          <a:p>
            <a:r>
              <a:rPr lang="tr-TR" sz="3600" dirty="0"/>
              <a:t>Geçmişimle yüzleşmekten korkuyorsam da</a:t>
            </a:r>
          </a:p>
          <a:p>
            <a:r>
              <a:rPr lang="tr-TR" sz="3600" dirty="0"/>
              <a:t>Tekrar aynı acıları yaşamak istemiyorsam da</a:t>
            </a:r>
          </a:p>
          <a:p>
            <a:r>
              <a:rPr lang="tr-TR" sz="3600" dirty="0"/>
              <a:t>Çok eski olayların zihnimde canlanacağına inanmıyorsam da </a:t>
            </a:r>
          </a:p>
        </p:txBody>
      </p:sp>
    </p:spTree>
    <p:extLst>
      <p:ext uri="{BB962C8B-B14F-4D97-AF65-F5344CB8AC3E}">
        <p14:creationId xmlns:p14="http://schemas.microsoft.com/office/powerpoint/2010/main" val="3148038112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685800" y="20782"/>
            <a:ext cx="8229600" cy="1143000"/>
          </a:xfrm>
        </p:spPr>
        <p:txBody>
          <a:bodyPr/>
          <a:lstStyle/>
          <a:p>
            <a:r>
              <a:rPr lang="tr-TR" dirty="0"/>
              <a:t>EFT Hipnoz Induksiyonu</a:t>
            </a:r>
          </a:p>
        </p:txBody>
      </p:sp>
      <p:sp>
        <p:nvSpPr>
          <p:cNvPr id="15363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-20782" y="1219200"/>
            <a:ext cx="9137073" cy="5638800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tr-TR" sz="3200" dirty="0"/>
              <a:t>Temel duyguyu ya da düşünceyi söyletirken sürekli noktalar vur.</a:t>
            </a:r>
          </a:p>
          <a:p>
            <a:pPr>
              <a:lnSpc>
                <a:spcPct val="90000"/>
              </a:lnSpc>
            </a:pPr>
            <a:r>
              <a:rPr lang="tr-TR" sz="3200" dirty="0"/>
              <a:t>Turbo tapping: Kesintisiz ve şaşırtmacalı noktalar vur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tr-TR" sz="3200" dirty="0"/>
              <a:t>		Noktaları karıştır. Düzenini boz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tr-TR" sz="3200" dirty="0"/>
              <a:t>		Sağı solu değiştir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tr-TR" sz="3200" dirty="0"/>
              <a:t>		Tempoyu değiştir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tr-TR" sz="3200" dirty="0"/>
              <a:t>		Şiddeti değiştir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tr-TR" sz="3200" dirty="0"/>
              <a:t>		Bazen dur.. Sonra yine başla</a:t>
            </a:r>
          </a:p>
          <a:p>
            <a:pPr>
              <a:lnSpc>
                <a:spcPct val="90000"/>
              </a:lnSpc>
            </a:pPr>
            <a:r>
              <a:rPr lang="tr-TR" sz="3200" dirty="0"/>
              <a:t>Duygu yakalamaya çalış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tr-TR" sz="3200" dirty="0"/>
              <a:t>	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tr-TR" sz="3200" dirty="0"/>
          </a:p>
        </p:txBody>
      </p:sp>
    </p:spTree>
    <p:extLst>
      <p:ext uri="{BB962C8B-B14F-4D97-AF65-F5344CB8AC3E}">
        <p14:creationId xmlns:p14="http://schemas.microsoft.com/office/powerpoint/2010/main" val="2143778749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228600" y="228600"/>
            <a:ext cx="8686800" cy="1143000"/>
          </a:xfrm>
        </p:spPr>
        <p:txBody>
          <a:bodyPr>
            <a:normAutofit fontScale="90000"/>
          </a:bodyPr>
          <a:lstStyle/>
          <a:p>
            <a:r>
              <a:rPr lang="tr-TR" dirty="0"/>
              <a:t>Regresyonda Yetersiz görüntüde EFT</a:t>
            </a:r>
          </a:p>
        </p:txBody>
      </p:sp>
      <p:sp>
        <p:nvSpPr>
          <p:cNvPr id="19459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0" y="1600200"/>
            <a:ext cx="9144000" cy="5257800"/>
          </a:xfrm>
        </p:spPr>
        <p:txBody>
          <a:bodyPr>
            <a:noAutofit/>
          </a:bodyPr>
          <a:lstStyle/>
          <a:p>
            <a:pPr>
              <a:lnSpc>
                <a:spcPct val="80000"/>
              </a:lnSpc>
            </a:pPr>
            <a:r>
              <a:rPr lang="tr-TR" sz="3200" dirty="0"/>
              <a:t>Ne olduğunu tam anlamıyorsamda</a:t>
            </a:r>
          </a:p>
          <a:p>
            <a:pPr>
              <a:lnSpc>
                <a:spcPct val="80000"/>
              </a:lnSpc>
            </a:pPr>
            <a:r>
              <a:rPr lang="tr-TR" sz="3200" dirty="0"/>
              <a:t>Ne olduğunu bilmediğim bir sıkıntı varsa da</a:t>
            </a:r>
          </a:p>
          <a:p>
            <a:pPr>
              <a:lnSpc>
                <a:spcPct val="80000"/>
              </a:lnSpc>
            </a:pPr>
            <a:r>
              <a:rPr lang="tr-TR" sz="3200" dirty="0"/>
              <a:t>Kendimi yalnız hissediyorsamda büyük(X)’in koruması altında olduğumu biliyorum</a:t>
            </a:r>
          </a:p>
          <a:p>
            <a:pPr>
              <a:lnSpc>
                <a:spcPct val="80000"/>
              </a:lnSpc>
            </a:pPr>
            <a:r>
              <a:rPr lang="tr-TR" sz="3200" dirty="0"/>
              <a:t>Sanki olayı şu anda yaşıyorum gibi korkuyorsam da – bu olayın yaşanmış bitmiş bir olay olduğunu – ama hala beni etkilediğini biliyorum.. </a:t>
            </a:r>
          </a:p>
          <a:p>
            <a:pPr>
              <a:lnSpc>
                <a:spcPct val="80000"/>
              </a:lnSpc>
            </a:pPr>
            <a:r>
              <a:rPr lang="tr-TR" sz="3200" dirty="0"/>
              <a:t>“ </a:t>
            </a:r>
            <a:r>
              <a:rPr lang="tr-TR" sz="3200" i="1" dirty="0"/>
              <a:t>bu sahneyi tekrar yaşamak zorsa da.. yinede yaşamayı seçiyorum… çünkü bu benim şimdiki sağlığımı ve mutluluğumu bozuyor</a:t>
            </a:r>
            <a:r>
              <a:rPr lang="tr-TR" sz="3200" dirty="0"/>
              <a:t>..”</a:t>
            </a:r>
          </a:p>
          <a:p>
            <a:pPr>
              <a:lnSpc>
                <a:spcPct val="80000"/>
              </a:lnSpc>
            </a:pPr>
            <a:r>
              <a:rPr lang="tr-TR" sz="3200" dirty="0"/>
              <a:t>“ </a:t>
            </a:r>
            <a:r>
              <a:rPr lang="tr-TR" sz="3200" i="1" dirty="0"/>
              <a:t>onu geçmişime gömüyorum ve şimdi de yaşamaya başlıyorum</a:t>
            </a:r>
            <a:r>
              <a:rPr lang="tr-TR" sz="3200" dirty="0"/>
              <a:t>..” </a:t>
            </a:r>
          </a:p>
        </p:txBody>
      </p:sp>
    </p:spTree>
    <p:extLst>
      <p:ext uri="{BB962C8B-B14F-4D97-AF65-F5344CB8AC3E}">
        <p14:creationId xmlns:p14="http://schemas.microsoft.com/office/powerpoint/2010/main" val="3152806384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0483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457200" y="1600200"/>
            <a:ext cx="8534400" cy="5181600"/>
          </a:xfrm>
        </p:spPr>
        <p:txBody>
          <a:bodyPr>
            <a:normAutofit lnSpcReduction="10000"/>
          </a:bodyPr>
          <a:lstStyle/>
          <a:p>
            <a:endParaRPr lang="tr-TR" sz="3600" dirty="0"/>
          </a:p>
          <a:p>
            <a:r>
              <a:rPr lang="tr-TR" sz="3600" dirty="0"/>
              <a:t>EFT regresyona başlarken tekerlekleri yağlamak gibidir. </a:t>
            </a:r>
          </a:p>
          <a:p>
            <a:endParaRPr lang="tr-TR" sz="3600" dirty="0"/>
          </a:p>
          <a:p>
            <a:r>
              <a:rPr lang="tr-TR" sz="3600" dirty="0"/>
              <a:t>Direnci/engelleri/ duygusal yükü kaldırır ve </a:t>
            </a:r>
          </a:p>
          <a:p>
            <a:endParaRPr lang="tr-TR" sz="3600" dirty="0"/>
          </a:p>
          <a:p>
            <a:r>
              <a:rPr lang="tr-TR" sz="3600" dirty="0"/>
              <a:t>hipnoz çok daha yumuşak ama güzel gider. </a:t>
            </a:r>
          </a:p>
        </p:txBody>
      </p:sp>
    </p:spTree>
    <p:extLst>
      <p:ext uri="{BB962C8B-B14F-4D97-AF65-F5344CB8AC3E}">
        <p14:creationId xmlns:p14="http://schemas.microsoft.com/office/powerpoint/2010/main" val="713338526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609600" y="228600"/>
            <a:ext cx="8229600" cy="1143000"/>
          </a:xfrm>
        </p:spPr>
        <p:txBody>
          <a:bodyPr/>
          <a:lstStyle/>
          <a:p>
            <a:r>
              <a:rPr lang="tr-TR" dirty="0"/>
              <a:t>Diğer Durumlar</a:t>
            </a:r>
          </a:p>
        </p:txBody>
      </p:sp>
      <p:sp>
        <p:nvSpPr>
          <p:cNvPr id="17411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0" y="1600200"/>
            <a:ext cx="9144000" cy="51816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tr-TR" sz="3600" dirty="0"/>
              <a:t>Bilinç Parazit Yaparsa</a:t>
            </a:r>
          </a:p>
          <a:p>
            <a:pPr>
              <a:lnSpc>
                <a:spcPct val="90000"/>
              </a:lnSpc>
            </a:pPr>
            <a:r>
              <a:rPr lang="tr-TR" sz="3600" dirty="0"/>
              <a:t>Yastığa vurmakta zorlanırsa (yastığa vurmayı kolaylaştırmak için)</a:t>
            </a:r>
          </a:p>
          <a:p>
            <a:pPr>
              <a:lnSpc>
                <a:spcPct val="90000"/>
              </a:lnSpc>
            </a:pPr>
            <a:r>
              <a:rPr lang="tr-TR" sz="3600" dirty="0"/>
              <a:t>Söz söylemekte zorlanırsa</a:t>
            </a:r>
          </a:p>
          <a:p>
            <a:pPr>
              <a:lnSpc>
                <a:spcPct val="90000"/>
              </a:lnSpc>
            </a:pPr>
            <a:r>
              <a:rPr lang="tr-TR" sz="3600" dirty="0"/>
              <a:t>Affetmekte zorlanırsa</a:t>
            </a:r>
          </a:p>
          <a:p>
            <a:pPr>
              <a:lnSpc>
                <a:spcPct val="90000"/>
              </a:lnSpc>
            </a:pPr>
            <a:r>
              <a:rPr lang="tr-TR" sz="3600" dirty="0"/>
              <a:t>Kendini af sırasında ortaya koyduğu nedenlerden düşünce boyutunda olanlar varsa</a:t>
            </a:r>
          </a:p>
        </p:txBody>
      </p:sp>
    </p:spTree>
    <p:extLst>
      <p:ext uri="{BB962C8B-B14F-4D97-AF65-F5344CB8AC3E}">
        <p14:creationId xmlns:p14="http://schemas.microsoft.com/office/powerpoint/2010/main" val="972982025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76200" y="274638"/>
            <a:ext cx="92202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tr-TR" dirty="0"/>
              <a:t>EFT nin EFT olarak etkili olduğu duygular</a:t>
            </a:r>
          </a:p>
        </p:txBody>
      </p:sp>
      <p:sp>
        <p:nvSpPr>
          <p:cNvPr id="18435" name="Rectangle 3"/>
          <p:cNvSpPr>
            <a:spLocks noGrp="1" noRot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tr-TR" sz="3600" dirty="0"/>
              <a:t>Sekonder duygular</a:t>
            </a:r>
          </a:p>
          <a:p>
            <a:pPr>
              <a:buFont typeface="Wingdings" pitchFamily="2" charset="2"/>
              <a:buChar char="ü"/>
            </a:pPr>
            <a:r>
              <a:rPr lang="tr-TR" sz="3600" dirty="0"/>
              <a:t>		Suçluluk</a:t>
            </a:r>
          </a:p>
          <a:p>
            <a:pPr>
              <a:buFont typeface="Wingdings" pitchFamily="2" charset="2"/>
              <a:buChar char="ü"/>
            </a:pPr>
            <a:r>
              <a:rPr lang="tr-TR" sz="3600" dirty="0"/>
              <a:t>		Şaşkınlık</a:t>
            </a:r>
          </a:p>
          <a:p>
            <a:pPr>
              <a:buFont typeface="Wingdings" pitchFamily="2" charset="2"/>
              <a:buChar char="ü"/>
            </a:pPr>
            <a:r>
              <a:rPr lang="tr-TR" sz="3600" dirty="0"/>
              <a:t>		Çaresizlik</a:t>
            </a:r>
          </a:p>
          <a:p>
            <a:pPr>
              <a:buFont typeface="Wingdings" pitchFamily="2" charset="2"/>
              <a:buChar char="ü"/>
            </a:pPr>
            <a:r>
              <a:rPr lang="tr-TR" sz="3600" dirty="0"/>
              <a:t>		Yalnızlık</a:t>
            </a:r>
          </a:p>
          <a:p>
            <a:pPr>
              <a:buFont typeface="Wingdings" pitchFamily="2" charset="2"/>
              <a:buChar char="ü"/>
            </a:pPr>
            <a:r>
              <a:rPr lang="tr-TR" sz="3600" dirty="0"/>
              <a:t>		Utanç</a:t>
            </a:r>
          </a:p>
          <a:p>
            <a:pPr>
              <a:buFont typeface="Wingdings" pitchFamily="2" charset="2"/>
              <a:buChar char="ü"/>
            </a:pPr>
            <a:r>
              <a:rPr lang="tr-TR" sz="3600" dirty="0"/>
              <a:t>		Sıkıntı</a:t>
            </a:r>
          </a:p>
          <a:p>
            <a:pPr>
              <a:buFont typeface="Wingdings" pitchFamily="2" charset="2"/>
              <a:buNone/>
            </a:pPr>
            <a:r>
              <a:rPr lang="tr-TR" sz="3600" dirty="0"/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1224275845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_rels/them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jpeg"/></Relationships>
</file>

<file path=ppt/theme/_rels/them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jpeg"/></Relationships>
</file>

<file path=ppt/theme/_rels/them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Austin">
  <a:themeElements>
    <a:clrScheme name="Austin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Executive">
  <a:themeElements>
    <a:clrScheme name="Executive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Executi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xecu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Apex">
  <a:themeElements>
    <a:clrScheme name="Apex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Apex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710</TotalTime>
  <Words>3119</Words>
  <Application>Microsoft Office PowerPoint</Application>
  <PresentationFormat>Ekran Gösterisi (4:3)</PresentationFormat>
  <Paragraphs>487</Paragraphs>
  <Slides>97</Slides>
  <Notes>2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14</vt:i4>
      </vt:variant>
      <vt:variant>
        <vt:lpstr>Tema</vt:lpstr>
      </vt:variant>
      <vt:variant>
        <vt:i4>6</vt:i4>
      </vt:variant>
      <vt:variant>
        <vt:lpstr>Slayt Başlıkları</vt:lpstr>
      </vt:variant>
      <vt:variant>
        <vt:i4>97</vt:i4>
      </vt:variant>
    </vt:vector>
  </HeadingPairs>
  <TitlesOfParts>
    <vt:vector size="117" baseType="lpstr">
      <vt:lpstr>Arial</vt:lpstr>
      <vt:lpstr>Book Antiqua</vt:lpstr>
      <vt:lpstr>Britannic Bold</vt:lpstr>
      <vt:lpstr>Calibri</vt:lpstr>
      <vt:lpstr>Century Gothic</vt:lpstr>
      <vt:lpstr>Constantia</vt:lpstr>
      <vt:lpstr>Courier New</vt:lpstr>
      <vt:lpstr>Lucida Sans</vt:lpstr>
      <vt:lpstr>Lucida Sans Unicode</vt:lpstr>
      <vt:lpstr>Palatino Linotype</vt:lpstr>
      <vt:lpstr>Verdana</vt:lpstr>
      <vt:lpstr>Wingdings</vt:lpstr>
      <vt:lpstr>Wingdings 2</vt:lpstr>
      <vt:lpstr>Wingdings 3</vt:lpstr>
      <vt:lpstr>Office Theme</vt:lpstr>
      <vt:lpstr>Austin</vt:lpstr>
      <vt:lpstr>Concourse</vt:lpstr>
      <vt:lpstr>Flow</vt:lpstr>
      <vt:lpstr>Executive</vt:lpstr>
      <vt:lpstr>Apex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E.F.T.</vt:lpstr>
      <vt:lpstr>Emotional Freedom Techniques</vt:lpstr>
      <vt:lpstr>Nedir?</vt:lpstr>
      <vt:lpstr>PowerPoint Sunusu</vt:lpstr>
      <vt:lpstr>Dayandığı Temel</vt:lpstr>
      <vt:lpstr>Enerji Sistemi</vt:lpstr>
      <vt:lpstr>Gary Craig</vt:lpstr>
      <vt:lpstr>Uygulama</vt:lpstr>
      <vt:lpstr>Uygulama  2 aşamada gerçekleşir </vt:lpstr>
      <vt:lpstr>1. AŞAMA Sorun Nedir?</vt:lpstr>
      <vt:lpstr>2. AŞAMA Duyguyu Boşaltmak</vt:lpstr>
      <vt:lpstr>Setup İşlemi Nedir?</vt:lpstr>
      <vt:lpstr>Setup Olumlu Cümle Kalıbı</vt:lpstr>
      <vt:lpstr>PowerPoint Sunusu</vt:lpstr>
      <vt:lpstr>9 Gamut Yöntemi </vt:lpstr>
      <vt:lpstr>EFT</vt:lpstr>
      <vt:lpstr>PowerPoint Sunusu</vt:lpstr>
      <vt:lpstr>PowerPoint Sunusu</vt:lpstr>
      <vt:lpstr>PowerPoint Sunusu</vt:lpstr>
      <vt:lpstr>Vücutlarımız  büyük  bir  elektrik  özelliğine sahiptir</vt:lpstr>
      <vt:lpstr>PowerPoint Sunusu</vt:lpstr>
      <vt:lpstr>Örnekleme   açısından;</vt:lpstr>
      <vt:lpstr>PowerPoint Sunusu</vt:lpstr>
      <vt:lpstr>PowerPoint Sunusu</vt:lpstr>
      <vt:lpstr>Beyindeki mikrotubul sistemi</vt:lpstr>
      <vt:lpstr>PowerPoint Sunusu</vt:lpstr>
      <vt:lpstr>PowerPoint Sunusu</vt:lpstr>
      <vt:lpstr>Living matrix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 </vt:lpstr>
      <vt:lpstr>PowerPoint Sunusu</vt:lpstr>
      <vt:lpstr>PowerPoint Sunusu</vt:lpstr>
      <vt:lpstr>PowerPoint Sunusu</vt:lpstr>
      <vt:lpstr>PowerPoint Sunusu</vt:lpstr>
      <vt:lpstr>ÖNEMLİ</vt:lpstr>
      <vt:lpstr>AFFETMEK</vt:lpstr>
      <vt:lpstr>S.S.S.</vt:lpstr>
      <vt:lpstr>PowerPoint Sunusu</vt:lpstr>
      <vt:lpstr>PowerPoint Sunusu</vt:lpstr>
      <vt:lpstr>  TEMEL REÇETE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EFT işe yaramıyor gibiyse...</vt:lpstr>
      <vt:lpstr>PowerPoint Sunusu</vt:lpstr>
      <vt:lpstr>Hatırlanması Gerekenler</vt:lpstr>
      <vt:lpstr> EFT ;</vt:lpstr>
      <vt:lpstr>PowerPoint Sunusu</vt:lpstr>
      <vt:lpstr>Hipnotik ilkelerden yararlanarak  EFT uygulanması-1 giriş</vt:lpstr>
      <vt:lpstr>Hipnotik ilkelerden yararlanarak  EFT uygulanması-2 Set-up</vt:lpstr>
      <vt:lpstr>Hipnotik ilkelerden yararlanarak  EFT uygulanması-3 Movie teknik</vt:lpstr>
      <vt:lpstr>Hipnotik ilkelerden yararlanarak  EFT uygulanması-4 Movie teknik</vt:lpstr>
      <vt:lpstr>Hipnotik ilkelerden yararlanarak  EFT uygulanması-5 duygular</vt:lpstr>
      <vt:lpstr>Hipnotik ilkelerden yararlanarak  EFT-6 duygu boşaltılması</vt:lpstr>
      <vt:lpstr>Hipnotik ilkelerden yararlanarak  EFT-6 Duvarların yıkılması</vt:lpstr>
      <vt:lpstr>Analitik Hipnozda EFT ‘den yararlanmak</vt:lpstr>
      <vt:lpstr>Hipnoz Öncesi</vt:lpstr>
      <vt:lpstr>Oto-terapötik EFT</vt:lpstr>
      <vt:lpstr>PowerPoint Sunusu</vt:lpstr>
      <vt:lpstr>Oto-olumlama</vt:lpstr>
      <vt:lpstr>İnançsız hastalar için</vt:lpstr>
      <vt:lpstr>YENİDEN TANIMLAMA</vt:lpstr>
      <vt:lpstr>Sonuca Yönlendirme</vt:lpstr>
      <vt:lpstr>Hipnoz öncesi</vt:lpstr>
      <vt:lpstr>EFT Hipnoz Induksiyonu</vt:lpstr>
      <vt:lpstr>Regresyonda Yetersiz görüntüde EFT</vt:lpstr>
      <vt:lpstr>PowerPoint Sunusu</vt:lpstr>
      <vt:lpstr>Diğer Durumlar</vt:lpstr>
      <vt:lpstr>EFT nin EFT olarak etkili olduğu duygular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Mehmet Karav (TR - Duzce)</dc:creator>
  <cp:lastModifiedBy>halil mehmet</cp:lastModifiedBy>
  <cp:revision>23</cp:revision>
  <dcterms:created xsi:type="dcterms:W3CDTF">2006-08-16T00:00:00Z</dcterms:created>
  <dcterms:modified xsi:type="dcterms:W3CDTF">2022-10-01T13:40:00Z</dcterms:modified>
</cp:coreProperties>
</file>